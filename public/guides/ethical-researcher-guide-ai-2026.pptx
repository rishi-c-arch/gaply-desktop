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embeddedFontLst>
    <p:embeddedFont>
      <p:font typeface="Quattrocento Sans" charset="-122" pitchFamily="34"/>
      <p:regular r:id="rId35"/>
    </p:embeddedFont>
    <p:embeddedFont>
      <p:font typeface="Liter" charset="-122" pitchFamily="34"/>
      <p:regular r:id="rId36"/>
    </p:embeddedFont>
    <p:embeddedFont>
      <p:font typeface="MiSans" charset="-122" pitchFamily="34"/>
      <p:regular r:id="rId3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Relationship Id="rId37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529350e1e20117c3b410d03492e71a59a01a9ff6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33929" b="3392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2D5A3D">
                  <a:alpha val="1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7D9A78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225082" y="433388"/>
            <a:ext cx="3743325" cy="352425"/>
          </a:xfrm>
          <a:custGeom>
            <a:avLst/>
            <a:gdLst/>
            <a:ahLst/>
            <a:cxnLst/>
            <a:rect l="l" t="t" r="r" b="b"/>
            <a:pathLst>
              <a:path w="3743325" h="352425">
                <a:moveTo>
                  <a:pt x="176213" y="0"/>
                </a:moveTo>
                <a:lnTo>
                  <a:pt x="3567113" y="0"/>
                </a:lnTo>
                <a:cubicBezTo>
                  <a:pt x="3664367" y="0"/>
                  <a:pt x="3743325" y="78958"/>
                  <a:pt x="3743325" y="176213"/>
                </a:cubicBezTo>
                <a:lnTo>
                  <a:pt x="3743325" y="176213"/>
                </a:lnTo>
                <a:cubicBezTo>
                  <a:pt x="3743325" y="273467"/>
                  <a:pt x="3664367" y="352425"/>
                  <a:pt x="3567113" y="352425"/>
                </a:cubicBezTo>
                <a:lnTo>
                  <a:pt x="176213" y="352425"/>
                </a:lnTo>
                <a:cubicBezTo>
                  <a:pt x="78958" y="352425"/>
                  <a:pt x="0" y="273467"/>
                  <a:pt x="0" y="176213"/>
                </a:cubicBezTo>
                <a:lnTo>
                  <a:pt x="0" y="176213"/>
                </a:lnTo>
                <a:cubicBezTo>
                  <a:pt x="0" y="78958"/>
                  <a:pt x="78958" y="0"/>
                  <a:pt x="17621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425107" y="514350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spc="105" kern="0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Botanical Research Series • 2026 Edition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019127" y="1323975"/>
            <a:ext cx="61531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Ethical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Researcher's Guide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AI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41243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8" name="Text 5"/>
          <p:cNvSpPr/>
          <p:nvPr/>
        </p:nvSpPr>
        <p:spPr>
          <a:xfrm>
            <a:off x="4195167" y="4467225"/>
            <a:ext cx="38004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Smart, Responsible &amp; Creative AI Use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Academic Writing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706838" y="58197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10" name="Shape 7"/>
          <p:cNvSpPr/>
          <p:nvPr/>
        </p:nvSpPr>
        <p:spPr>
          <a:xfrm>
            <a:off x="4897338" y="60102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0428" y="2991"/>
                </a:moveTo>
                <a:cubicBezTo>
                  <a:pt x="213286" y="268"/>
                  <a:pt x="217438" y="-714"/>
                  <a:pt x="221278" y="536"/>
                </a:cubicBezTo>
                <a:cubicBezTo>
                  <a:pt x="225653" y="2009"/>
                  <a:pt x="228600" y="6117"/>
                  <a:pt x="228600" y="10716"/>
                </a:cubicBezTo>
                <a:lnTo>
                  <a:pt x="228600" y="94164"/>
                </a:lnTo>
                <a:cubicBezTo>
                  <a:pt x="228600" y="152742"/>
                  <a:pt x="180335" y="200025"/>
                  <a:pt x="121980" y="200025"/>
                </a:cubicBezTo>
                <a:cubicBezTo>
                  <a:pt x="87600" y="200025"/>
                  <a:pt x="57954" y="177924"/>
                  <a:pt x="47193" y="147027"/>
                </a:cubicBezTo>
                <a:cubicBezTo>
                  <a:pt x="31388" y="160779"/>
                  <a:pt x="21431" y="181005"/>
                  <a:pt x="21431" y="203597"/>
                </a:cubicBezTo>
                <a:cubicBezTo>
                  <a:pt x="21431" y="209535"/>
                  <a:pt x="16654" y="214313"/>
                  <a:pt x="10716" y="214313"/>
                </a:cubicBezTo>
                <a:cubicBezTo>
                  <a:pt x="4777" y="214313"/>
                  <a:pt x="0" y="209535"/>
                  <a:pt x="0" y="203597"/>
                </a:cubicBezTo>
                <a:cubicBezTo>
                  <a:pt x="0" y="170155"/>
                  <a:pt x="17056" y="140687"/>
                  <a:pt x="42907" y="123364"/>
                </a:cubicBezTo>
                <a:cubicBezTo>
                  <a:pt x="58668" y="112827"/>
                  <a:pt x="77465" y="107156"/>
                  <a:pt x="96441" y="107156"/>
                </a:cubicBezTo>
                <a:lnTo>
                  <a:pt x="132159" y="107156"/>
                </a:lnTo>
                <a:cubicBezTo>
                  <a:pt x="138098" y="107156"/>
                  <a:pt x="142875" y="102379"/>
                  <a:pt x="142875" y="96441"/>
                </a:cubicBezTo>
                <a:cubicBezTo>
                  <a:pt x="142875" y="90502"/>
                  <a:pt x="138098" y="85725"/>
                  <a:pt x="132159" y="85725"/>
                </a:cubicBezTo>
                <a:lnTo>
                  <a:pt x="96441" y="85725"/>
                </a:lnTo>
                <a:cubicBezTo>
                  <a:pt x="78715" y="85725"/>
                  <a:pt x="61927" y="89654"/>
                  <a:pt x="46881" y="96664"/>
                </a:cubicBezTo>
                <a:cubicBezTo>
                  <a:pt x="57284" y="65410"/>
                  <a:pt x="86707" y="42863"/>
                  <a:pt x="121444" y="42863"/>
                </a:cubicBezTo>
                <a:cubicBezTo>
                  <a:pt x="151090" y="42863"/>
                  <a:pt x="173147" y="32995"/>
                  <a:pt x="187836" y="23217"/>
                </a:cubicBezTo>
                <a:cubicBezTo>
                  <a:pt x="196408" y="17502"/>
                  <a:pt x="203686" y="10671"/>
                  <a:pt x="210473" y="2991"/>
                </a:cubicBezTo>
                <a:close/>
              </a:path>
            </a:pathLst>
          </a:custGeom>
          <a:solidFill>
            <a:srgbClr val="FAF8F3"/>
          </a:solidFill>
          <a:ln/>
        </p:spPr>
      </p:sp>
      <p:sp>
        <p:nvSpPr>
          <p:cNvPr id="11" name="Text 8"/>
          <p:cNvSpPr/>
          <p:nvPr/>
        </p:nvSpPr>
        <p:spPr>
          <a:xfrm>
            <a:off x="5468838" y="5895975"/>
            <a:ext cx="2085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Cultivating Knowledge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68838" y="6086475"/>
            <a:ext cx="2105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Integrity &amp; Innovation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105" kern="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We'll Explore Today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5240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67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7" name="Text 5"/>
          <p:cNvSpPr/>
          <p:nvPr/>
        </p:nvSpPr>
        <p:spPr>
          <a:xfrm>
            <a:off x="523875" y="16764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1100" y="167640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AI Detection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1100" y="1981200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detection tools work and why trying to "beat" them is the wrong approach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7450" y="15240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11" name="Shape 9"/>
          <p:cNvSpPr/>
          <p:nvPr/>
        </p:nvSpPr>
        <p:spPr>
          <a:xfrm>
            <a:off x="6438900" y="167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12" name="Text 10"/>
          <p:cNvSpPr/>
          <p:nvPr/>
        </p:nvSpPr>
        <p:spPr>
          <a:xfrm>
            <a:off x="6391275" y="16764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8500" y="167640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Ethical AI Tools for Researchers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8500" y="1981200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tools that enhance your work without compromising academic integrity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0050" y="3276600"/>
            <a:ext cx="38100" cy="1352550"/>
          </a:xfrm>
          <a:custGeom>
            <a:avLst/>
            <a:gdLst/>
            <a:ahLst/>
            <a:cxnLst/>
            <a:rect l="l" t="t" r="r" b="b"/>
            <a:pathLst>
              <a:path w="38100" h="1352550">
                <a:moveTo>
                  <a:pt x="0" y="0"/>
                </a:moveTo>
                <a:lnTo>
                  <a:pt x="38100" y="0"/>
                </a:lnTo>
                <a:lnTo>
                  <a:pt x="38100" y="1352550"/>
                </a:lnTo>
                <a:lnTo>
                  <a:pt x="0" y="135255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16" name="Shape 14"/>
          <p:cNvSpPr/>
          <p:nvPr/>
        </p:nvSpPr>
        <p:spPr>
          <a:xfrm>
            <a:off x="571500" y="342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17" name="Text 15"/>
          <p:cNvSpPr/>
          <p:nvPr/>
        </p:nvSpPr>
        <p:spPr>
          <a:xfrm>
            <a:off x="523875" y="3429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1100" y="3429000"/>
            <a:ext cx="4162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Writing with Integrity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1100" y="3733800"/>
            <a:ext cx="41433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practices for ethical AI integration in your writing process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67450" y="3276600"/>
            <a:ext cx="38100" cy="1352550"/>
          </a:xfrm>
          <a:custGeom>
            <a:avLst/>
            <a:gdLst/>
            <a:ahLst/>
            <a:cxnLst/>
            <a:rect l="l" t="t" r="r" b="b"/>
            <a:pathLst>
              <a:path w="38100" h="1352550">
                <a:moveTo>
                  <a:pt x="0" y="0"/>
                </a:moveTo>
                <a:lnTo>
                  <a:pt x="38100" y="0"/>
                </a:lnTo>
                <a:lnTo>
                  <a:pt x="38100" y="1352550"/>
                </a:lnTo>
                <a:lnTo>
                  <a:pt x="0" y="1352550"/>
                </a:lnTo>
                <a:lnTo>
                  <a:pt x="0" y="0"/>
                </a:ln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21" name="Shape 19"/>
          <p:cNvSpPr/>
          <p:nvPr/>
        </p:nvSpPr>
        <p:spPr>
          <a:xfrm>
            <a:off x="6438900" y="342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22" name="Text 20"/>
          <p:cNvSpPr/>
          <p:nvPr/>
        </p:nvSpPr>
        <p:spPr>
          <a:xfrm>
            <a:off x="6391275" y="3429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8500" y="3429000"/>
            <a:ext cx="4524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Literature Review with AI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8500" y="3733800"/>
            <a:ext cx="4505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AI to enhance, not replace, your critical reading and synthesis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00050" y="4781550"/>
            <a:ext cx="38100" cy="1352550"/>
          </a:xfrm>
          <a:custGeom>
            <a:avLst/>
            <a:gdLst/>
            <a:ahLst/>
            <a:cxnLst/>
            <a:rect l="l" t="t" r="r" b="b"/>
            <a:pathLst>
              <a:path w="38100" h="1352550">
                <a:moveTo>
                  <a:pt x="0" y="0"/>
                </a:moveTo>
                <a:lnTo>
                  <a:pt x="38100" y="0"/>
                </a:lnTo>
                <a:lnTo>
                  <a:pt x="38100" y="1352550"/>
                </a:lnTo>
                <a:lnTo>
                  <a:pt x="0" y="1352550"/>
                </a:lnTo>
                <a:lnTo>
                  <a:pt x="0" y="0"/>
                </a:ln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26" name="Shape 24"/>
          <p:cNvSpPr/>
          <p:nvPr/>
        </p:nvSpPr>
        <p:spPr>
          <a:xfrm>
            <a:off x="571500" y="49339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27" name="Text 25"/>
          <p:cNvSpPr/>
          <p:nvPr/>
        </p:nvSpPr>
        <p:spPr>
          <a:xfrm>
            <a:off x="523875" y="49339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1100" y="4933950"/>
            <a:ext cx="3857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Citation &amp; Transparency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81100" y="5238750"/>
            <a:ext cx="38385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to properly acknowledge AI assistance in your work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67450" y="4781550"/>
            <a:ext cx="38100" cy="1352550"/>
          </a:xfrm>
          <a:custGeom>
            <a:avLst/>
            <a:gdLst/>
            <a:ahLst/>
            <a:cxnLst/>
            <a:rect l="l" t="t" r="r" b="b"/>
            <a:pathLst>
              <a:path w="38100" h="1352550">
                <a:moveTo>
                  <a:pt x="0" y="0"/>
                </a:moveTo>
                <a:lnTo>
                  <a:pt x="38100" y="0"/>
                </a:lnTo>
                <a:lnTo>
                  <a:pt x="38100" y="1352550"/>
                </a:lnTo>
                <a:lnTo>
                  <a:pt x="0" y="135255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31" name="Shape 29"/>
          <p:cNvSpPr/>
          <p:nvPr/>
        </p:nvSpPr>
        <p:spPr>
          <a:xfrm>
            <a:off x="6438900" y="49339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32" name="Text 30"/>
          <p:cNvSpPr/>
          <p:nvPr/>
        </p:nvSpPr>
        <p:spPr>
          <a:xfrm>
            <a:off x="6391275" y="49339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48500" y="4933950"/>
            <a:ext cx="440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Your Ethical AI Workflow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48500" y="5238750"/>
            <a:ext cx="4381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a responsible system for integrating AI into your research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521050" y="6315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22750" y="1745"/>
                </a:moveTo>
                <a:cubicBezTo>
                  <a:pt x="124417" y="156"/>
                  <a:pt x="126839" y="-417"/>
                  <a:pt x="129079" y="313"/>
                </a:cubicBezTo>
                <a:cubicBezTo>
                  <a:pt x="131631" y="1172"/>
                  <a:pt x="133350" y="3568"/>
                  <a:pt x="133350" y="6251"/>
                </a:cubicBezTo>
                <a:lnTo>
                  <a:pt x="133350" y="54929"/>
                </a:lnTo>
                <a:cubicBezTo>
                  <a:pt x="133350" y="89100"/>
                  <a:pt x="105195" y="116681"/>
                  <a:pt x="71155" y="116681"/>
                </a:cubicBezTo>
                <a:cubicBezTo>
                  <a:pt x="51100" y="116681"/>
                  <a:pt x="33806" y="103789"/>
                  <a:pt x="27529" y="85766"/>
                </a:cubicBezTo>
                <a:cubicBezTo>
                  <a:pt x="18310" y="93788"/>
                  <a:pt x="12502" y="105586"/>
                  <a:pt x="12502" y="118765"/>
                </a:cubicBezTo>
                <a:cubicBezTo>
                  <a:pt x="12502" y="122229"/>
                  <a:pt x="9715" y="125016"/>
                  <a:pt x="6251" y="125016"/>
                </a:cubicBezTo>
                <a:cubicBezTo>
                  <a:pt x="2787" y="125016"/>
                  <a:pt x="0" y="122229"/>
                  <a:pt x="0" y="118765"/>
                </a:cubicBezTo>
                <a:cubicBezTo>
                  <a:pt x="0" y="99257"/>
                  <a:pt x="9949" y="82068"/>
                  <a:pt x="25029" y="71962"/>
                </a:cubicBezTo>
                <a:cubicBezTo>
                  <a:pt x="34223" y="65816"/>
                  <a:pt x="45188" y="62508"/>
                  <a:pt x="56257" y="62508"/>
                </a:cubicBezTo>
                <a:lnTo>
                  <a:pt x="77093" y="62508"/>
                </a:lnTo>
                <a:cubicBezTo>
                  <a:pt x="80557" y="62508"/>
                  <a:pt x="83344" y="59721"/>
                  <a:pt x="83344" y="56257"/>
                </a:cubicBezTo>
                <a:cubicBezTo>
                  <a:pt x="83344" y="52793"/>
                  <a:pt x="80557" y="50006"/>
                  <a:pt x="77093" y="50006"/>
                </a:cubicBezTo>
                <a:lnTo>
                  <a:pt x="56257" y="50006"/>
                </a:lnTo>
                <a:cubicBezTo>
                  <a:pt x="45917" y="50006"/>
                  <a:pt x="36124" y="52298"/>
                  <a:pt x="27347" y="56387"/>
                </a:cubicBezTo>
                <a:cubicBezTo>
                  <a:pt x="33416" y="38156"/>
                  <a:pt x="50579" y="25003"/>
                  <a:pt x="70842" y="25003"/>
                </a:cubicBezTo>
                <a:cubicBezTo>
                  <a:pt x="88136" y="25003"/>
                  <a:pt x="101002" y="19247"/>
                  <a:pt x="109571" y="13543"/>
                </a:cubicBezTo>
                <a:cubicBezTo>
                  <a:pt x="114572" y="10210"/>
                  <a:pt x="118817" y="6225"/>
                  <a:pt x="122776" y="1745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36" name="Text 34"/>
          <p:cNvSpPr/>
          <p:nvPr/>
        </p:nvSpPr>
        <p:spPr>
          <a:xfrm>
            <a:off x="3744888" y="6286500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 Comprehensive Slides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465415" y="6315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89253" y="6286500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Ethical Guidance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241009" y="63150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2502" y="50996"/>
                </a:moveTo>
                <a:lnTo>
                  <a:pt x="66988" y="73421"/>
                </a:lnTo>
                <a:cubicBezTo>
                  <a:pt x="69540" y="74462"/>
                  <a:pt x="72249" y="75009"/>
                  <a:pt x="75009" y="75009"/>
                </a:cubicBezTo>
                <a:cubicBezTo>
                  <a:pt x="77770" y="75009"/>
                  <a:pt x="80479" y="74462"/>
                  <a:pt x="83031" y="73421"/>
                </a:cubicBezTo>
                <a:lnTo>
                  <a:pt x="146164" y="47428"/>
                </a:lnTo>
                <a:cubicBezTo>
                  <a:pt x="148508" y="46464"/>
                  <a:pt x="150019" y="44198"/>
                  <a:pt x="150019" y="41672"/>
                </a:cubicBezTo>
                <a:cubicBezTo>
                  <a:pt x="150019" y="39146"/>
                  <a:pt x="148508" y="36880"/>
                  <a:pt x="146164" y="35916"/>
                </a:cubicBezTo>
                <a:lnTo>
                  <a:pt x="83031" y="9923"/>
                </a:lnTo>
                <a:cubicBezTo>
                  <a:pt x="80479" y="8881"/>
                  <a:pt x="77770" y="8334"/>
                  <a:pt x="75009" y="8334"/>
                </a:cubicBezTo>
                <a:cubicBezTo>
                  <a:pt x="72249" y="8334"/>
                  <a:pt x="69540" y="8881"/>
                  <a:pt x="66988" y="9923"/>
                </a:cubicBezTo>
                <a:lnTo>
                  <a:pt x="3855" y="35916"/>
                </a:lnTo>
                <a:cubicBezTo>
                  <a:pt x="1511" y="36880"/>
                  <a:pt x="0" y="39146"/>
                  <a:pt x="0" y="41672"/>
                </a:cubicBezTo>
                <a:lnTo>
                  <a:pt x="0" y="118765"/>
                </a:lnTo>
                <a:cubicBezTo>
                  <a:pt x="0" y="122229"/>
                  <a:pt x="2787" y="125016"/>
                  <a:pt x="6251" y="125016"/>
                </a:cubicBezTo>
                <a:cubicBezTo>
                  <a:pt x="9715" y="125016"/>
                  <a:pt x="12502" y="122229"/>
                  <a:pt x="12502" y="118765"/>
                </a:cubicBezTo>
                <a:lnTo>
                  <a:pt x="12502" y="50996"/>
                </a:lnTo>
                <a:close/>
                <a:moveTo>
                  <a:pt x="25003" y="69670"/>
                </a:moveTo>
                <a:lnTo>
                  <a:pt x="25003" y="100013"/>
                </a:lnTo>
                <a:cubicBezTo>
                  <a:pt x="25003" y="113816"/>
                  <a:pt x="47402" y="125016"/>
                  <a:pt x="75009" y="125016"/>
                </a:cubicBezTo>
                <a:cubicBezTo>
                  <a:pt x="102617" y="125016"/>
                  <a:pt x="125016" y="113816"/>
                  <a:pt x="125016" y="100013"/>
                </a:cubicBezTo>
                <a:lnTo>
                  <a:pt x="125016" y="69644"/>
                </a:lnTo>
                <a:lnTo>
                  <a:pt x="87797" y="84985"/>
                </a:lnTo>
                <a:cubicBezTo>
                  <a:pt x="83734" y="86651"/>
                  <a:pt x="79411" y="87511"/>
                  <a:pt x="75009" y="87511"/>
                </a:cubicBezTo>
                <a:cubicBezTo>
                  <a:pt x="70608" y="87511"/>
                  <a:pt x="66284" y="86651"/>
                  <a:pt x="62221" y="84985"/>
                </a:cubicBezTo>
                <a:lnTo>
                  <a:pt x="25003" y="69644"/>
                </a:ln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40" name="Text 38"/>
          <p:cNvSpPr/>
          <p:nvPr/>
        </p:nvSpPr>
        <p:spPr>
          <a:xfrm>
            <a:off x="7473181" y="6286500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Academia-Approved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c14d603b513519b1da01d060f805707f75424a2b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33929" b="3392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2D5A3D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266825"/>
            <a:ext cx="1304925" cy="342900"/>
          </a:xfrm>
          <a:custGeom>
            <a:avLst/>
            <a:gdLst/>
            <a:ahLst/>
            <a:cxnLst/>
            <a:rect l="l" t="t" r="r" b="b"/>
            <a:pathLst>
              <a:path w="1304925" h="342900">
                <a:moveTo>
                  <a:pt x="0" y="0"/>
                </a:moveTo>
                <a:lnTo>
                  <a:pt x="1304925" y="0"/>
                </a:lnTo>
                <a:lnTo>
                  <a:pt x="130492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1266825"/>
            <a:ext cx="1371600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One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838325"/>
            <a:ext cx="67437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Detection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7814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12432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detection tools work and what researchers need to know about the science behind identifying AI-generated content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9575" y="53435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0"/>
                </a:moveTo>
                <a:cubicBezTo>
                  <a:pt x="66749" y="0"/>
                  <a:pt x="57150" y="9599"/>
                  <a:pt x="57150" y="21431"/>
                </a:cubicBezTo>
                <a:lnTo>
                  <a:pt x="57150" y="114300"/>
                </a:lnTo>
                <a:cubicBezTo>
                  <a:pt x="57150" y="126132"/>
                  <a:pt x="66749" y="135731"/>
                  <a:pt x="78581" y="135731"/>
                </a:cubicBezTo>
                <a:lnTo>
                  <a:pt x="107156" y="135731"/>
                </a:lnTo>
                <a:cubicBezTo>
                  <a:pt x="118988" y="135731"/>
                  <a:pt x="128588" y="126132"/>
                  <a:pt x="128588" y="114300"/>
                </a:cubicBezTo>
                <a:lnTo>
                  <a:pt x="128588" y="85725"/>
                </a:lnTo>
                <a:lnTo>
                  <a:pt x="142875" y="85725"/>
                </a:lnTo>
                <a:cubicBezTo>
                  <a:pt x="174441" y="85725"/>
                  <a:pt x="200025" y="111309"/>
                  <a:pt x="200025" y="142875"/>
                </a:cubicBezTo>
                <a:cubicBezTo>
                  <a:pt x="200025" y="174441"/>
                  <a:pt x="174441" y="200025"/>
                  <a:pt x="142875" y="200025"/>
                </a:cubicBezTo>
                <a:lnTo>
                  <a:pt x="14288" y="200025"/>
                </a:lnTo>
                <a:cubicBezTo>
                  <a:pt x="6385" y="200025"/>
                  <a:pt x="0" y="206410"/>
                  <a:pt x="0" y="214313"/>
                </a:cubicBezTo>
                <a:cubicBezTo>
                  <a:pt x="0" y="222215"/>
                  <a:pt x="6385" y="228600"/>
                  <a:pt x="14288" y="228600"/>
                </a:cubicBezTo>
                <a:lnTo>
                  <a:pt x="214313" y="228600"/>
                </a:lnTo>
                <a:cubicBezTo>
                  <a:pt x="222215" y="228600"/>
                  <a:pt x="228600" y="222215"/>
                  <a:pt x="228600" y="214313"/>
                </a:cubicBezTo>
                <a:cubicBezTo>
                  <a:pt x="228600" y="206410"/>
                  <a:pt x="222215" y="200025"/>
                  <a:pt x="214313" y="200025"/>
                </a:cubicBezTo>
                <a:lnTo>
                  <a:pt x="206767" y="200025"/>
                </a:lnTo>
                <a:cubicBezTo>
                  <a:pt x="220340" y="184845"/>
                  <a:pt x="228600" y="164842"/>
                  <a:pt x="228600" y="142875"/>
                </a:cubicBezTo>
                <a:cubicBezTo>
                  <a:pt x="228600" y="95548"/>
                  <a:pt x="190202" y="57150"/>
                  <a:pt x="142875" y="57150"/>
                </a:cubicBezTo>
                <a:lnTo>
                  <a:pt x="128588" y="57150"/>
                </a:lnTo>
                <a:lnTo>
                  <a:pt x="128588" y="21431"/>
                </a:lnTo>
                <a:cubicBezTo>
                  <a:pt x="128588" y="9599"/>
                  <a:pt x="118988" y="0"/>
                  <a:pt x="107156" y="0"/>
                </a:cubicBezTo>
                <a:lnTo>
                  <a:pt x="78581" y="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32159" y="178594"/>
                </a:lnTo>
                <a:cubicBezTo>
                  <a:pt x="138098" y="178594"/>
                  <a:pt x="142875" y="173816"/>
                  <a:pt x="142875" y="167878"/>
                </a:cubicBezTo>
                <a:cubicBezTo>
                  <a:pt x="142875" y="161940"/>
                  <a:pt x="138098" y="157163"/>
                  <a:pt x="132159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10" name="Text 7"/>
          <p:cNvSpPr/>
          <p:nvPr/>
        </p:nvSpPr>
        <p:spPr>
          <a:xfrm>
            <a:off x="781050" y="5324475"/>
            <a:ext cx="335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Scientific Analysis • Evidence-Based Insights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105" kern="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Detection Science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AI Detection Tools Actually Work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376363"/>
            <a:ext cx="5591175" cy="2276475"/>
          </a:xfrm>
          <a:custGeom>
            <a:avLst/>
            <a:gdLst/>
            <a:ahLst/>
            <a:cxnLst/>
            <a:rect l="l" t="t" r="r" b="b"/>
            <a:pathLst>
              <a:path w="5591175" h="2276475">
                <a:moveTo>
                  <a:pt x="76194" y="0"/>
                </a:moveTo>
                <a:lnTo>
                  <a:pt x="5514981" y="0"/>
                </a:lnTo>
                <a:cubicBezTo>
                  <a:pt x="5557062" y="0"/>
                  <a:pt x="5591175" y="34113"/>
                  <a:pt x="5591175" y="76194"/>
                </a:cubicBezTo>
                <a:lnTo>
                  <a:pt x="5591175" y="2200281"/>
                </a:lnTo>
                <a:cubicBezTo>
                  <a:pt x="5591175" y="2242362"/>
                  <a:pt x="5557062" y="2276475"/>
                  <a:pt x="5514981" y="2276475"/>
                </a:cubicBezTo>
                <a:lnTo>
                  <a:pt x="76194" y="2276475"/>
                </a:lnTo>
                <a:cubicBezTo>
                  <a:pt x="34113" y="2276475"/>
                  <a:pt x="0" y="2242362"/>
                  <a:pt x="0" y="2200281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571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7" name="Text 5"/>
          <p:cNvSpPr/>
          <p:nvPr/>
        </p:nvSpPr>
        <p:spPr>
          <a:xfrm>
            <a:off x="542925" y="1571625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6325" y="1628775"/>
            <a:ext cx="1685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Perplexity Analysis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2066925"/>
            <a:ext cx="5276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it measures: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How "predictable" or "obvious" the text choices are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1025" y="2390775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5"/>
                </a:solidFill>
                <a:highlight>
                  <a:srgbClr val="7D9A78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AI-generated text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tends to have LOW perplexity—making the most common word choices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1025" y="2962275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5"/>
                </a:solidFill>
                <a:highlight>
                  <a:srgbClr val="2D5A3D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writing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 HIGHER perplexity—more unpredictable, creative word choices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5763" y="3814763"/>
            <a:ext cx="5591175" cy="2028825"/>
          </a:xfrm>
          <a:custGeom>
            <a:avLst/>
            <a:gdLst/>
            <a:ahLst/>
            <a:cxnLst/>
            <a:rect l="l" t="t" r="r" b="b"/>
            <a:pathLst>
              <a:path w="5591175" h="2028825">
                <a:moveTo>
                  <a:pt x="76203" y="0"/>
                </a:moveTo>
                <a:lnTo>
                  <a:pt x="5514972" y="0"/>
                </a:lnTo>
                <a:cubicBezTo>
                  <a:pt x="5557058" y="0"/>
                  <a:pt x="5591175" y="34117"/>
                  <a:pt x="5591175" y="76203"/>
                </a:cubicBezTo>
                <a:lnTo>
                  <a:pt x="5591175" y="1952622"/>
                </a:lnTo>
                <a:cubicBezTo>
                  <a:pt x="5591175" y="1994708"/>
                  <a:pt x="5557058" y="2028825"/>
                  <a:pt x="5514972" y="2028825"/>
                </a:cubicBezTo>
                <a:lnTo>
                  <a:pt x="76203" y="2028825"/>
                </a:lnTo>
                <a:cubicBezTo>
                  <a:pt x="34117" y="2028825"/>
                  <a:pt x="0" y="1994708"/>
                  <a:pt x="0" y="19526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1025" y="4010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14" name="Text 12"/>
          <p:cNvSpPr/>
          <p:nvPr/>
        </p:nvSpPr>
        <p:spPr>
          <a:xfrm>
            <a:off x="542925" y="4010025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6325" y="4067175"/>
            <a:ext cx="2181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Burstiness Measurement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1025" y="4505325"/>
            <a:ext cx="5276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it measures: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Variation in sentence length and complexity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1025" y="4829175"/>
            <a:ext cx="5276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5"/>
                </a:solidFill>
                <a:highlight>
                  <a:srgbClr val="7D9A78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writing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 LOW burstiness—uniform sentence structures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1025" y="5153025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5"/>
                </a:solidFill>
                <a:highlight>
                  <a:srgbClr val="2D5A3D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writing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 HIGH burstiness—mix of short/long, simple/complex sentences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5063" y="1376363"/>
            <a:ext cx="5591175" cy="2638425"/>
          </a:xfrm>
          <a:custGeom>
            <a:avLst/>
            <a:gdLst/>
            <a:ahLst/>
            <a:cxnLst/>
            <a:rect l="l" t="t" r="r" b="b"/>
            <a:pathLst>
              <a:path w="5591175" h="2638425">
                <a:moveTo>
                  <a:pt x="76198" y="0"/>
                </a:moveTo>
                <a:lnTo>
                  <a:pt x="5514977" y="0"/>
                </a:lnTo>
                <a:cubicBezTo>
                  <a:pt x="5557032" y="0"/>
                  <a:pt x="5591175" y="34143"/>
                  <a:pt x="5591175" y="76198"/>
                </a:cubicBezTo>
                <a:lnTo>
                  <a:pt x="5591175" y="2562227"/>
                </a:lnTo>
                <a:cubicBezTo>
                  <a:pt x="5591175" y="2604282"/>
                  <a:pt x="5557032" y="2638425"/>
                  <a:pt x="5514977" y="2638425"/>
                </a:cubicBezTo>
                <a:lnTo>
                  <a:pt x="76198" y="2638425"/>
                </a:lnTo>
                <a:cubicBezTo>
                  <a:pt x="34143" y="2638425"/>
                  <a:pt x="0" y="2604282"/>
                  <a:pt x="0" y="256222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0325" y="1571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21" name="Text 19"/>
          <p:cNvSpPr/>
          <p:nvPr/>
        </p:nvSpPr>
        <p:spPr>
          <a:xfrm>
            <a:off x="6372225" y="1571625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05625" y="1628775"/>
            <a:ext cx="2514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 Classifiers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10325" y="2066925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detectors are trained on massive datasets containing both human-written and AI-generated texts. They learn to recognize: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29375" y="2714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25" name="Text 23"/>
          <p:cNvSpPr/>
          <p:nvPr/>
        </p:nvSpPr>
        <p:spPr>
          <a:xfrm>
            <a:off x="6677025" y="2676525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Repetitive phrases and patterns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29375" y="3019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27" name="Text 25"/>
          <p:cNvSpPr/>
          <p:nvPr/>
        </p:nvSpPr>
        <p:spPr>
          <a:xfrm>
            <a:off x="6677025" y="2981325"/>
            <a:ext cx="2200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Overly formal or consistent tone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9375" y="33242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29" name="Text 27"/>
          <p:cNvSpPr/>
          <p:nvPr/>
        </p:nvSpPr>
        <p:spPr>
          <a:xfrm>
            <a:off x="6677025" y="3286125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Lack of personal insight or nuance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29375" y="3629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31" name="Text 29"/>
          <p:cNvSpPr/>
          <p:nvPr/>
        </p:nvSpPr>
        <p:spPr>
          <a:xfrm>
            <a:off x="6677025" y="3590925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Statistical anomalies in word choice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29350" y="4171950"/>
            <a:ext cx="5581650" cy="1466850"/>
          </a:xfrm>
          <a:custGeom>
            <a:avLst/>
            <a:gdLst/>
            <a:ahLst/>
            <a:cxnLst/>
            <a:rect l="l" t="t" r="r" b="b"/>
            <a:pathLst>
              <a:path w="5581650" h="1466850">
                <a:moveTo>
                  <a:pt x="38100" y="0"/>
                </a:moveTo>
                <a:lnTo>
                  <a:pt x="5505447" y="0"/>
                </a:lnTo>
                <a:cubicBezTo>
                  <a:pt x="5547505" y="0"/>
                  <a:pt x="5581650" y="34145"/>
                  <a:pt x="5581650" y="76203"/>
                </a:cubicBezTo>
                <a:lnTo>
                  <a:pt x="5581650" y="1390647"/>
                </a:lnTo>
                <a:cubicBezTo>
                  <a:pt x="5581650" y="1432705"/>
                  <a:pt x="5547505" y="1466850"/>
                  <a:pt x="5505447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5A3D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229350" y="417195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34" name="Shape 32"/>
          <p:cNvSpPr/>
          <p:nvPr/>
        </p:nvSpPr>
        <p:spPr>
          <a:xfrm>
            <a:off x="6484144" y="44100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35" name="Text 33"/>
          <p:cNvSpPr/>
          <p:nvPr/>
        </p:nvSpPr>
        <p:spPr>
          <a:xfrm>
            <a:off x="6715125" y="4362450"/>
            <a:ext cx="499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38900" y="4705350"/>
            <a:ext cx="5257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detectors analyze the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"fingerprints"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left by language models. Just as a botanist identifies plants by their unique characteristics, these tools identify text by its linguistic patterns.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5763" y="6147048"/>
            <a:ext cx="2371725" cy="323850"/>
          </a:xfrm>
          <a:custGeom>
            <a:avLst/>
            <a:gdLst/>
            <a:ahLst/>
            <a:cxnLst/>
            <a:rect l="l" t="t" r="r" b="b"/>
            <a:pathLst>
              <a:path w="2371725" h="323850">
                <a:moveTo>
                  <a:pt x="0" y="0"/>
                </a:moveTo>
                <a:lnTo>
                  <a:pt x="2371725" y="0"/>
                </a:lnTo>
                <a:lnTo>
                  <a:pt x="2371725" y="323850"/>
                </a:lnTo>
                <a:lnTo>
                  <a:pt x="0" y="323850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90196"/>
            </a:srgbClr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1000" y="6142286"/>
            <a:ext cx="2419350" cy="314325"/>
          </a:xfrm>
          <a:prstGeom prst="rect">
            <a:avLst/>
          </a:prstGeom>
          <a:noFill/>
          <a:ln/>
        </p:spPr>
        <p:txBody>
          <a:bodyPr wrap="square" lIns="114300" tIns="76200" rIns="114300" bIns="7620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Methodology • Scientific Analysis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015957" y="6214393"/>
            <a:ext cx="385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Source: GPTZero, Turnitin Research, University of Maryland AI Lab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296" y="370296"/>
            <a:ext cx="11516210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spc="102" kern="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Reality Check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296" y="629503"/>
            <a:ext cx="11618041" cy="37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4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Truth About Detection Accuracy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0296" y="1110888"/>
            <a:ext cx="740592" cy="37030"/>
          </a:xfrm>
          <a:custGeom>
            <a:avLst/>
            <a:gdLst/>
            <a:ahLst/>
            <a:cxnLst/>
            <a:rect l="l" t="t" r="r" b="b"/>
            <a:pathLst>
              <a:path w="740592" h="37030">
                <a:moveTo>
                  <a:pt x="0" y="0"/>
                </a:moveTo>
                <a:lnTo>
                  <a:pt x="740592" y="0"/>
                </a:lnTo>
                <a:lnTo>
                  <a:pt x="740592" y="37030"/>
                </a:lnTo>
                <a:lnTo>
                  <a:pt x="0" y="3703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" name="Shape 3"/>
          <p:cNvSpPr/>
          <p:nvPr/>
        </p:nvSpPr>
        <p:spPr>
          <a:xfrm>
            <a:off x="374925" y="1337695"/>
            <a:ext cx="6165431" cy="2564301"/>
          </a:xfrm>
          <a:custGeom>
            <a:avLst/>
            <a:gdLst/>
            <a:ahLst/>
            <a:cxnLst/>
            <a:rect l="l" t="t" r="r" b="b"/>
            <a:pathLst>
              <a:path w="6165431" h="2564301">
                <a:moveTo>
                  <a:pt x="74057" y="0"/>
                </a:moveTo>
                <a:lnTo>
                  <a:pt x="6091374" y="0"/>
                </a:lnTo>
                <a:cubicBezTo>
                  <a:pt x="6132274" y="0"/>
                  <a:pt x="6165431" y="33156"/>
                  <a:pt x="6165431" y="74057"/>
                </a:cubicBezTo>
                <a:lnTo>
                  <a:pt x="6165431" y="2490244"/>
                </a:lnTo>
                <a:cubicBezTo>
                  <a:pt x="6165431" y="2531144"/>
                  <a:pt x="6132274" y="2564301"/>
                  <a:pt x="6091374" y="2564301"/>
                </a:cubicBezTo>
                <a:lnTo>
                  <a:pt x="74057" y="2564301"/>
                </a:lnTo>
                <a:cubicBezTo>
                  <a:pt x="33156" y="2564301"/>
                  <a:pt x="0" y="2531144"/>
                  <a:pt x="0" y="2490244"/>
                </a:cubicBezTo>
                <a:lnTo>
                  <a:pt x="0" y="74057"/>
                </a:lnTo>
                <a:cubicBezTo>
                  <a:pt x="0" y="33156"/>
                  <a:pt x="33156" y="0"/>
                  <a:pt x="74057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7845" y="1559872"/>
            <a:ext cx="185148" cy="185148"/>
          </a:xfrm>
          <a:custGeom>
            <a:avLst/>
            <a:gdLst/>
            <a:ahLst/>
            <a:cxnLst/>
            <a:rect l="l" t="t" r="r" b="b"/>
            <a:pathLst>
              <a:path w="185148" h="185148">
                <a:moveTo>
                  <a:pt x="92574" y="0"/>
                </a:moveTo>
                <a:cubicBezTo>
                  <a:pt x="97890" y="0"/>
                  <a:pt x="102772" y="2929"/>
                  <a:pt x="105303" y="7594"/>
                </a:cubicBezTo>
                <a:lnTo>
                  <a:pt x="183412" y="152241"/>
                </a:lnTo>
                <a:cubicBezTo>
                  <a:pt x="185835" y="156725"/>
                  <a:pt x="185727" y="162149"/>
                  <a:pt x="183123" y="166525"/>
                </a:cubicBezTo>
                <a:cubicBezTo>
                  <a:pt x="180519" y="170900"/>
                  <a:pt x="175782" y="173576"/>
                  <a:pt x="170683" y="173576"/>
                </a:cubicBezTo>
                <a:lnTo>
                  <a:pt x="14465" y="173576"/>
                </a:lnTo>
                <a:cubicBezTo>
                  <a:pt x="9366" y="173576"/>
                  <a:pt x="4665" y="170900"/>
                  <a:pt x="2025" y="166525"/>
                </a:cubicBezTo>
                <a:cubicBezTo>
                  <a:pt x="-615" y="162149"/>
                  <a:pt x="-687" y="156725"/>
                  <a:pt x="1736" y="152241"/>
                </a:cubicBezTo>
                <a:lnTo>
                  <a:pt x="79845" y="7594"/>
                </a:lnTo>
                <a:cubicBezTo>
                  <a:pt x="82376" y="2929"/>
                  <a:pt x="87258" y="0"/>
                  <a:pt x="92574" y="0"/>
                </a:cubicBezTo>
                <a:close/>
                <a:moveTo>
                  <a:pt x="92574" y="60752"/>
                </a:moveTo>
                <a:cubicBezTo>
                  <a:pt x="87765" y="60752"/>
                  <a:pt x="83895" y="64621"/>
                  <a:pt x="83895" y="69431"/>
                </a:cubicBezTo>
                <a:lnTo>
                  <a:pt x="83895" y="109932"/>
                </a:lnTo>
                <a:cubicBezTo>
                  <a:pt x="83895" y="114741"/>
                  <a:pt x="87765" y="118610"/>
                  <a:pt x="92574" y="118610"/>
                </a:cubicBezTo>
                <a:cubicBezTo>
                  <a:pt x="97384" y="118610"/>
                  <a:pt x="101253" y="114741"/>
                  <a:pt x="101253" y="109932"/>
                </a:cubicBezTo>
                <a:lnTo>
                  <a:pt x="101253" y="69431"/>
                </a:lnTo>
                <a:cubicBezTo>
                  <a:pt x="101253" y="64621"/>
                  <a:pt x="97384" y="60752"/>
                  <a:pt x="92574" y="60752"/>
                </a:cubicBezTo>
                <a:close/>
                <a:moveTo>
                  <a:pt x="102229" y="138861"/>
                </a:moveTo>
                <a:cubicBezTo>
                  <a:pt x="102449" y="135277"/>
                  <a:pt x="100662" y="131867"/>
                  <a:pt x="97589" y="130009"/>
                </a:cubicBezTo>
                <a:cubicBezTo>
                  <a:pt x="94517" y="128151"/>
                  <a:pt x="90667" y="128151"/>
                  <a:pt x="87595" y="130009"/>
                </a:cubicBezTo>
                <a:cubicBezTo>
                  <a:pt x="84523" y="131867"/>
                  <a:pt x="82735" y="135277"/>
                  <a:pt x="82955" y="138861"/>
                </a:cubicBezTo>
                <a:cubicBezTo>
                  <a:pt x="82735" y="142445"/>
                  <a:pt x="84523" y="145855"/>
                  <a:pt x="87595" y="147713"/>
                </a:cubicBezTo>
                <a:cubicBezTo>
                  <a:pt x="90667" y="149571"/>
                  <a:pt x="94517" y="149571"/>
                  <a:pt x="97589" y="147713"/>
                </a:cubicBezTo>
                <a:cubicBezTo>
                  <a:pt x="100662" y="145855"/>
                  <a:pt x="102449" y="142445"/>
                  <a:pt x="102229" y="138861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7" name="Text 5"/>
          <p:cNvSpPr/>
          <p:nvPr/>
        </p:nvSpPr>
        <p:spPr>
          <a:xfrm>
            <a:off x="850121" y="1527472"/>
            <a:ext cx="5593032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Turnitin's Own Admission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4702" y="1934797"/>
            <a:ext cx="2823508" cy="1147918"/>
          </a:xfrm>
          <a:custGeom>
            <a:avLst/>
            <a:gdLst/>
            <a:ahLst/>
            <a:cxnLst/>
            <a:rect l="l" t="t" r="r" b="b"/>
            <a:pathLst>
              <a:path w="2823508" h="1147918">
                <a:moveTo>
                  <a:pt x="74064" y="0"/>
                </a:moveTo>
                <a:lnTo>
                  <a:pt x="2749444" y="0"/>
                </a:lnTo>
                <a:cubicBezTo>
                  <a:pt x="2790349" y="0"/>
                  <a:pt x="2823508" y="33159"/>
                  <a:pt x="2823508" y="74064"/>
                </a:cubicBezTo>
                <a:lnTo>
                  <a:pt x="2823508" y="1073854"/>
                </a:lnTo>
                <a:cubicBezTo>
                  <a:pt x="2823508" y="1114759"/>
                  <a:pt x="2790349" y="1147918"/>
                  <a:pt x="2749444" y="1147918"/>
                </a:cubicBezTo>
                <a:lnTo>
                  <a:pt x="74064" y="1147918"/>
                </a:lnTo>
                <a:cubicBezTo>
                  <a:pt x="33159" y="1147918"/>
                  <a:pt x="0" y="1114759"/>
                  <a:pt x="0" y="1073854"/>
                </a:cubicBezTo>
                <a:lnTo>
                  <a:pt x="0" y="74064"/>
                </a:lnTo>
                <a:cubicBezTo>
                  <a:pt x="0" y="33187"/>
                  <a:pt x="33187" y="0"/>
                  <a:pt x="74064" y="0"/>
                </a:cubicBezTo>
                <a:close/>
              </a:path>
            </a:pathLst>
          </a:custGeom>
          <a:solidFill>
            <a:srgbClr val="8B7355">
              <a:alpha val="1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01731" y="2082916"/>
            <a:ext cx="2749449" cy="44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99" b="1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0419" y="2564301"/>
            <a:ext cx="2592073" cy="37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 positive rate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 sentence level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33218" y="1934797"/>
            <a:ext cx="2823508" cy="1147918"/>
          </a:xfrm>
          <a:custGeom>
            <a:avLst/>
            <a:gdLst/>
            <a:ahLst/>
            <a:cxnLst/>
            <a:rect l="l" t="t" r="r" b="b"/>
            <a:pathLst>
              <a:path w="2823508" h="1147918">
                <a:moveTo>
                  <a:pt x="74064" y="0"/>
                </a:moveTo>
                <a:lnTo>
                  <a:pt x="2749444" y="0"/>
                </a:lnTo>
                <a:cubicBezTo>
                  <a:pt x="2790349" y="0"/>
                  <a:pt x="2823508" y="33159"/>
                  <a:pt x="2823508" y="74064"/>
                </a:cubicBezTo>
                <a:lnTo>
                  <a:pt x="2823508" y="1073854"/>
                </a:lnTo>
                <a:cubicBezTo>
                  <a:pt x="2823508" y="1114759"/>
                  <a:pt x="2790349" y="1147918"/>
                  <a:pt x="2749444" y="1147918"/>
                </a:cubicBezTo>
                <a:lnTo>
                  <a:pt x="74064" y="1147918"/>
                </a:lnTo>
                <a:cubicBezTo>
                  <a:pt x="33159" y="1147918"/>
                  <a:pt x="0" y="1114759"/>
                  <a:pt x="0" y="1073854"/>
                </a:cubicBezTo>
                <a:lnTo>
                  <a:pt x="0" y="74064"/>
                </a:lnTo>
                <a:cubicBezTo>
                  <a:pt x="0" y="33187"/>
                  <a:pt x="33187" y="0"/>
                  <a:pt x="74064" y="0"/>
                </a:cubicBezTo>
                <a:close/>
              </a:path>
            </a:pathLst>
          </a:custGeom>
          <a:solidFill>
            <a:srgbClr val="7D9A78">
              <a:alpha val="1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570248" y="2082916"/>
            <a:ext cx="2749449" cy="44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99" b="1" dirty="0">
                <a:solidFill>
                  <a:srgbClr val="7D9A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48936" y="2564301"/>
            <a:ext cx="2592073" cy="37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 positive rate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documents &gt;20% AI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4702" y="3230834"/>
            <a:ext cx="5859936" cy="481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Turnitin has been running AI detection on </a:t>
            </a:r>
            <a:pPr>
              <a:lnSpc>
                <a:spcPct val="140000"/>
              </a:lnSpc>
            </a:pPr>
            <a:r>
              <a:rPr lang="en-US" sz="1166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38 million+ student essays</a:t>
            </a:r>
            <a:pPr>
              <a:lnSpc>
                <a:spcPct val="140000"/>
              </a:lnSpc>
            </a:pPr>
            <a:r>
              <a:rPr lang="en-US" sz="1166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since April 2023. They now add </a:t>
            </a:r>
            <a:pPr>
              <a:lnSpc>
                <a:spcPct val="140000"/>
              </a:lnSpc>
            </a:pPr>
            <a:r>
              <a:rPr lang="en-US" sz="1166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asterisks</a:t>
            </a:r>
            <a:pPr>
              <a:lnSpc>
                <a:spcPct val="140000"/>
              </a:lnSpc>
            </a:pPr>
            <a:r>
              <a:rPr lang="en-US" sz="1166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borderline results to indicate lower reliability.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4925" y="4059371"/>
            <a:ext cx="6165431" cy="1860738"/>
          </a:xfrm>
          <a:custGeom>
            <a:avLst/>
            <a:gdLst/>
            <a:ahLst/>
            <a:cxnLst/>
            <a:rect l="l" t="t" r="r" b="b"/>
            <a:pathLst>
              <a:path w="6165431" h="1860738">
                <a:moveTo>
                  <a:pt x="74057" y="0"/>
                </a:moveTo>
                <a:lnTo>
                  <a:pt x="6091373" y="0"/>
                </a:lnTo>
                <a:cubicBezTo>
                  <a:pt x="6132274" y="0"/>
                  <a:pt x="6165431" y="33157"/>
                  <a:pt x="6165431" y="74057"/>
                </a:cubicBezTo>
                <a:lnTo>
                  <a:pt x="6165431" y="1786681"/>
                </a:lnTo>
                <a:cubicBezTo>
                  <a:pt x="6165431" y="1827581"/>
                  <a:pt x="6132274" y="1860738"/>
                  <a:pt x="6091373" y="1860738"/>
                </a:cubicBezTo>
                <a:lnTo>
                  <a:pt x="74057" y="1860738"/>
                </a:lnTo>
                <a:cubicBezTo>
                  <a:pt x="33157" y="1860738"/>
                  <a:pt x="0" y="1827581"/>
                  <a:pt x="0" y="1786681"/>
                </a:cubicBezTo>
                <a:lnTo>
                  <a:pt x="0" y="74057"/>
                </a:lnTo>
                <a:cubicBezTo>
                  <a:pt x="0" y="33184"/>
                  <a:pt x="33184" y="0"/>
                  <a:pt x="74057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9417" y="4281549"/>
            <a:ext cx="162005" cy="185148"/>
          </a:xfrm>
          <a:custGeom>
            <a:avLst/>
            <a:gdLst/>
            <a:ahLst/>
            <a:cxnLst/>
            <a:rect l="l" t="t" r="r" b="b"/>
            <a:pathLst>
              <a:path w="162005" h="185148">
                <a:moveTo>
                  <a:pt x="104146" y="0"/>
                </a:moveTo>
                <a:lnTo>
                  <a:pt x="46287" y="0"/>
                </a:lnTo>
                <a:cubicBezTo>
                  <a:pt x="39886" y="0"/>
                  <a:pt x="34715" y="5171"/>
                  <a:pt x="34715" y="11572"/>
                </a:cubicBezTo>
                <a:cubicBezTo>
                  <a:pt x="34715" y="17972"/>
                  <a:pt x="39886" y="23144"/>
                  <a:pt x="46287" y="23144"/>
                </a:cubicBezTo>
                <a:lnTo>
                  <a:pt x="46287" y="77929"/>
                </a:lnTo>
                <a:lnTo>
                  <a:pt x="2712" y="154157"/>
                </a:lnTo>
                <a:cubicBezTo>
                  <a:pt x="940" y="157304"/>
                  <a:pt x="0" y="160811"/>
                  <a:pt x="0" y="164427"/>
                </a:cubicBezTo>
                <a:cubicBezTo>
                  <a:pt x="0" y="175891"/>
                  <a:pt x="9257" y="185148"/>
                  <a:pt x="20721" y="185148"/>
                </a:cubicBezTo>
                <a:lnTo>
                  <a:pt x="141284" y="185148"/>
                </a:lnTo>
                <a:cubicBezTo>
                  <a:pt x="152711" y="185148"/>
                  <a:pt x="162005" y="175891"/>
                  <a:pt x="162005" y="164427"/>
                </a:cubicBezTo>
                <a:cubicBezTo>
                  <a:pt x="162005" y="160811"/>
                  <a:pt x="161064" y="157267"/>
                  <a:pt x="159292" y="154157"/>
                </a:cubicBezTo>
                <a:lnTo>
                  <a:pt x="115718" y="77929"/>
                </a:lnTo>
                <a:lnTo>
                  <a:pt x="115718" y="23144"/>
                </a:lnTo>
                <a:cubicBezTo>
                  <a:pt x="122118" y="23144"/>
                  <a:pt x="127289" y="17972"/>
                  <a:pt x="127289" y="11572"/>
                </a:cubicBezTo>
                <a:cubicBezTo>
                  <a:pt x="127289" y="5171"/>
                  <a:pt x="122118" y="0"/>
                  <a:pt x="115718" y="0"/>
                </a:cubicBezTo>
                <a:lnTo>
                  <a:pt x="104146" y="0"/>
                </a:lnTo>
                <a:close/>
                <a:moveTo>
                  <a:pt x="69431" y="77929"/>
                </a:moveTo>
                <a:lnTo>
                  <a:pt x="69431" y="23144"/>
                </a:lnTo>
                <a:lnTo>
                  <a:pt x="92574" y="23144"/>
                </a:lnTo>
                <a:lnTo>
                  <a:pt x="92574" y="77929"/>
                </a:lnTo>
                <a:cubicBezTo>
                  <a:pt x="92574" y="81942"/>
                  <a:pt x="93623" y="85920"/>
                  <a:pt x="95612" y="89428"/>
                </a:cubicBezTo>
                <a:lnTo>
                  <a:pt x="110655" y="115718"/>
                </a:lnTo>
                <a:lnTo>
                  <a:pt x="51350" y="115718"/>
                </a:lnTo>
                <a:lnTo>
                  <a:pt x="66393" y="89428"/>
                </a:lnTo>
                <a:cubicBezTo>
                  <a:pt x="68382" y="85920"/>
                  <a:pt x="69431" y="81979"/>
                  <a:pt x="69431" y="77929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17" name="Text 15"/>
          <p:cNvSpPr/>
          <p:nvPr/>
        </p:nvSpPr>
        <p:spPr>
          <a:xfrm>
            <a:off x="850121" y="4249148"/>
            <a:ext cx="5593032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University of Maryland Research Findings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3216" y="4656474"/>
            <a:ext cx="148118" cy="148118"/>
          </a:xfrm>
          <a:custGeom>
            <a:avLst/>
            <a:gdLst/>
            <a:ahLst/>
            <a:cxnLst/>
            <a:rect l="l" t="t" r="r" b="b"/>
            <a:pathLst>
              <a:path w="148118" h="148118">
                <a:moveTo>
                  <a:pt x="74059" y="148118"/>
                </a:moveTo>
                <a:cubicBezTo>
                  <a:pt x="114934" y="148118"/>
                  <a:pt x="148118" y="114934"/>
                  <a:pt x="148118" y="74059"/>
                </a:cubicBezTo>
                <a:cubicBezTo>
                  <a:pt x="148118" y="33185"/>
                  <a:pt x="114934" y="0"/>
                  <a:pt x="74059" y="0"/>
                </a:cubicBezTo>
                <a:cubicBezTo>
                  <a:pt x="33185" y="0"/>
                  <a:pt x="0" y="33185"/>
                  <a:pt x="0" y="74059"/>
                </a:cubicBezTo>
                <a:cubicBezTo>
                  <a:pt x="0" y="114934"/>
                  <a:pt x="33185" y="148118"/>
                  <a:pt x="74059" y="148118"/>
                </a:cubicBezTo>
                <a:close/>
                <a:moveTo>
                  <a:pt x="48312" y="48312"/>
                </a:moveTo>
                <a:cubicBezTo>
                  <a:pt x="51031" y="45593"/>
                  <a:pt x="55429" y="45593"/>
                  <a:pt x="58119" y="48312"/>
                </a:cubicBezTo>
                <a:lnTo>
                  <a:pt x="74030" y="64223"/>
                </a:lnTo>
                <a:lnTo>
                  <a:pt x="89941" y="48312"/>
                </a:lnTo>
                <a:cubicBezTo>
                  <a:pt x="92661" y="45593"/>
                  <a:pt x="97058" y="45593"/>
                  <a:pt x="99749" y="48312"/>
                </a:cubicBezTo>
                <a:cubicBezTo>
                  <a:pt x="102439" y="51031"/>
                  <a:pt x="102468" y="55429"/>
                  <a:pt x="99749" y="58119"/>
                </a:cubicBezTo>
                <a:lnTo>
                  <a:pt x="83837" y="74030"/>
                </a:lnTo>
                <a:lnTo>
                  <a:pt x="99749" y="89941"/>
                </a:lnTo>
                <a:cubicBezTo>
                  <a:pt x="102468" y="92661"/>
                  <a:pt x="102468" y="97058"/>
                  <a:pt x="99749" y="99749"/>
                </a:cubicBezTo>
                <a:cubicBezTo>
                  <a:pt x="97029" y="102439"/>
                  <a:pt x="92632" y="102468"/>
                  <a:pt x="89941" y="99749"/>
                </a:cubicBezTo>
                <a:lnTo>
                  <a:pt x="74030" y="83837"/>
                </a:lnTo>
                <a:lnTo>
                  <a:pt x="58119" y="99749"/>
                </a:lnTo>
                <a:cubicBezTo>
                  <a:pt x="55400" y="102468"/>
                  <a:pt x="51003" y="102468"/>
                  <a:pt x="48312" y="99749"/>
                </a:cubicBezTo>
                <a:cubicBezTo>
                  <a:pt x="45622" y="97029"/>
                  <a:pt x="45593" y="92632"/>
                  <a:pt x="48312" y="89941"/>
                </a:cubicBezTo>
                <a:lnTo>
                  <a:pt x="64223" y="74030"/>
                </a:lnTo>
                <a:lnTo>
                  <a:pt x="48312" y="58119"/>
                </a:lnTo>
                <a:cubicBezTo>
                  <a:pt x="45593" y="55400"/>
                  <a:pt x="45593" y="51003"/>
                  <a:pt x="48312" y="48312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19" name="Text 17"/>
          <p:cNvSpPr/>
          <p:nvPr/>
        </p:nvSpPr>
        <p:spPr>
          <a:xfrm>
            <a:off x="823909" y="4619444"/>
            <a:ext cx="4730533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publicly available detector</a:t>
            </a:r>
            <a:pPr>
              <a:lnSpc>
                <a:spcPct val="130000"/>
              </a:lnSpc>
            </a:pPr>
            <a:r>
              <a:rPr lang="en-US" sz="1166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sufficiently reliable in practical scenarios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3216" y="4952711"/>
            <a:ext cx="148118" cy="148118"/>
          </a:xfrm>
          <a:custGeom>
            <a:avLst/>
            <a:gdLst/>
            <a:ahLst/>
            <a:cxnLst/>
            <a:rect l="l" t="t" r="r" b="b"/>
            <a:pathLst>
              <a:path w="148118" h="148118">
                <a:moveTo>
                  <a:pt x="74059" y="148118"/>
                </a:moveTo>
                <a:cubicBezTo>
                  <a:pt x="114934" y="148118"/>
                  <a:pt x="148118" y="114934"/>
                  <a:pt x="148118" y="74059"/>
                </a:cubicBezTo>
                <a:cubicBezTo>
                  <a:pt x="148118" y="33185"/>
                  <a:pt x="114934" y="0"/>
                  <a:pt x="74059" y="0"/>
                </a:cubicBezTo>
                <a:cubicBezTo>
                  <a:pt x="33185" y="0"/>
                  <a:pt x="0" y="33185"/>
                  <a:pt x="0" y="74059"/>
                </a:cubicBezTo>
                <a:cubicBezTo>
                  <a:pt x="0" y="114934"/>
                  <a:pt x="33185" y="148118"/>
                  <a:pt x="74059" y="148118"/>
                </a:cubicBezTo>
                <a:close/>
                <a:moveTo>
                  <a:pt x="48312" y="48312"/>
                </a:moveTo>
                <a:cubicBezTo>
                  <a:pt x="51031" y="45593"/>
                  <a:pt x="55429" y="45593"/>
                  <a:pt x="58119" y="48312"/>
                </a:cubicBezTo>
                <a:lnTo>
                  <a:pt x="74030" y="64223"/>
                </a:lnTo>
                <a:lnTo>
                  <a:pt x="89941" y="48312"/>
                </a:lnTo>
                <a:cubicBezTo>
                  <a:pt x="92661" y="45593"/>
                  <a:pt x="97058" y="45593"/>
                  <a:pt x="99749" y="48312"/>
                </a:cubicBezTo>
                <a:cubicBezTo>
                  <a:pt x="102439" y="51031"/>
                  <a:pt x="102468" y="55429"/>
                  <a:pt x="99749" y="58119"/>
                </a:cubicBezTo>
                <a:lnTo>
                  <a:pt x="83837" y="74030"/>
                </a:lnTo>
                <a:lnTo>
                  <a:pt x="99749" y="89941"/>
                </a:lnTo>
                <a:cubicBezTo>
                  <a:pt x="102468" y="92661"/>
                  <a:pt x="102468" y="97058"/>
                  <a:pt x="99749" y="99749"/>
                </a:cubicBezTo>
                <a:cubicBezTo>
                  <a:pt x="97029" y="102439"/>
                  <a:pt x="92632" y="102468"/>
                  <a:pt x="89941" y="99749"/>
                </a:cubicBezTo>
                <a:lnTo>
                  <a:pt x="74030" y="83837"/>
                </a:lnTo>
                <a:lnTo>
                  <a:pt x="58119" y="99749"/>
                </a:lnTo>
                <a:cubicBezTo>
                  <a:pt x="55400" y="102468"/>
                  <a:pt x="51003" y="102468"/>
                  <a:pt x="48312" y="99749"/>
                </a:cubicBezTo>
                <a:cubicBezTo>
                  <a:pt x="45622" y="97029"/>
                  <a:pt x="45593" y="92632"/>
                  <a:pt x="48312" y="89941"/>
                </a:cubicBezTo>
                <a:lnTo>
                  <a:pt x="64223" y="74030"/>
                </a:lnTo>
                <a:lnTo>
                  <a:pt x="48312" y="58119"/>
                </a:lnTo>
                <a:cubicBezTo>
                  <a:pt x="45593" y="55400"/>
                  <a:pt x="45593" y="51003"/>
                  <a:pt x="48312" y="48312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21" name="Text 19"/>
          <p:cNvSpPr/>
          <p:nvPr/>
        </p:nvSpPr>
        <p:spPr>
          <a:xfrm>
            <a:off x="823909" y="4915681"/>
            <a:ext cx="4573157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Detectors have </a:t>
            </a:r>
            <a:pPr>
              <a:lnSpc>
                <a:spcPct val="130000"/>
              </a:lnSpc>
            </a:pPr>
            <a:r>
              <a:rPr lang="en-US" sz="1166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very high false-positive rates</a:t>
            </a:r>
            <a:pPr>
              <a:lnSpc>
                <a:spcPct val="130000"/>
              </a:lnSpc>
            </a:pPr>
            <a:r>
              <a:rPr lang="en-US" sz="1166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can be easily evaded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3216" y="5248948"/>
            <a:ext cx="148118" cy="148118"/>
          </a:xfrm>
          <a:custGeom>
            <a:avLst/>
            <a:gdLst/>
            <a:ahLst/>
            <a:cxnLst/>
            <a:rect l="l" t="t" r="r" b="b"/>
            <a:pathLst>
              <a:path w="148118" h="148118">
                <a:moveTo>
                  <a:pt x="74059" y="148118"/>
                </a:moveTo>
                <a:cubicBezTo>
                  <a:pt x="114934" y="148118"/>
                  <a:pt x="148118" y="114934"/>
                  <a:pt x="148118" y="74059"/>
                </a:cubicBezTo>
                <a:cubicBezTo>
                  <a:pt x="148118" y="33185"/>
                  <a:pt x="114934" y="0"/>
                  <a:pt x="74059" y="0"/>
                </a:cubicBezTo>
                <a:cubicBezTo>
                  <a:pt x="33185" y="0"/>
                  <a:pt x="0" y="33185"/>
                  <a:pt x="0" y="74059"/>
                </a:cubicBezTo>
                <a:cubicBezTo>
                  <a:pt x="0" y="114934"/>
                  <a:pt x="33185" y="148118"/>
                  <a:pt x="74059" y="148118"/>
                </a:cubicBezTo>
                <a:close/>
                <a:moveTo>
                  <a:pt x="48312" y="48312"/>
                </a:moveTo>
                <a:cubicBezTo>
                  <a:pt x="51031" y="45593"/>
                  <a:pt x="55429" y="45593"/>
                  <a:pt x="58119" y="48312"/>
                </a:cubicBezTo>
                <a:lnTo>
                  <a:pt x="74030" y="64223"/>
                </a:lnTo>
                <a:lnTo>
                  <a:pt x="89941" y="48312"/>
                </a:lnTo>
                <a:cubicBezTo>
                  <a:pt x="92661" y="45593"/>
                  <a:pt x="97058" y="45593"/>
                  <a:pt x="99749" y="48312"/>
                </a:cubicBezTo>
                <a:cubicBezTo>
                  <a:pt x="102439" y="51031"/>
                  <a:pt x="102468" y="55429"/>
                  <a:pt x="99749" y="58119"/>
                </a:cubicBezTo>
                <a:lnTo>
                  <a:pt x="83837" y="74030"/>
                </a:lnTo>
                <a:lnTo>
                  <a:pt x="99749" y="89941"/>
                </a:lnTo>
                <a:cubicBezTo>
                  <a:pt x="102468" y="92661"/>
                  <a:pt x="102468" y="97058"/>
                  <a:pt x="99749" y="99749"/>
                </a:cubicBezTo>
                <a:cubicBezTo>
                  <a:pt x="97029" y="102439"/>
                  <a:pt x="92632" y="102468"/>
                  <a:pt x="89941" y="99749"/>
                </a:cubicBezTo>
                <a:lnTo>
                  <a:pt x="74030" y="83837"/>
                </a:lnTo>
                <a:lnTo>
                  <a:pt x="58119" y="99749"/>
                </a:lnTo>
                <a:cubicBezTo>
                  <a:pt x="55400" y="102468"/>
                  <a:pt x="51003" y="102468"/>
                  <a:pt x="48312" y="99749"/>
                </a:cubicBezTo>
                <a:cubicBezTo>
                  <a:pt x="45622" y="97029"/>
                  <a:pt x="45593" y="92632"/>
                  <a:pt x="48312" y="89941"/>
                </a:cubicBezTo>
                <a:lnTo>
                  <a:pt x="64223" y="74030"/>
                </a:lnTo>
                <a:lnTo>
                  <a:pt x="48312" y="58119"/>
                </a:lnTo>
                <a:cubicBezTo>
                  <a:pt x="45593" y="55400"/>
                  <a:pt x="45593" y="51003"/>
                  <a:pt x="48312" y="48312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23" name="Text 21"/>
          <p:cNvSpPr/>
          <p:nvPr/>
        </p:nvSpPr>
        <p:spPr>
          <a:xfrm>
            <a:off x="823909" y="5211918"/>
            <a:ext cx="4230633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paraphrasing, AI detection is </a:t>
            </a:r>
            <a:pPr>
              <a:lnSpc>
                <a:spcPct val="130000"/>
              </a:lnSpc>
            </a:pPr>
            <a:r>
              <a:rPr lang="en-US" sz="1166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little better than random guess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3216" y="5545185"/>
            <a:ext cx="148118" cy="148118"/>
          </a:xfrm>
          <a:custGeom>
            <a:avLst/>
            <a:gdLst/>
            <a:ahLst/>
            <a:cxnLst/>
            <a:rect l="l" t="t" r="r" b="b"/>
            <a:pathLst>
              <a:path w="148118" h="148118">
                <a:moveTo>
                  <a:pt x="74059" y="148118"/>
                </a:moveTo>
                <a:cubicBezTo>
                  <a:pt x="114934" y="148118"/>
                  <a:pt x="148118" y="114934"/>
                  <a:pt x="148118" y="74059"/>
                </a:cubicBezTo>
                <a:cubicBezTo>
                  <a:pt x="148118" y="33185"/>
                  <a:pt x="114934" y="0"/>
                  <a:pt x="74059" y="0"/>
                </a:cubicBezTo>
                <a:cubicBezTo>
                  <a:pt x="33185" y="0"/>
                  <a:pt x="0" y="33185"/>
                  <a:pt x="0" y="74059"/>
                </a:cubicBezTo>
                <a:cubicBezTo>
                  <a:pt x="0" y="114934"/>
                  <a:pt x="33185" y="148118"/>
                  <a:pt x="74059" y="148118"/>
                </a:cubicBezTo>
                <a:close/>
                <a:moveTo>
                  <a:pt x="74059" y="39344"/>
                </a:moveTo>
                <a:cubicBezTo>
                  <a:pt x="77907" y="39344"/>
                  <a:pt x="81002" y="42439"/>
                  <a:pt x="81002" y="46287"/>
                </a:cubicBezTo>
                <a:lnTo>
                  <a:pt x="81002" y="78688"/>
                </a:lnTo>
                <a:cubicBezTo>
                  <a:pt x="81002" y="82536"/>
                  <a:pt x="77907" y="85631"/>
                  <a:pt x="74059" y="85631"/>
                </a:cubicBezTo>
                <a:cubicBezTo>
                  <a:pt x="70212" y="85631"/>
                  <a:pt x="67116" y="82536"/>
                  <a:pt x="67116" y="78688"/>
                </a:cubicBezTo>
                <a:lnTo>
                  <a:pt x="67116" y="46287"/>
                </a:lnTo>
                <a:cubicBezTo>
                  <a:pt x="67116" y="42439"/>
                  <a:pt x="70212" y="39344"/>
                  <a:pt x="74059" y="39344"/>
                </a:cubicBezTo>
                <a:close/>
                <a:moveTo>
                  <a:pt x="66335" y="101831"/>
                </a:moveTo>
                <a:cubicBezTo>
                  <a:pt x="66159" y="98964"/>
                  <a:pt x="67589" y="96237"/>
                  <a:pt x="70047" y="94750"/>
                </a:cubicBezTo>
                <a:cubicBezTo>
                  <a:pt x="72505" y="93263"/>
                  <a:pt x="75585" y="93263"/>
                  <a:pt x="78043" y="94750"/>
                </a:cubicBezTo>
                <a:cubicBezTo>
                  <a:pt x="80500" y="96237"/>
                  <a:pt x="81930" y="98964"/>
                  <a:pt x="81754" y="101831"/>
                </a:cubicBezTo>
                <a:cubicBezTo>
                  <a:pt x="81930" y="104699"/>
                  <a:pt x="80500" y="107426"/>
                  <a:pt x="78043" y="108913"/>
                </a:cubicBezTo>
                <a:cubicBezTo>
                  <a:pt x="75585" y="110400"/>
                  <a:pt x="72505" y="110400"/>
                  <a:pt x="70047" y="108913"/>
                </a:cubicBezTo>
                <a:cubicBezTo>
                  <a:pt x="67589" y="107426"/>
                  <a:pt x="66159" y="104699"/>
                  <a:pt x="66335" y="101831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25" name="Text 23"/>
          <p:cNvSpPr/>
          <p:nvPr/>
        </p:nvSpPr>
        <p:spPr>
          <a:xfrm>
            <a:off x="823909" y="5508155"/>
            <a:ext cx="3934396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Detectors are </a:t>
            </a:r>
            <a:pPr>
              <a:lnSpc>
                <a:spcPct val="130000"/>
              </a:lnSpc>
            </a:pPr>
            <a:r>
              <a:rPr lang="en-US" sz="1166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likely to flag non-native English speakers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788714" y="1333066"/>
            <a:ext cx="5036027" cy="2443954"/>
          </a:xfrm>
          <a:custGeom>
            <a:avLst/>
            <a:gdLst/>
            <a:ahLst/>
            <a:cxnLst/>
            <a:rect l="l" t="t" r="r" b="b"/>
            <a:pathLst>
              <a:path w="5036027" h="2443954">
                <a:moveTo>
                  <a:pt x="37030" y="0"/>
                </a:moveTo>
                <a:lnTo>
                  <a:pt x="4961976" y="0"/>
                </a:lnTo>
                <a:cubicBezTo>
                  <a:pt x="5002873" y="0"/>
                  <a:pt x="5036027" y="33154"/>
                  <a:pt x="5036027" y="74052"/>
                </a:cubicBezTo>
                <a:lnTo>
                  <a:pt x="5036027" y="2369903"/>
                </a:lnTo>
                <a:cubicBezTo>
                  <a:pt x="5036027" y="2410773"/>
                  <a:pt x="5002846" y="2443954"/>
                  <a:pt x="4961976" y="2443954"/>
                </a:cubicBezTo>
                <a:lnTo>
                  <a:pt x="37030" y="2443954"/>
                </a:lnTo>
                <a:cubicBezTo>
                  <a:pt x="16579" y="2443954"/>
                  <a:pt x="0" y="2427376"/>
                  <a:pt x="0" y="2406925"/>
                </a:cubicBezTo>
                <a:lnTo>
                  <a:pt x="0" y="37030"/>
                </a:lnTo>
                <a:cubicBezTo>
                  <a:pt x="0" y="16592"/>
                  <a:pt x="16592" y="0"/>
                  <a:pt x="37030" y="0"/>
                </a:cubicBezTo>
                <a:close/>
              </a:path>
            </a:pathLst>
          </a:custGeom>
          <a:solidFill>
            <a:srgbClr val="2D5A3D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788714" y="1333066"/>
            <a:ext cx="37030" cy="2443954"/>
          </a:xfrm>
          <a:custGeom>
            <a:avLst/>
            <a:gdLst/>
            <a:ahLst/>
            <a:cxnLst/>
            <a:rect l="l" t="t" r="r" b="b"/>
            <a:pathLst>
              <a:path w="37030" h="2443954">
                <a:moveTo>
                  <a:pt x="37030" y="0"/>
                </a:moveTo>
                <a:lnTo>
                  <a:pt x="37030" y="0"/>
                </a:lnTo>
                <a:lnTo>
                  <a:pt x="37030" y="2443954"/>
                </a:lnTo>
                <a:lnTo>
                  <a:pt x="37030" y="2443954"/>
                </a:lnTo>
                <a:cubicBezTo>
                  <a:pt x="16579" y="2443954"/>
                  <a:pt x="0" y="2427376"/>
                  <a:pt x="0" y="2406925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28" name="Text 26"/>
          <p:cNvSpPr/>
          <p:nvPr/>
        </p:nvSpPr>
        <p:spPr>
          <a:xfrm>
            <a:off x="6992377" y="1518214"/>
            <a:ext cx="4730533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2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Consequences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92377" y="1888510"/>
            <a:ext cx="4721276" cy="481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</a:t>
            </a:r>
            <a:pPr>
              <a:lnSpc>
                <a:spcPct val="140000"/>
              </a:lnSpc>
            </a:pPr>
            <a:r>
              <a:rPr lang="en-US" sz="1166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 accusation of cheating</a:t>
            </a:r>
            <a:pPr>
              <a:lnSpc>
                <a:spcPct val="140000"/>
              </a:lnSpc>
            </a:pPr>
            <a:r>
              <a:rPr lang="en-US" sz="1166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 have disastrous consequences for students: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001634" y="2518014"/>
            <a:ext cx="166633" cy="148118"/>
          </a:xfrm>
          <a:custGeom>
            <a:avLst/>
            <a:gdLst/>
            <a:ahLst/>
            <a:cxnLst/>
            <a:rect l="l" t="t" r="r" b="b"/>
            <a:pathLst>
              <a:path w="166633" h="148118">
                <a:moveTo>
                  <a:pt x="13886" y="56644"/>
                </a:moveTo>
                <a:lnTo>
                  <a:pt x="74406" y="81552"/>
                </a:lnTo>
                <a:cubicBezTo>
                  <a:pt x="77241" y="82709"/>
                  <a:pt x="80250" y="83317"/>
                  <a:pt x="83317" y="83317"/>
                </a:cubicBezTo>
                <a:cubicBezTo>
                  <a:pt x="86383" y="83317"/>
                  <a:pt x="89392" y="82709"/>
                  <a:pt x="92227" y="81552"/>
                </a:cubicBezTo>
                <a:lnTo>
                  <a:pt x="162352" y="52680"/>
                </a:lnTo>
                <a:cubicBezTo>
                  <a:pt x="164955" y="51610"/>
                  <a:pt x="166633" y="49093"/>
                  <a:pt x="166633" y="46287"/>
                </a:cubicBezTo>
                <a:cubicBezTo>
                  <a:pt x="166633" y="43481"/>
                  <a:pt x="164955" y="40964"/>
                  <a:pt x="162352" y="39894"/>
                </a:cubicBezTo>
                <a:lnTo>
                  <a:pt x="92227" y="11022"/>
                </a:lnTo>
                <a:cubicBezTo>
                  <a:pt x="89392" y="9865"/>
                  <a:pt x="86383" y="9257"/>
                  <a:pt x="83317" y="9257"/>
                </a:cubicBezTo>
                <a:cubicBezTo>
                  <a:pt x="80250" y="9257"/>
                  <a:pt x="77241" y="9865"/>
                  <a:pt x="74406" y="11022"/>
                </a:cubicBezTo>
                <a:lnTo>
                  <a:pt x="4282" y="39894"/>
                </a:lnTo>
                <a:cubicBezTo>
                  <a:pt x="1678" y="40964"/>
                  <a:pt x="0" y="43481"/>
                  <a:pt x="0" y="46287"/>
                </a:cubicBezTo>
                <a:lnTo>
                  <a:pt x="0" y="131918"/>
                </a:lnTo>
                <a:cubicBezTo>
                  <a:pt x="0" y="135766"/>
                  <a:pt x="3095" y="138861"/>
                  <a:pt x="6943" y="138861"/>
                </a:cubicBezTo>
                <a:cubicBezTo>
                  <a:pt x="10791" y="138861"/>
                  <a:pt x="13886" y="135766"/>
                  <a:pt x="13886" y="131918"/>
                </a:cubicBezTo>
                <a:lnTo>
                  <a:pt x="13886" y="56644"/>
                </a:lnTo>
                <a:close/>
                <a:moveTo>
                  <a:pt x="27772" y="77386"/>
                </a:moveTo>
                <a:lnTo>
                  <a:pt x="27772" y="111089"/>
                </a:lnTo>
                <a:cubicBezTo>
                  <a:pt x="27772" y="126421"/>
                  <a:pt x="52651" y="138861"/>
                  <a:pt x="83317" y="138861"/>
                </a:cubicBezTo>
                <a:cubicBezTo>
                  <a:pt x="113982" y="138861"/>
                  <a:pt x="138861" y="126421"/>
                  <a:pt x="138861" y="111089"/>
                </a:cubicBezTo>
                <a:lnTo>
                  <a:pt x="138861" y="77357"/>
                </a:lnTo>
                <a:lnTo>
                  <a:pt x="97521" y="94397"/>
                </a:lnTo>
                <a:cubicBezTo>
                  <a:pt x="93008" y="96248"/>
                  <a:pt x="88206" y="97203"/>
                  <a:pt x="83317" y="97203"/>
                </a:cubicBezTo>
                <a:cubicBezTo>
                  <a:pt x="78428" y="97203"/>
                  <a:pt x="73625" y="96248"/>
                  <a:pt x="69112" y="94397"/>
                </a:cubicBezTo>
                <a:lnTo>
                  <a:pt x="27772" y="77357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31" name="Text 29"/>
          <p:cNvSpPr/>
          <p:nvPr/>
        </p:nvSpPr>
        <p:spPr>
          <a:xfrm>
            <a:off x="7251584" y="2480984"/>
            <a:ext cx="944255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Failing grades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001634" y="2814251"/>
            <a:ext cx="166633" cy="148118"/>
          </a:xfrm>
          <a:custGeom>
            <a:avLst/>
            <a:gdLst/>
            <a:ahLst/>
            <a:cxnLst/>
            <a:rect l="l" t="t" r="r" b="b"/>
            <a:pathLst>
              <a:path w="166633" h="148118">
                <a:moveTo>
                  <a:pt x="13886" y="56644"/>
                </a:moveTo>
                <a:lnTo>
                  <a:pt x="74406" y="81552"/>
                </a:lnTo>
                <a:cubicBezTo>
                  <a:pt x="77241" y="82709"/>
                  <a:pt x="80250" y="83317"/>
                  <a:pt x="83317" y="83317"/>
                </a:cubicBezTo>
                <a:cubicBezTo>
                  <a:pt x="86383" y="83317"/>
                  <a:pt x="89392" y="82709"/>
                  <a:pt x="92227" y="81552"/>
                </a:cubicBezTo>
                <a:lnTo>
                  <a:pt x="162352" y="52680"/>
                </a:lnTo>
                <a:cubicBezTo>
                  <a:pt x="164955" y="51610"/>
                  <a:pt x="166633" y="49093"/>
                  <a:pt x="166633" y="46287"/>
                </a:cubicBezTo>
                <a:cubicBezTo>
                  <a:pt x="166633" y="43481"/>
                  <a:pt x="164955" y="40964"/>
                  <a:pt x="162352" y="39894"/>
                </a:cubicBezTo>
                <a:lnTo>
                  <a:pt x="92227" y="11022"/>
                </a:lnTo>
                <a:cubicBezTo>
                  <a:pt x="89392" y="9865"/>
                  <a:pt x="86383" y="9257"/>
                  <a:pt x="83317" y="9257"/>
                </a:cubicBezTo>
                <a:cubicBezTo>
                  <a:pt x="80250" y="9257"/>
                  <a:pt x="77241" y="9865"/>
                  <a:pt x="74406" y="11022"/>
                </a:cubicBezTo>
                <a:lnTo>
                  <a:pt x="4282" y="39894"/>
                </a:lnTo>
                <a:cubicBezTo>
                  <a:pt x="1678" y="40964"/>
                  <a:pt x="0" y="43481"/>
                  <a:pt x="0" y="46287"/>
                </a:cubicBezTo>
                <a:lnTo>
                  <a:pt x="0" y="131918"/>
                </a:lnTo>
                <a:cubicBezTo>
                  <a:pt x="0" y="135766"/>
                  <a:pt x="3095" y="138861"/>
                  <a:pt x="6943" y="138861"/>
                </a:cubicBezTo>
                <a:cubicBezTo>
                  <a:pt x="10791" y="138861"/>
                  <a:pt x="13886" y="135766"/>
                  <a:pt x="13886" y="131918"/>
                </a:cubicBezTo>
                <a:lnTo>
                  <a:pt x="13886" y="56644"/>
                </a:lnTo>
                <a:close/>
                <a:moveTo>
                  <a:pt x="27772" y="77386"/>
                </a:moveTo>
                <a:lnTo>
                  <a:pt x="27772" y="111089"/>
                </a:lnTo>
                <a:cubicBezTo>
                  <a:pt x="27772" y="126421"/>
                  <a:pt x="52651" y="138861"/>
                  <a:pt x="83317" y="138861"/>
                </a:cubicBezTo>
                <a:cubicBezTo>
                  <a:pt x="113982" y="138861"/>
                  <a:pt x="138861" y="126421"/>
                  <a:pt x="138861" y="111089"/>
                </a:cubicBezTo>
                <a:lnTo>
                  <a:pt x="138861" y="77357"/>
                </a:lnTo>
                <a:lnTo>
                  <a:pt x="97521" y="94397"/>
                </a:lnTo>
                <a:cubicBezTo>
                  <a:pt x="93008" y="96248"/>
                  <a:pt x="88206" y="97203"/>
                  <a:pt x="83317" y="97203"/>
                </a:cubicBezTo>
                <a:cubicBezTo>
                  <a:pt x="78428" y="97203"/>
                  <a:pt x="73625" y="96248"/>
                  <a:pt x="69112" y="94397"/>
                </a:cubicBezTo>
                <a:lnTo>
                  <a:pt x="27772" y="77357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33" name="Text 31"/>
          <p:cNvSpPr/>
          <p:nvPr/>
        </p:nvSpPr>
        <p:spPr>
          <a:xfrm>
            <a:off x="7251584" y="2777221"/>
            <a:ext cx="1370096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probation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001634" y="3110487"/>
            <a:ext cx="166633" cy="148118"/>
          </a:xfrm>
          <a:custGeom>
            <a:avLst/>
            <a:gdLst/>
            <a:ahLst/>
            <a:cxnLst/>
            <a:rect l="l" t="t" r="r" b="b"/>
            <a:pathLst>
              <a:path w="166633" h="148118">
                <a:moveTo>
                  <a:pt x="13886" y="56644"/>
                </a:moveTo>
                <a:lnTo>
                  <a:pt x="74406" y="81552"/>
                </a:lnTo>
                <a:cubicBezTo>
                  <a:pt x="77241" y="82709"/>
                  <a:pt x="80250" y="83317"/>
                  <a:pt x="83317" y="83317"/>
                </a:cubicBezTo>
                <a:cubicBezTo>
                  <a:pt x="86383" y="83317"/>
                  <a:pt x="89392" y="82709"/>
                  <a:pt x="92227" y="81552"/>
                </a:cubicBezTo>
                <a:lnTo>
                  <a:pt x="162352" y="52680"/>
                </a:lnTo>
                <a:cubicBezTo>
                  <a:pt x="164955" y="51610"/>
                  <a:pt x="166633" y="49093"/>
                  <a:pt x="166633" y="46287"/>
                </a:cubicBezTo>
                <a:cubicBezTo>
                  <a:pt x="166633" y="43481"/>
                  <a:pt x="164955" y="40964"/>
                  <a:pt x="162352" y="39894"/>
                </a:cubicBezTo>
                <a:lnTo>
                  <a:pt x="92227" y="11022"/>
                </a:lnTo>
                <a:cubicBezTo>
                  <a:pt x="89392" y="9865"/>
                  <a:pt x="86383" y="9257"/>
                  <a:pt x="83317" y="9257"/>
                </a:cubicBezTo>
                <a:cubicBezTo>
                  <a:pt x="80250" y="9257"/>
                  <a:pt x="77241" y="9865"/>
                  <a:pt x="74406" y="11022"/>
                </a:cubicBezTo>
                <a:lnTo>
                  <a:pt x="4282" y="39894"/>
                </a:lnTo>
                <a:cubicBezTo>
                  <a:pt x="1678" y="40964"/>
                  <a:pt x="0" y="43481"/>
                  <a:pt x="0" y="46287"/>
                </a:cubicBezTo>
                <a:lnTo>
                  <a:pt x="0" y="131918"/>
                </a:lnTo>
                <a:cubicBezTo>
                  <a:pt x="0" y="135766"/>
                  <a:pt x="3095" y="138861"/>
                  <a:pt x="6943" y="138861"/>
                </a:cubicBezTo>
                <a:cubicBezTo>
                  <a:pt x="10791" y="138861"/>
                  <a:pt x="13886" y="135766"/>
                  <a:pt x="13886" y="131918"/>
                </a:cubicBezTo>
                <a:lnTo>
                  <a:pt x="13886" y="56644"/>
                </a:lnTo>
                <a:close/>
                <a:moveTo>
                  <a:pt x="27772" y="77386"/>
                </a:moveTo>
                <a:lnTo>
                  <a:pt x="27772" y="111089"/>
                </a:lnTo>
                <a:cubicBezTo>
                  <a:pt x="27772" y="126421"/>
                  <a:pt x="52651" y="138861"/>
                  <a:pt x="83317" y="138861"/>
                </a:cubicBezTo>
                <a:cubicBezTo>
                  <a:pt x="113982" y="138861"/>
                  <a:pt x="138861" y="126421"/>
                  <a:pt x="138861" y="111089"/>
                </a:cubicBezTo>
                <a:lnTo>
                  <a:pt x="138861" y="77357"/>
                </a:lnTo>
                <a:lnTo>
                  <a:pt x="97521" y="94397"/>
                </a:lnTo>
                <a:cubicBezTo>
                  <a:pt x="93008" y="96248"/>
                  <a:pt x="88206" y="97203"/>
                  <a:pt x="83317" y="97203"/>
                </a:cubicBezTo>
                <a:cubicBezTo>
                  <a:pt x="78428" y="97203"/>
                  <a:pt x="73625" y="96248"/>
                  <a:pt x="69112" y="94397"/>
                </a:cubicBezTo>
                <a:lnTo>
                  <a:pt x="27772" y="77357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35" name="Text 33"/>
          <p:cNvSpPr/>
          <p:nvPr/>
        </p:nvSpPr>
        <p:spPr>
          <a:xfrm>
            <a:off x="7251584" y="3073458"/>
            <a:ext cx="2036629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Damaged academic reputation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001634" y="3406724"/>
            <a:ext cx="166633" cy="148118"/>
          </a:xfrm>
          <a:custGeom>
            <a:avLst/>
            <a:gdLst/>
            <a:ahLst/>
            <a:cxnLst/>
            <a:rect l="l" t="t" r="r" b="b"/>
            <a:pathLst>
              <a:path w="166633" h="148118">
                <a:moveTo>
                  <a:pt x="13886" y="56644"/>
                </a:moveTo>
                <a:lnTo>
                  <a:pt x="74406" y="81552"/>
                </a:lnTo>
                <a:cubicBezTo>
                  <a:pt x="77241" y="82709"/>
                  <a:pt x="80250" y="83317"/>
                  <a:pt x="83317" y="83317"/>
                </a:cubicBezTo>
                <a:cubicBezTo>
                  <a:pt x="86383" y="83317"/>
                  <a:pt x="89392" y="82709"/>
                  <a:pt x="92227" y="81552"/>
                </a:cubicBezTo>
                <a:lnTo>
                  <a:pt x="162352" y="52680"/>
                </a:lnTo>
                <a:cubicBezTo>
                  <a:pt x="164955" y="51610"/>
                  <a:pt x="166633" y="49093"/>
                  <a:pt x="166633" y="46287"/>
                </a:cubicBezTo>
                <a:cubicBezTo>
                  <a:pt x="166633" y="43481"/>
                  <a:pt x="164955" y="40964"/>
                  <a:pt x="162352" y="39894"/>
                </a:cubicBezTo>
                <a:lnTo>
                  <a:pt x="92227" y="11022"/>
                </a:lnTo>
                <a:cubicBezTo>
                  <a:pt x="89392" y="9865"/>
                  <a:pt x="86383" y="9257"/>
                  <a:pt x="83317" y="9257"/>
                </a:cubicBezTo>
                <a:cubicBezTo>
                  <a:pt x="80250" y="9257"/>
                  <a:pt x="77241" y="9865"/>
                  <a:pt x="74406" y="11022"/>
                </a:cubicBezTo>
                <a:lnTo>
                  <a:pt x="4282" y="39894"/>
                </a:lnTo>
                <a:cubicBezTo>
                  <a:pt x="1678" y="40964"/>
                  <a:pt x="0" y="43481"/>
                  <a:pt x="0" y="46287"/>
                </a:cubicBezTo>
                <a:lnTo>
                  <a:pt x="0" y="131918"/>
                </a:lnTo>
                <a:cubicBezTo>
                  <a:pt x="0" y="135766"/>
                  <a:pt x="3095" y="138861"/>
                  <a:pt x="6943" y="138861"/>
                </a:cubicBezTo>
                <a:cubicBezTo>
                  <a:pt x="10791" y="138861"/>
                  <a:pt x="13886" y="135766"/>
                  <a:pt x="13886" y="131918"/>
                </a:cubicBezTo>
                <a:lnTo>
                  <a:pt x="13886" y="56644"/>
                </a:lnTo>
                <a:close/>
                <a:moveTo>
                  <a:pt x="27772" y="77386"/>
                </a:moveTo>
                <a:lnTo>
                  <a:pt x="27772" y="111089"/>
                </a:lnTo>
                <a:cubicBezTo>
                  <a:pt x="27772" y="126421"/>
                  <a:pt x="52651" y="138861"/>
                  <a:pt x="83317" y="138861"/>
                </a:cubicBezTo>
                <a:cubicBezTo>
                  <a:pt x="113982" y="138861"/>
                  <a:pt x="138861" y="126421"/>
                  <a:pt x="138861" y="111089"/>
                </a:cubicBezTo>
                <a:lnTo>
                  <a:pt x="138861" y="77357"/>
                </a:lnTo>
                <a:lnTo>
                  <a:pt x="97521" y="94397"/>
                </a:lnTo>
                <a:cubicBezTo>
                  <a:pt x="93008" y="96248"/>
                  <a:pt x="88206" y="97203"/>
                  <a:pt x="83317" y="97203"/>
                </a:cubicBezTo>
                <a:cubicBezTo>
                  <a:pt x="78428" y="97203"/>
                  <a:pt x="73625" y="96248"/>
                  <a:pt x="69112" y="94397"/>
                </a:cubicBezTo>
                <a:lnTo>
                  <a:pt x="27772" y="77357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37" name="Text 35"/>
          <p:cNvSpPr/>
          <p:nvPr/>
        </p:nvSpPr>
        <p:spPr>
          <a:xfrm>
            <a:off x="7251584" y="3369695"/>
            <a:ext cx="1240492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Emotional distress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774828" y="3929768"/>
            <a:ext cx="5045285" cy="1527472"/>
          </a:xfrm>
          <a:custGeom>
            <a:avLst/>
            <a:gdLst/>
            <a:ahLst/>
            <a:cxnLst/>
            <a:rect l="l" t="t" r="r" b="b"/>
            <a:pathLst>
              <a:path w="5045285" h="1527472">
                <a:moveTo>
                  <a:pt x="74052" y="0"/>
                </a:moveTo>
                <a:lnTo>
                  <a:pt x="4971233" y="0"/>
                </a:lnTo>
                <a:cubicBezTo>
                  <a:pt x="5012131" y="0"/>
                  <a:pt x="5045285" y="33154"/>
                  <a:pt x="5045285" y="74052"/>
                </a:cubicBezTo>
                <a:lnTo>
                  <a:pt x="5045285" y="1453420"/>
                </a:lnTo>
                <a:cubicBezTo>
                  <a:pt x="5045285" y="1494317"/>
                  <a:pt x="5012131" y="1527472"/>
                  <a:pt x="4971233" y="1527472"/>
                </a:cubicBezTo>
                <a:lnTo>
                  <a:pt x="74052" y="1527472"/>
                </a:lnTo>
                <a:cubicBezTo>
                  <a:pt x="33182" y="1527472"/>
                  <a:pt x="0" y="1494290"/>
                  <a:pt x="0" y="1453420"/>
                </a:cubicBezTo>
                <a:lnTo>
                  <a:pt x="0" y="74052"/>
                </a:lnTo>
                <a:cubicBezTo>
                  <a:pt x="0" y="33182"/>
                  <a:pt x="33182" y="0"/>
                  <a:pt x="74052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98163" y="4165831"/>
            <a:ext cx="145804" cy="166633"/>
          </a:xfrm>
          <a:custGeom>
            <a:avLst/>
            <a:gdLst/>
            <a:ahLst/>
            <a:cxnLst/>
            <a:rect l="l" t="t" r="r" b="b"/>
            <a:pathLst>
              <a:path w="145804" h="166633">
                <a:moveTo>
                  <a:pt x="0" y="70298"/>
                </a:moveTo>
                <a:cubicBezTo>
                  <a:pt x="0" y="48721"/>
                  <a:pt x="17477" y="31244"/>
                  <a:pt x="39055" y="31244"/>
                </a:cubicBezTo>
                <a:lnTo>
                  <a:pt x="41658" y="31244"/>
                </a:lnTo>
                <a:cubicBezTo>
                  <a:pt x="47419" y="31244"/>
                  <a:pt x="52073" y="35898"/>
                  <a:pt x="52073" y="41658"/>
                </a:cubicBezTo>
                <a:cubicBezTo>
                  <a:pt x="52073" y="47419"/>
                  <a:pt x="47419" y="52073"/>
                  <a:pt x="41658" y="52073"/>
                </a:cubicBezTo>
                <a:lnTo>
                  <a:pt x="39055" y="52073"/>
                </a:lnTo>
                <a:cubicBezTo>
                  <a:pt x="28998" y="52073"/>
                  <a:pt x="20829" y="60242"/>
                  <a:pt x="20829" y="70298"/>
                </a:cubicBezTo>
                <a:lnTo>
                  <a:pt x="20829" y="72902"/>
                </a:lnTo>
                <a:lnTo>
                  <a:pt x="41658" y="72902"/>
                </a:lnTo>
                <a:cubicBezTo>
                  <a:pt x="53147" y="72902"/>
                  <a:pt x="62487" y="82243"/>
                  <a:pt x="62487" y="93731"/>
                </a:cubicBezTo>
                <a:lnTo>
                  <a:pt x="62487" y="114560"/>
                </a:lnTo>
                <a:cubicBezTo>
                  <a:pt x="62487" y="126049"/>
                  <a:pt x="53147" y="135390"/>
                  <a:pt x="41658" y="135390"/>
                </a:cubicBezTo>
                <a:lnTo>
                  <a:pt x="20829" y="135390"/>
                </a:lnTo>
                <a:cubicBezTo>
                  <a:pt x="9341" y="135390"/>
                  <a:pt x="0" y="126049"/>
                  <a:pt x="0" y="114560"/>
                </a:cubicBezTo>
                <a:lnTo>
                  <a:pt x="0" y="70298"/>
                </a:lnTo>
                <a:close/>
                <a:moveTo>
                  <a:pt x="83317" y="70298"/>
                </a:moveTo>
                <a:cubicBezTo>
                  <a:pt x="83317" y="48721"/>
                  <a:pt x="100794" y="31244"/>
                  <a:pt x="122371" y="31244"/>
                </a:cubicBezTo>
                <a:lnTo>
                  <a:pt x="124975" y="31244"/>
                </a:lnTo>
                <a:cubicBezTo>
                  <a:pt x="130736" y="31244"/>
                  <a:pt x="135390" y="35898"/>
                  <a:pt x="135390" y="41658"/>
                </a:cubicBezTo>
                <a:cubicBezTo>
                  <a:pt x="135390" y="47419"/>
                  <a:pt x="130736" y="52073"/>
                  <a:pt x="124975" y="52073"/>
                </a:cubicBezTo>
                <a:lnTo>
                  <a:pt x="122371" y="52073"/>
                </a:lnTo>
                <a:cubicBezTo>
                  <a:pt x="112315" y="52073"/>
                  <a:pt x="104146" y="60242"/>
                  <a:pt x="104146" y="70298"/>
                </a:cubicBezTo>
                <a:lnTo>
                  <a:pt x="104146" y="72902"/>
                </a:lnTo>
                <a:lnTo>
                  <a:pt x="124975" y="72902"/>
                </a:lnTo>
                <a:cubicBezTo>
                  <a:pt x="136464" y="72902"/>
                  <a:pt x="145804" y="82243"/>
                  <a:pt x="145804" y="93731"/>
                </a:cubicBezTo>
                <a:lnTo>
                  <a:pt x="145804" y="114560"/>
                </a:lnTo>
                <a:cubicBezTo>
                  <a:pt x="145804" y="126049"/>
                  <a:pt x="136464" y="135390"/>
                  <a:pt x="124975" y="135390"/>
                </a:cubicBezTo>
                <a:lnTo>
                  <a:pt x="104146" y="135390"/>
                </a:lnTo>
                <a:cubicBezTo>
                  <a:pt x="92657" y="135390"/>
                  <a:pt x="83317" y="126049"/>
                  <a:pt x="83317" y="114560"/>
                </a:cubicBezTo>
                <a:lnTo>
                  <a:pt x="83317" y="70298"/>
                </a:ln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40" name="Text 38"/>
          <p:cNvSpPr/>
          <p:nvPr/>
        </p:nvSpPr>
        <p:spPr>
          <a:xfrm>
            <a:off x="7231509" y="4119544"/>
            <a:ext cx="4482144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2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Expert Perspective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983120" y="4489841"/>
            <a:ext cx="37030" cy="481385"/>
          </a:xfrm>
          <a:custGeom>
            <a:avLst/>
            <a:gdLst/>
            <a:ahLst/>
            <a:cxnLst/>
            <a:rect l="l" t="t" r="r" b="b"/>
            <a:pathLst>
              <a:path w="37030" h="481385">
                <a:moveTo>
                  <a:pt x="0" y="0"/>
                </a:moveTo>
                <a:lnTo>
                  <a:pt x="37030" y="0"/>
                </a:lnTo>
                <a:lnTo>
                  <a:pt x="37030" y="481385"/>
                </a:lnTo>
                <a:lnTo>
                  <a:pt x="0" y="481385"/>
                </a:lnTo>
                <a:lnTo>
                  <a:pt x="0" y="0"/>
                </a:ln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42" name="Text 40"/>
          <p:cNvSpPr/>
          <p:nvPr/>
        </p:nvSpPr>
        <p:spPr>
          <a:xfrm>
            <a:off x="6964605" y="4489841"/>
            <a:ext cx="4702761" cy="481385"/>
          </a:xfrm>
          <a:prstGeom prst="rect">
            <a:avLst/>
          </a:prstGeom>
          <a:noFill/>
          <a:ln/>
        </p:spPr>
        <p:txBody>
          <a:bodyPr wrap="square" lIns="148118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"We cannot mitigate the risk of false positives completely given the nature of AI writing and analysis."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99803" y="5082314"/>
            <a:ext cx="4730533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21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Annie Chechitelli, Chief Product Officer, Turnitin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770199" y="5609986"/>
            <a:ext cx="5054542" cy="777622"/>
          </a:xfrm>
          <a:custGeom>
            <a:avLst/>
            <a:gdLst/>
            <a:ahLst/>
            <a:cxnLst/>
            <a:rect l="l" t="t" r="r" b="b"/>
            <a:pathLst>
              <a:path w="5054542" h="777622">
                <a:moveTo>
                  <a:pt x="74061" y="0"/>
                </a:moveTo>
                <a:lnTo>
                  <a:pt x="4980481" y="0"/>
                </a:lnTo>
                <a:cubicBezTo>
                  <a:pt x="5021384" y="0"/>
                  <a:pt x="5054542" y="33158"/>
                  <a:pt x="5054542" y="74061"/>
                </a:cubicBezTo>
                <a:lnTo>
                  <a:pt x="5054542" y="703561"/>
                </a:lnTo>
                <a:cubicBezTo>
                  <a:pt x="5054542" y="744464"/>
                  <a:pt x="5021384" y="777622"/>
                  <a:pt x="4980481" y="777622"/>
                </a:cubicBezTo>
                <a:lnTo>
                  <a:pt x="74061" y="777622"/>
                </a:lnTo>
                <a:cubicBezTo>
                  <a:pt x="33185" y="777622"/>
                  <a:pt x="0" y="744436"/>
                  <a:pt x="0" y="703561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8B7355">
              <a:alpha val="1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918318" y="5758105"/>
            <a:ext cx="4832364" cy="481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Bottom Line:</a:t>
            </a:r>
            <a:pPr>
              <a:lnSpc>
                <a:spcPct val="140000"/>
              </a:lnSpc>
            </a:pPr>
            <a:r>
              <a:rPr lang="en-US" sz="1166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Detection tools are helpful but </a:t>
            </a:r>
            <a:pPr>
              <a:lnSpc>
                <a:spcPct val="140000"/>
              </a:lnSpc>
            </a:pPr>
            <a:r>
              <a:rPr lang="en-US" sz="1166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infallible</a:t>
            </a:r>
            <a:pPr>
              <a:lnSpc>
                <a:spcPct val="140000"/>
              </a:lnSpc>
            </a:pPr>
            <a:r>
              <a:rPr lang="en-US" sz="1166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They should be used as support tools, not definitive proof.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74925" y="6540355"/>
            <a:ext cx="2166232" cy="314752"/>
          </a:xfrm>
          <a:custGeom>
            <a:avLst/>
            <a:gdLst/>
            <a:ahLst/>
            <a:cxnLst/>
            <a:rect l="l" t="t" r="r" b="b"/>
            <a:pathLst>
              <a:path w="2166232" h="314752">
                <a:moveTo>
                  <a:pt x="0" y="0"/>
                </a:moveTo>
                <a:lnTo>
                  <a:pt x="2166232" y="0"/>
                </a:lnTo>
                <a:lnTo>
                  <a:pt x="2166232" y="314752"/>
                </a:lnTo>
                <a:lnTo>
                  <a:pt x="0" y="314752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90196"/>
            </a:srgbClr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0296" y="6535727"/>
            <a:ext cx="2212519" cy="305494"/>
          </a:xfrm>
          <a:prstGeom prst="rect">
            <a:avLst/>
          </a:prstGeom>
          <a:noFill/>
          <a:ln/>
        </p:spPr>
        <p:txBody>
          <a:bodyPr wrap="square" lIns="111089" tIns="74059" rIns="111089" bIns="74059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Accuracy • Research Evidence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991147" y="6605808"/>
            <a:ext cx="4897166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Sources: Turnitin Blog 2023, University of Maryland AI Research Lab, NPR Investigation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646" y="359646"/>
            <a:ext cx="11535646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spc="99" kern="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Reframing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9646" y="611398"/>
            <a:ext cx="11634549" cy="359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49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'Removing AI Detection' Is the Wrong Question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9646" y="1078938"/>
            <a:ext cx="719292" cy="35965"/>
          </a:xfrm>
          <a:custGeom>
            <a:avLst/>
            <a:gdLst/>
            <a:ahLst/>
            <a:cxnLst/>
            <a:rect l="l" t="t" r="r" b="b"/>
            <a:pathLst>
              <a:path w="719292" h="35965">
                <a:moveTo>
                  <a:pt x="0" y="0"/>
                </a:moveTo>
                <a:lnTo>
                  <a:pt x="719292" y="0"/>
                </a:lnTo>
                <a:lnTo>
                  <a:pt x="719292" y="35965"/>
                </a:lnTo>
                <a:lnTo>
                  <a:pt x="0" y="35965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" name="Shape 3"/>
          <p:cNvSpPr/>
          <p:nvPr/>
        </p:nvSpPr>
        <p:spPr>
          <a:xfrm>
            <a:off x="377628" y="1294726"/>
            <a:ext cx="5610478" cy="2481558"/>
          </a:xfrm>
          <a:custGeom>
            <a:avLst/>
            <a:gdLst/>
            <a:ahLst/>
            <a:cxnLst/>
            <a:rect l="l" t="t" r="r" b="b"/>
            <a:pathLst>
              <a:path w="5610478" h="2481558">
                <a:moveTo>
                  <a:pt x="35965" y="0"/>
                </a:moveTo>
                <a:lnTo>
                  <a:pt x="5538538" y="0"/>
                </a:lnTo>
                <a:cubicBezTo>
                  <a:pt x="5578269" y="0"/>
                  <a:pt x="5610478" y="32209"/>
                  <a:pt x="5610478" y="71940"/>
                </a:cubicBezTo>
                <a:lnTo>
                  <a:pt x="5610478" y="2409617"/>
                </a:lnTo>
                <a:cubicBezTo>
                  <a:pt x="5610478" y="2449349"/>
                  <a:pt x="5578269" y="2481558"/>
                  <a:pt x="5538538" y="2481558"/>
                </a:cubicBezTo>
                <a:lnTo>
                  <a:pt x="35965" y="2481558"/>
                </a:lnTo>
                <a:cubicBezTo>
                  <a:pt x="16102" y="2481558"/>
                  <a:pt x="0" y="2465456"/>
                  <a:pt x="0" y="2445593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8B7355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77628" y="1294726"/>
            <a:ext cx="35965" cy="2481558"/>
          </a:xfrm>
          <a:custGeom>
            <a:avLst/>
            <a:gdLst/>
            <a:ahLst/>
            <a:cxnLst/>
            <a:rect l="l" t="t" r="r" b="b"/>
            <a:pathLst>
              <a:path w="35965" h="2481558">
                <a:moveTo>
                  <a:pt x="35965" y="0"/>
                </a:moveTo>
                <a:lnTo>
                  <a:pt x="35965" y="0"/>
                </a:lnTo>
                <a:lnTo>
                  <a:pt x="35965" y="2481558"/>
                </a:lnTo>
                <a:lnTo>
                  <a:pt x="35965" y="2481558"/>
                </a:lnTo>
                <a:cubicBezTo>
                  <a:pt x="16102" y="2481558"/>
                  <a:pt x="0" y="2465456"/>
                  <a:pt x="0" y="2445593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7" name="Shape 5"/>
          <p:cNvSpPr/>
          <p:nvPr/>
        </p:nvSpPr>
        <p:spPr>
          <a:xfrm>
            <a:off x="638372" y="1546478"/>
            <a:ext cx="215788" cy="215788"/>
          </a:xfrm>
          <a:custGeom>
            <a:avLst/>
            <a:gdLst/>
            <a:ahLst/>
            <a:cxnLst/>
            <a:rect l="l" t="t" r="r" b="b"/>
            <a:pathLst>
              <a:path w="215788" h="215788">
                <a:moveTo>
                  <a:pt x="107894" y="215788"/>
                </a:moveTo>
                <a:cubicBezTo>
                  <a:pt x="167442" y="215788"/>
                  <a:pt x="215788" y="167442"/>
                  <a:pt x="215788" y="107894"/>
                </a:cubicBezTo>
                <a:cubicBezTo>
                  <a:pt x="215788" y="48346"/>
                  <a:pt x="167442" y="0"/>
                  <a:pt x="107894" y="0"/>
                </a:cubicBezTo>
                <a:cubicBezTo>
                  <a:pt x="48346" y="0"/>
                  <a:pt x="0" y="48346"/>
                  <a:pt x="0" y="107894"/>
                </a:cubicBezTo>
                <a:cubicBezTo>
                  <a:pt x="0" y="167442"/>
                  <a:pt x="48346" y="215788"/>
                  <a:pt x="107894" y="215788"/>
                </a:cubicBezTo>
                <a:close/>
                <a:moveTo>
                  <a:pt x="70384" y="70384"/>
                </a:moveTo>
                <a:cubicBezTo>
                  <a:pt x="74346" y="66422"/>
                  <a:pt x="80752" y="66422"/>
                  <a:pt x="84671" y="70384"/>
                </a:cubicBezTo>
                <a:lnTo>
                  <a:pt x="107852" y="93564"/>
                </a:lnTo>
                <a:lnTo>
                  <a:pt x="131032" y="70384"/>
                </a:lnTo>
                <a:cubicBezTo>
                  <a:pt x="134994" y="66422"/>
                  <a:pt x="141400" y="66422"/>
                  <a:pt x="145319" y="70384"/>
                </a:cubicBezTo>
                <a:cubicBezTo>
                  <a:pt x="149239" y="74346"/>
                  <a:pt x="149281" y="80752"/>
                  <a:pt x="145319" y="84671"/>
                </a:cubicBezTo>
                <a:lnTo>
                  <a:pt x="122139" y="107852"/>
                </a:lnTo>
                <a:lnTo>
                  <a:pt x="145319" y="131032"/>
                </a:lnTo>
                <a:cubicBezTo>
                  <a:pt x="149281" y="134994"/>
                  <a:pt x="149281" y="141400"/>
                  <a:pt x="145319" y="145319"/>
                </a:cubicBezTo>
                <a:cubicBezTo>
                  <a:pt x="141358" y="149239"/>
                  <a:pt x="134952" y="149281"/>
                  <a:pt x="131032" y="145319"/>
                </a:cubicBezTo>
                <a:lnTo>
                  <a:pt x="107852" y="122139"/>
                </a:lnTo>
                <a:lnTo>
                  <a:pt x="84671" y="145319"/>
                </a:lnTo>
                <a:cubicBezTo>
                  <a:pt x="80710" y="149281"/>
                  <a:pt x="74303" y="149281"/>
                  <a:pt x="70384" y="145319"/>
                </a:cubicBezTo>
                <a:cubicBezTo>
                  <a:pt x="66464" y="141358"/>
                  <a:pt x="66422" y="134952"/>
                  <a:pt x="70384" y="131032"/>
                </a:cubicBezTo>
                <a:lnTo>
                  <a:pt x="93564" y="107852"/>
                </a:lnTo>
                <a:lnTo>
                  <a:pt x="70384" y="84671"/>
                </a:lnTo>
                <a:cubicBezTo>
                  <a:pt x="66422" y="80710"/>
                  <a:pt x="66422" y="74303"/>
                  <a:pt x="70384" y="70384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8" name="Text 6"/>
          <p:cNvSpPr/>
          <p:nvPr/>
        </p:nvSpPr>
        <p:spPr>
          <a:xfrm>
            <a:off x="932056" y="1510513"/>
            <a:ext cx="4948156" cy="287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9" b="1" dirty="0">
                <a:solidFill>
                  <a:srgbClr val="8B73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Wrong Approach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3876" y="1996035"/>
            <a:ext cx="161841" cy="161841"/>
          </a:xfrm>
          <a:custGeom>
            <a:avLst/>
            <a:gdLst/>
            <a:ahLst/>
            <a:cxnLst/>
            <a:rect l="l" t="t" r="r" b="b"/>
            <a:pathLst>
              <a:path w="161841" h="161841">
                <a:moveTo>
                  <a:pt x="116070" y="130389"/>
                </a:moveTo>
                <a:lnTo>
                  <a:pt x="31451" y="45771"/>
                </a:lnTo>
                <a:cubicBezTo>
                  <a:pt x="24371" y="55696"/>
                  <a:pt x="20230" y="67834"/>
                  <a:pt x="20230" y="80920"/>
                </a:cubicBezTo>
                <a:cubicBezTo>
                  <a:pt x="20230" y="114426"/>
                  <a:pt x="47414" y="141611"/>
                  <a:pt x="80920" y="141611"/>
                </a:cubicBezTo>
                <a:cubicBezTo>
                  <a:pt x="94038" y="141611"/>
                  <a:pt x="106176" y="137470"/>
                  <a:pt x="116070" y="130389"/>
                </a:cubicBezTo>
                <a:close/>
                <a:moveTo>
                  <a:pt x="130389" y="116070"/>
                </a:moveTo>
                <a:cubicBezTo>
                  <a:pt x="137470" y="106145"/>
                  <a:pt x="141611" y="94007"/>
                  <a:pt x="141611" y="80920"/>
                </a:cubicBezTo>
                <a:cubicBezTo>
                  <a:pt x="141611" y="47414"/>
                  <a:pt x="114426" y="20230"/>
                  <a:pt x="80920" y="20230"/>
                </a:cubicBezTo>
                <a:cubicBezTo>
                  <a:pt x="67802" y="20230"/>
                  <a:pt x="55664" y="24371"/>
                  <a:pt x="45771" y="31451"/>
                </a:cubicBezTo>
                <a:lnTo>
                  <a:pt x="130389" y="116070"/>
                </a:lnTo>
                <a:close/>
                <a:moveTo>
                  <a:pt x="0" y="80920"/>
                </a:moveTo>
                <a:cubicBezTo>
                  <a:pt x="0" y="36259"/>
                  <a:pt x="36259" y="0"/>
                  <a:pt x="80920" y="0"/>
                </a:cubicBezTo>
                <a:cubicBezTo>
                  <a:pt x="125582" y="0"/>
                  <a:pt x="161841" y="36259"/>
                  <a:pt x="161841" y="80920"/>
                </a:cubicBezTo>
                <a:cubicBezTo>
                  <a:pt x="161841" y="125582"/>
                  <a:pt x="125582" y="161841"/>
                  <a:pt x="80920" y="161841"/>
                </a:cubicBezTo>
                <a:cubicBezTo>
                  <a:pt x="36259" y="161841"/>
                  <a:pt x="0" y="125582"/>
                  <a:pt x="0" y="80920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10" name="Text 8"/>
          <p:cNvSpPr/>
          <p:nvPr/>
        </p:nvSpPr>
        <p:spPr>
          <a:xfrm>
            <a:off x="921593" y="1942088"/>
            <a:ext cx="2904142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Trying to "hide" or "remove" AI detection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3876" y="2391646"/>
            <a:ext cx="161841" cy="161841"/>
          </a:xfrm>
          <a:custGeom>
            <a:avLst/>
            <a:gdLst/>
            <a:ahLst/>
            <a:cxnLst/>
            <a:rect l="l" t="t" r="r" b="b"/>
            <a:pathLst>
              <a:path w="161841" h="161841">
                <a:moveTo>
                  <a:pt x="116070" y="130389"/>
                </a:moveTo>
                <a:lnTo>
                  <a:pt x="31451" y="45771"/>
                </a:lnTo>
                <a:cubicBezTo>
                  <a:pt x="24371" y="55696"/>
                  <a:pt x="20230" y="67834"/>
                  <a:pt x="20230" y="80920"/>
                </a:cubicBezTo>
                <a:cubicBezTo>
                  <a:pt x="20230" y="114426"/>
                  <a:pt x="47414" y="141611"/>
                  <a:pt x="80920" y="141611"/>
                </a:cubicBezTo>
                <a:cubicBezTo>
                  <a:pt x="94038" y="141611"/>
                  <a:pt x="106176" y="137470"/>
                  <a:pt x="116070" y="130389"/>
                </a:cubicBezTo>
                <a:close/>
                <a:moveTo>
                  <a:pt x="130389" y="116070"/>
                </a:moveTo>
                <a:cubicBezTo>
                  <a:pt x="137470" y="106145"/>
                  <a:pt x="141611" y="94007"/>
                  <a:pt x="141611" y="80920"/>
                </a:cubicBezTo>
                <a:cubicBezTo>
                  <a:pt x="141611" y="47414"/>
                  <a:pt x="114426" y="20230"/>
                  <a:pt x="80920" y="20230"/>
                </a:cubicBezTo>
                <a:cubicBezTo>
                  <a:pt x="67802" y="20230"/>
                  <a:pt x="55664" y="24371"/>
                  <a:pt x="45771" y="31451"/>
                </a:cubicBezTo>
                <a:lnTo>
                  <a:pt x="130389" y="116070"/>
                </a:lnTo>
                <a:close/>
                <a:moveTo>
                  <a:pt x="0" y="80920"/>
                </a:moveTo>
                <a:cubicBezTo>
                  <a:pt x="0" y="36259"/>
                  <a:pt x="36259" y="0"/>
                  <a:pt x="80920" y="0"/>
                </a:cubicBezTo>
                <a:cubicBezTo>
                  <a:pt x="125582" y="0"/>
                  <a:pt x="161841" y="36259"/>
                  <a:pt x="161841" y="80920"/>
                </a:cubicBezTo>
                <a:cubicBezTo>
                  <a:pt x="161841" y="125582"/>
                  <a:pt x="125582" y="161841"/>
                  <a:pt x="80920" y="161841"/>
                </a:cubicBezTo>
                <a:cubicBezTo>
                  <a:pt x="36259" y="161841"/>
                  <a:pt x="0" y="125582"/>
                  <a:pt x="0" y="80920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12" name="Text 10"/>
          <p:cNvSpPr/>
          <p:nvPr/>
        </p:nvSpPr>
        <p:spPr>
          <a:xfrm>
            <a:off x="921593" y="2337699"/>
            <a:ext cx="3012035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"humanizer" tools to disguise AI text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3876" y="2787257"/>
            <a:ext cx="161841" cy="161841"/>
          </a:xfrm>
          <a:custGeom>
            <a:avLst/>
            <a:gdLst/>
            <a:ahLst/>
            <a:cxnLst/>
            <a:rect l="l" t="t" r="r" b="b"/>
            <a:pathLst>
              <a:path w="161841" h="161841">
                <a:moveTo>
                  <a:pt x="116070" y="130389"/>
                </a:moveTo>
                <a:lnTo>
                  <a:pt x="31451" y="45771"/>
                </a:lnTo>
                <a:cubicBezTo>
                  <a:pt x="24371" y="55696"/>
                  <a:pt x="20230" y="67834"/>
                  <a:pt x="20230" y="80920"/>
                </a:cubicBezTo>
                <a:cubicBezTo>
                  <a:pt x="20230" y="114426"/>
                  <a:pt x="47414" y="141611"/>
                  <a:pt x="80920" y="141611"/>
                </a:cubicBezTo>
                <a:cubicBezTo>
                  <a:pt x="94038" y="141611"/>
                  <a:pt x="106176" y="137470"/>
                  <a:pt x="116070" y="130389"/>
                </a:cubicBezTo>
                <a:close/>
                <a:moveTo>
                  <a:pt x="130389" y="116070"/>
                </a:moveTo>
                <a:cubicBezTo>
                  <a:pt x="137470" y="106145"/>
                  <a:pt x="141611" y="94007"/>
                  <a:pt x="141611" y="80920"/>
                </a:cubicBezTo>
                <a:cubicBezTo>
                  <a:pt x="141611" y="47414"/>
                  <a:pt x="114426" y="20230"/>
                  <a:pt x="80920" y="20230"/>
                </a:cubicBezTo>
                <a:cubicBezTo>
                  <a:pt x="67802" y="20230"/>
                  <a:pt x="55664" y="24371"/>
                  <a:pt x="45771" y="31451"/>
                </a:cubicBezTo>
                <a:lnTo>
                  <a:pt x="130389" y="116070"/>
                </a:lnTo>
                <a:close/>
                <a:moveTo>
                  <a:pt x="0" y="80920"/>
                </a:moveTo>
                <a:cubicBezTo>
                  <a:pt x="0" y="36259"/>
                  <a:pt x="36259" y="0"/>
                  <a:pt x="80920" y="0"/>
                </a:cubicBezTo>
                <a:cubicBezTo>
                  <a:pt x="125582" y="0"/>
                  <a:pt x="161841" y="36259"/>
                  <a:pt x="161841" y="80920"/>
                </a:cubicBezTo>
                <a:cubicBezTo>
                  <a:pt x="161841" y="125582"/>
                  <a:pt x="125582" y="161841"/>
                  <a:pt x="80920" y="161841"/>
                </a:cubicBezTo>
                <a:cubicBezTo>
                  <a:pt x="36259" y="161841"/>
                  <a:pt x="0" y="125582"/>
                  <a:pt x="0" y="80920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14" name="Text 12"/>
          <p:cNvSpPr/>
          <p:nvPr/>
        </p:nvSpPr>
        <p:spPr>
          <a:xfrm>
            <a:off x="921593" y="2733310"/>
            <a:ext cx="3110938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Submitting AI-generated work as your own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3876" y="3182867"/>
            <a:ext cx="161841" cy="161841"/>
          </a:xfrm>
          <a:custGeom>
            <a:avLst/>
            <a:gdLst/>
            <a:ahLst/>
            <a:cxnLst/>
            <a:rect l="l" t="t" r="r" b="b"/>
            <a:pathLst>
              <a:path w="161841" h="161841">
                <a:moveTo>
                  <a:pt x="116070" y="130389"/>
                </a:moveTo>
                <a:lnTo>
                  <a:pt x="31451" y="45771"/>
                </a:lnTo>
                <a:cubicBezTo>
                  <a:pt x="24371" y="55696"/>
                  <a:pt x="20230" y="67834"/>
                  <a:pt x="20230" y="80920"/>
                </a:cubicBezTo>
                <a:cubicBezTo>
                  <a:pt x="20230" y="114426"/>
                  <a:pt x="47414" y="141611"/>
                  <a:pt x="80920" y="141611"/>
                </a:cubicBezTo>
                <a:cubicBezTo>
                  <a:pt x="94038" y="141611"/>
                  <a:pt x="106176" y="137470"/>
                  <a:pt x="116070" y="130389"/>
                </a:cubicBezTo>
                <a:close/>
                <a:moveTo>
                  <a:pt x="130389" y="116070"/>
                </a:moveTo>
                <a:cubicBezTo>
                  <a:pt x="137470" y="106145"/>
                  <a:pt x="141611" y="94007"/>
                  <a:pt x="141611" y="80920"/>
                </a:cubicBezTo>
                <a:cubicBezTo>
                  <a:pt x="141611" y="47414"/>
                  <a:pt x="114426" y="20230"/>
                  <a:pt x="80920" y="20230"/>
                </a:cubicBezTo>
                <a:cubicBezTo>
                  <a:pt x="67802" y="20230"/>
                  <a:pt x="55664" y="24371"/>
                  <a:pt x="45771" y="31451"/>
                </a:cubicBezTo>
                <a:lnTo>
                  <a:pt x="130389" y="116070"/>
                </a:lnTo>
                <a:close/>
                <a:moveTo>
                  <a:pt x="0" y="80920"/>
                </a:moveTo>
                <a:cubicBezTo>
                  <a:pt x="0" y="36259"/>
                  <a:pt x="36259" y="0"/>
                  <a:pt x="80920" y="0"/>
                </a:cubicBezTo>
                <a:cubicBezTo>
                  <a:pt x="125582" y="0"/>
                  <a:pt x="161841" y="36259"/>
                  <a:pt x="161841" y="80920"/>
                </a:cubicBezTo>
                <a:cubicBezTo>
                  <a:pt x="161841" y="125582"/>
                  <a:pt x="125582" y="161841"/>
                  <a:pt x="80920" y="161841"/>
                </a:cubicBezTo>
                <a:cubicBezTo>
                  <a:pt x="36259" y="161841"/>
                  <a:pt x="0" y="125582"/>
                  <a:pt x="0" y="80920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16" name="Text 14"/>
          <p:cNvSpPr/>
          <p:nvPr/>
        </p:nvSpPr>
        <p:spPr>
          <a:xfrm>
            <a:off x="921593" y="3128920"/>
            <a:ext cx="3012035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Paraphrasing AI output to evade detection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7628" y="3920142"/>
            <a:ext cx="5610478" cy="2481558"/>
          </a:xfrm>
          <a:custGeom>
            <a:avLst/>
            <a:gdLst/>
            <a:ahLst/>
            <a:cxnLst/>
            <a:rect l="l" t="t" r="r" b="b"/>
            <a:pathLst>
              <a:path w="5610478" h="2481558">
                <a:moveTo>
                  <a:pt x="35965" y="0"/>
                </a:moveTo>
                <a:lnTo>
                  <a:pt x="5538538" y="0"/>
                </a:lnTo>
                <a:cubicBezTo>
                  <a:pt x="5578269" y="0"/>
                  <a:pt x="5610478" y="32209"/>
                  <a:pt x="5610478" y="71940"/>
                </a:cubicBezTo>
                <a:lnTo>
                  <a:pt x="5610478" y="2409617"/>
                </a:lnTo>
                <a:cubicBezTo>
                  <a:pt x="5610478" y="2449349"/>
                  <a:pt x="5578269" y="2481558"/>
                  <a:pt x="5538538" y="2481558"/>
                </a:cubicBezTo>
                <a:lnTo>
                  <a:pt x="35965" y="2481558"/>
                </a:lnTo>
                <a:cubicBezTo>
                  <a:pt x="16102" y="2481558"/>
                  <a:pt x="0" y="2465456"/>
                  <a:pt x="0" y="2445593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2D5A3D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77628" y="3920142"/>
            <a:ext cx="35965" cy="2481558"/>
          </a:xfrm>
          <a:custGeom>
            <a:avLst/>
            <a:gdLst/>
            <a:ahLst/>
            <a:cxnLst/>
            <a:rect l="l" t="t" r="r" b="b"/>
            <a:pathLst>
              <a:path w="35965" h="2481558">
                <a:moveTo>
                  <a:pt x="35965" y="0"/>
                </a:moveTo>
                <a:lnTo>
                  <a:pt x="35965" y="0"/>
                </a:lnTo>
                <a:lnTo>
                  <a:pt x="35965" y="2481558"/>
                </a:lnTo>
                <a:lnTo>
                  <a:pt x="35965" y="2481558"/>
                </a:lnTo>
                <a:cubicBezTo>
                  <a:pt x="16102" y="2481558"/>
                  <a:pt x="0" y="2465456"/>
                  <a:pt x="0" y="2445593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19" name="Shape 17"/>
          <p:cNvSpPr/>
          <p:nvPr/>
        </p:nvSpPr>
        <p:spPr>
          <a:xfrm>
            <a:off x="638372" y="4171894"/>
            <a:ext cx="215788" cy="215788"/>
          </a:xfrm>
          <a:custGeom>
            <a:avLst/>
            <a:gdLst/>
            <a:ahLst/>
            <a:cxnLst/>
            <a:rect l="l" t="t" r="r" b="b"/>
            <a:pathLst>
              <a:path w="215788" h="215788">
                <a:moveTo>
                  <a:pt x="107894" y="215788"/>
                </a:moveTo>
                <a:cubicBezTo>
                  <a:pt x="167442" y="215788"/>
                  <a:pt x="215788" y="167442"/>
                  <a:pt x="215788" y="107894"/>
                </a:cubicBezTo>
                <a:cubicBezTo>
                  <a:pt x="215788" y="48346"/>
                  <a:pt x="167442" y="0"/>
                  <a:pt x="107894" y="0"/>
                </a:cubicBezTo>
                <a:cubicBezTo>
                  <a:pt x="48346" y="0"/>
                  <a:pt x="0" y="48346"/>
                  <a:pt x="0" y="107894"/>
                </a:cubicBezTo>
                <a:cubicBezTo>
                  <a:pt x="0" y="167442"/>
                  <a:pt x="48346" y="215788"/>
                  <a:pt x="107894" y="215788"/>
                </a:cubicBezTo>
                <a:close/>
                <a:moveTo>
                  <a:pt x="143465" y="89645"/>
                </a:moveTo>
                <a:lnTo>
                  <a:pt x="109748" y="143591"/>
                </a:lnTo>
                <a:cubicBezTo>
                  <a:pt x="107978" y="146415"/>
                  <a:pt x="104944" y="148185"/>
                  <a:pt x="101614" y="148354"/>
                </a:cubicBezTo>
                <a:cubicBezTo>
                  <a:pt x="98285" y="148523"/>
                  <a:pt x="95081" y="147005"/>
                  <a:pt x="93101" y="144308"/>
                </a:cubicBezTo>
                <a:lnTo>
                  <a:pt x="72870" y="117335"/>
                </a:lnTo>
                <a:cubicBezTo>
                  <a:pt x="69499" y="112867"/>
                  <a:pt x="70426" y="106545"/>
                  <a:pt x="74893" y="103173"/>
                </a:cubicBezTo>
                <a:cubicBezTo>
                  <a:pt x="79361" y="99802"/>
                  <a:pt x="85683" y="100729"/>
                  <a:pt x="89055" y="105196"/>
                </a:cubicBezTo>
                <a:lnTo>
                  <a:pt x="100434" y="120369"/>
                </a:lnTo>
                <a:lnTo>
                  <a:pt x="126312" y="78939"/>
                </a:lnTo>
                <a:cubicBezTo>
                  <a:pt x="129262" y="74219"/>
                  <a:pt x="135499" y="72744"/>
                  <a:pt x="140262" y="75736"/>
                </a:cubicBezTo>
                <a:cubicBezTo>
                  <a:pt x="145024" y="78729"/>
                  <a:pt x="146457" y="84924"/>
                  <a:pt x="143465" y="89687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20" name="Text 18"/>
          <p:cNvSpPr/>
          <p:nvPr/>
        </p:nvSpPr>
        <p:spPr>
          <a:xfrm>
            <a:off x="932056" y="4135929"/>
            <a:ext cx="4948156" cy="287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9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Right Approach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3991" y="4621451"/>
            <a:ext cx="141611" cy="161841"/>
          </a:xfrm>
          <a:custGeom>
            <a:avLst/>
            <a:gdLst/>
            <a:ahLst/>
            <a:cxnLst/>
            <a:rect l="l" t="t" r="r" b="b"/>
            <a:pathLst>
              <a:path w="141611" h="161841">
                <a:moveTo>
                  <a:pt x="137438" y="22158"/>
                </a:moveTo>
                <a:cubicBezTo>
                  <a:pt x="141958" y="25446"/>
                  <a:pt x="142970" y="31768"/>
                  <a:pt x="139682" y="36288"/>
                </a:cubicBezTo>
                <a:lnTo>
                  <a:pt x="58762" y="147553"/>
                </a:lnTo>
                <a:cubicBezTo>
                  <a:pt x="57024" y="149956"/>
                  <a:pt x="54337" y="151441"/>
                  <a:pt x="51365" y="151694"/>
                </a:cubicBezTo>
                <a:cubicBezTo>
                  <a:pt x="48394" y="151947"/>
                  <a:pt x="45518" y="150841"/>
                  <a:pt x="43431" y="148754"/>
                </a:cubicBezTo>
                <a:lnTo>
                  <a:pt x="2971" y="108294"/>
                </a:lnTo>
                <a:cubicBezTo>
                  <a:pt x="-980" y="104343"/>
                  <a:pt x="-980" y="97926"/>
                  <a:pt x="2971" y="93975"/>
                </a:cubicBezTo>
                <a:cubicBezTo>
                  <a:pt x="6922" y="90024"/>
                  <a:pt x="13339" y="90024"/>
                  <a:pt x="17290" y="93975"/>
                </a:cubicBezTo>
                <a:lnTo>
                  <a:pt x="49374" y="126059"/>
                </a:lnTo>
                <a:lnTo>
                  <a:pt x="123340" y="24371"/>
                </a:lnTo>
                <a:cubicBezTo>
                  <a:pt x="126628" y="19851"/>
                  <a:pt x="132950" y="18839"/>
                  <a:pt x="137470" y="22127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22" name="Text 20"/>
          <p:cNvSpPr/>
          <p:nvPr/>
        </p:nvSpPr>
        <p:spPr>
          <a:xfrm>
            <a:off x="921593" y="4567504"/>
            <a:ext cx="2769274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AI transparently and responsibly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3991" y="5017062"/>
            <a:ext cx="141611" cy="161841"/>
          </a:xfrm>
          <a:custGeom>
            <a:avLst/>
            <a:gdLst/>
            <a:ahLst/>
            <a:cxnLst/>
            <a:rect l="l" t="t" r="r" b="b"/>
            <a:pathLst>
              <a:path w="141611" h="161841">
                <a:moveTo>
                  <a:pt x="137438" y="22158"/>
                </a:moveTo>
                <a:cubicBezTo>
                  <a:pt x="141958" y="25446"/>
                  <a:pt x="142970" y="31768"/>
                  <a:pt x="139682" y="36288"/>
                </a:cubicBezTo>
                <a:lnTo>
                  <a:pt x="58762" y="147553"/>
                </a:lnTo>
                <a:cubicBezTo>
                  <a:pt x="57024" y="149956"/>
                  <a:pt x="54337" y="151441"/>
                  <a:pt x="51365" y="151694"/>
                </a:cubicBezTo>
                <a:cubicBezTo>
                  <a:pt x="48394" y="151947"/>
                  <a:pt x="45518" y="150841"/>
                  <a:pt x="43431" y="148754"/>
                </a:cubicBezTo>
                <a:lnTo>
                  <a:pt x="2971" y="108294"/>
                </a:lnTo>
                <a:cubicBezTo>
                  <a:pt x="-980" y="104343"/>
                  <a:pt x="-980" y="97926"/>
                  <a:pt x="2971" y="93975"/>
                </a:cubicBezTo>
                <a:cubicBezTo>
                  <a:pt x="6922" y="90024"/>
                  <a:pt x="13339" y="90024"/>
                  <a:pt x="17290" y="93975"/>
                </a:cubicBezTo>
                <a:lnTo>
                  <a:pt x="49374" y="126059"/>
                </a:lnTo>
                <a:lnTo>
                  <a:pt x="123340" y="24371"/>
                </a:lnTo>
                <a:cubicBezTo>
                  <a:pt x="126628" y="19851"/>
                  <a:pt x="132950" y="18839"/>
                  <a:pt x="137470" y="22127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24" name="Text 22"/>
          <p:cNvSpPr/>
          <p:nvPr/>
        </p:nvSpPr>
        <p:spPr>
          <a:xfrm>
            <a:off x="921593" y="4963115"/>
            <a:ext cx="2940106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Maintaining your intellectual contribution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3991" y="5412673"/>
            <a:ext cx="141611" cy="161841"/>
          </a:xfrm>
          <a:custGeom>
            <a:avLst/>
            <a:gdLst/>
            <a:ahLst/>
            <a:cxnLst/>
            <a:rect l="l" t="t" r="r" b="b"/>
            <a:pathLst>
              <a:path w="141611" h="161841">
                <a:moveTo>
                  <a:pt x="137438" y="22158"/>
                </a:moveTo>
                <a:cubicBezTo>
                  <a:pt x="141958" y="25446"/>
                  <a:pt x="142970" y="31768"/>
                  <a:pt x="139682" y="36288"/>
                </a:cubicBezTo>
                <a:lnTo>
                  <a:pt x="58762" y="147553"/>
                </a:lnTo>
                <a:cubicBezTo>
                  <a:pt x="57024" y="149956"/>
                  <a:pt x="54337" y="151441"/>
                  <a:pt x="51365" y="151694"/>
                </a:cubicBezTo>
                <a:cubicBezTo>
                  <a:pt x="48394" y="151947"/>
                  <a:pt x="45518" y="150841"/>
                  <a:pt x="43431" y="148754"/>
                </a:cubicBezTo>
                <a:lnTo>
                  <a:pt x="2971" y="108294"/>
                </a:lnTo>
                <a:cubicBezTo>
                  <a:pt x="-980" y="104343"/>
                  <a:pt x="-980" y="97926"/>
                  <a:pt x="2971" y="93975"/>
                </a:cubicBezTo>
                <a:cubicBezTo>
                  <a:pt x="6922" y="90024"/>
                  <a:pt x="13339" y="90024"/>
                  <a:pt x="17290" y="93975"/>
                </a:cubicBezTo>
                <a:lnTo>
                  <a:pt x="49374" y="126059"/>
                </a:lnTo>
                <a:lnTo>
                  <a:pt x="123340" y="24371"/>
                </a:lnTo>
                <a:cubicBezTo>
                  <a:pt x="126628" y="19851"/>
                  <a:pt x="132950" y="18839"/>
                  <a:pt x="137470" y="22127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26" name="Text 24"/>
          <p:cNvSpPr/>
          <p:nvPr/>
        </p:nvSpPr>
        <p:spPr>
          <a:xfrm>
            <a:off x="921593" y="5358726"/>
            <a:ext cx="2032000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Properly citing AI assistance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3991" y="5808283"/>
            <a:ext cx="141611" cy="161841"/>
          </a:xfrm>
          <a:custGeom>
            <a:avLst/>
            <a:gdLst/>
            <a:ahLst/>
            <a:cxnLst/>
            <a:rect l="l" t="t" r="r" b="b"/>
            <a:pathLst>
              <a:path w="141611" h="161841">
                <a:moveTo>
                  <a:pt x="137438" y="22158"/>
                </a:moveTo>
                <a:cubicBezTo>
                  <a:pt x="141958" y="25446"/>
                  <a:pt x="142970" y="31768"/>
                  <a:pt x="139682" y="36288"/>
                </a:cubicBezTo>
                <a:lnTo>
                  <a:pt x="58762" y="147553"/>
                </a:lnTo>
                <a:cubicBezTo>
                  <a:pt x="57024" y="149956"/>
                  <a:pt x="54337" y="151441"/>
                  <a:pt x="51365" y="151694"/>
                </a:cubicBezTo>
                <a:cubicBezTo>
                  <a:pt x="48394" y="151947"/>
                  <a:pt x="45518" y="150841"/>
                  <a:pt x="43431" y="148754"/>
                </a:cubicBezTo>
                <a:lnTo>
                  <a:pt x="2971" y="108294"/>
                </a:lnTo>
                <a:cubicBezTo>
                  <a:pt x="-980" y="104343"/>
                  <a:pt x="-980" y="97926"/>
                  <a:pt x="2971" y="93975"/>
                </a:cubicBezTo>
                <a:cubicBezTo>
                  <a:pt x="6922" y="90024"/>
                  <a:pt x="13339" y="90024"/>
                  <a:pt x="17290" y="93975"/>
                </a:cubicBezTo>
                <a:lnTo>
                  <a:pt x="49374" y="126059"/>
                </a:lnTo>
                <a:lnTo>
                  <a:pt x="123340" y="24371"/>
                </a:lnTo>
                <a:cubicBezTo>
                  <a:pt x="126628" y="19851"/>
                  <a:pt x="132950" y="18839"/>
                  <a:pt x="137470" y="22127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28" name="Text 26"/>
          <p:cNvSpPr/>
          <p:nvPr/>
        </p:nvSpPr>
        <p:spPr>
          <a:xfrm>
            <a:off x="921593" y="5754336"/>
            <a:ext cx="2625416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AI as a tool, not a replacement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0356" y="1299221"/>
            <a:ext cx="5619469" cy="3533522"/>
          </a:xfrm>
          <a:custGeom>
            <a:avLst/>
            <a:gdLst/>
            <a:ahLst/>
            <a:cxnLst/>
            <a:rect l="l" t="t" r="r" b="b"/>
            <a:pathLst>
              <a:path w="5619469" h="3533522">
                <a:moveTo>
                  <a:pt x="71943" y="0"/>
                </a:moveTo>
                <a:lnTo>
                  <a:pt x="5547527" y="0"/>
                </a:lnTo>
                <a:cubicBezTo>
                  <a:pt x="5587259" y="0"/>
                  <a:pt x="5619469" y="32210"/>
                  <a:pt x="5619469" y="71943"/>
                </a:cubicBezTo>
                <a:lnTo>
                  <a:pt x="5619469" y="3461580"/>
                </a:lnTo>
                <a:cubicBezTo>
                  <a:pt x="5619469" y="3501312"/>
                  <a:pt x="5587259" y="3533522"/>
                  <a:pt x="5547527" y="3533522"/>
                </a:cubicBezTo>
                <a:lnTo>
                  <a:pt x="71943" y="3533522"/>
                </a:lnTo>
                <a:cubicBezTo>
                  <a:pt x="32210" y="3533522"/>
                  <a:pt x="0" y="3501312"/>
                  <a:pt x="0" y="3461580"/>
                </a:cubicBezTo>
                <a:lnTo>
                  <a:pt x="0" y="71943"/>
                </a:lnTo>
                <a:cubicBezTo>
                  <a:pt x="0" y="32236"/>
                  <a:pt x="32236" y="0"/>
                  <a:pt x="71943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94675" y="1483540"/>
            <a:ext cx="5340743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6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Ethical Spectrum of AI Use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12657" y="1879150"/>
            <a:ext cx="5232850" cy="611398"/>
          </a:xfrm>
          <a:custGeom>
            <a:avLst/>
            <a:gdLst/>
            <a:ahLst/>
            <a:cxnLst/>
            <a:rect l="l" t="t" r="r" b="b"/>
            <a:pathLst>
              <a:path w="5232850" h="611398">
                <a:moveTo>
                  <a:pt x="35965" y="0"/>
                </a:moveTo>
                <a:lnTo>
                  <a:pt x="5160919" y="0"/>
                </a:lnTo>
                <a:cubicBezTo>
                  <a:pt x="5200645" y="0"/>
                  <a:pt x="5232850" y="32205"/>
                  <a:pt x="5232850" y="71931"/>
                </a:cubicBezTo>
                <a:lnTo>
                  <a:pt x="5232850" y="539467"/>
                </a:lnTo>
                <a:cubicBezTo>
                  <a:pt x="5232850" y="579194"/>
                  <a:pt x="5200645" y="611398"/>
                  <a:pt x="5160919" y="611398"/>
                </a:cubicBezTo>
                <a:lnTo>
                  <a:pt x="35965" y="611398"/>
                </a:lnTo>
                <a:cubicBezTo>
                  <a:pt x="16102" y="611398"/>
                  <a:pt x="0" y="595296"/>
                  <a:pt x="0" y="575434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32" name="Shape 30"/>
          <p:cNvSpPr/>
          <p:nvPr/>
        </p:nvSpPr>
        <p:spPr>
          <a:xfrm>
            <a:off x="6412657" y="1879150"/>
            <a:ext cx="35965" cy="611398"/>
          </a:xfrm>
          <a:custGeom>
            <a:avLst/>
            <a:gdLst/>
            <a:ahLst/>
            <a:cxnLst/>
            <a:rect l="l" t="t" r="r" b="b"/>
            <a:pathLst>
              <a:path w="35965" h="611398">
                <a:moveTo>
                  <a:pt x="35965" y="0"/>
                </a:moveTo>
                <a:lnTo>
                  <a:pt x="35965" y="0"/>
                </a:lnTo>
                <a:lnTo>
                  <a:pt x="35965" y="611398"/>
                </a:lnTo>
                <a:lnTo>
                  <a:pt x="35965" y="611398"/>
                </a:lnTo>
                <a:cubicBezTo>
                  <a:pt x="16102" y="611398"/>
                  <a:pt x="0" y="595296"/>
                  <a:pt x="0" y="575434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3" name="Shape 31"/>
          <p:cNvSpPr/>
          <p:nvPr/>
        </p:nvSpPr>
        <p:spPr>
          <a:xfrm>
            <a:off x="6538533" y="2040991"/>
            <a:ext cx="287717" cy="287717"/>
          </a:xfrm>
          <a:custGeom>
            <a:avLst/>
            <a:gdLst/>
            <a:ahLst/>
            <a:cxnLst/>
            <a:rect l="l" t="t" r="r" b="b"/>
            <a:pathLst>
              <a:path w="287717" h="287717">
                <a:moveTo>
                  <a:pt x="143858" y="0"/>
                </a:moveTo>
                <a:lnTo>
                  <a:pt x="143858" y="0"/>
                </a:lnTo>
                <a:cubicBezTo>
                  <a:pt x="223256" y="0"/>
                  <a:pt x="287717" y="64461"/>
                  <a:pt x="287717" y="143858"/>
                </a:cubicBezTo>
                <a:lnTo>
                  <a:pt x="287717" y="143858"/>
                </a:lnTo>
                <a:cubicBezTo>
                  <a:pt x="287717" y="223256"/>
                  <a:pt x="223256" y="287717"/>
                  <a:pt x="143858" y="287717"/>
                </a:cubicBezTo>
                <a:lnTo>
                  <a:pt x="143858" y="287717"/>
                </a:lnTo>
                <a:cubicBezTo>
                  <a:pt x="64461" y="287717"/>
                  <a:pt x="0" y="223256"/>
                  <a:pt x="0" y="143858"/>
                </a:cubicBezTo>
                <a:lnTo>
                  <a:pt x="0" y="143858"/>
                </a:lnTo>
                <a:cubicBezTo>
                  <a:pt x="0" y="64461"/>
                  <a:pt x="64461" y="0"/>
                  <a:pt x="143858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4" name="Text 32"/>
          <p:cNvSpPr/>
          <p:nvPr/>
        </p:nvSpPr>
        <p:spPr>
          <a:xfrm>
            <a:off x="6507064" y="2040991"/>
            <a:ext cx="350655" cy="287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✕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34144" y="1987044"/>
            <a:ext cx="1528496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Prohibited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34144" y="2202832"/>
            <a:ext cx="1519504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writes your entire paper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12657" y="2598442"/>
            <a:ext cx="5232850" cy="611398"/>
          </a:xfrm>
          <a:custGeom>
            <a:avLst/>
            <a:gdLst/>
            <a:ahLst/>
            <a:cxnLst/>
            <a:rect l="l" t="t" r="r" b="b"/>
            <a:pathLst>
              <a:path w="5232850" h="611398">
                <a:moveTo>
                  <a:pt x="35965" y="0"/>
                </a:moveTo>
                <a:lnTo>
                  <a:pt x="5160919" y="0"/>
                </a:lnTo>
                <a:cubicBezTo>
                  <a:pt x="5200645" y="0"/>
                  <a:pt x="5232850" y="32205"/>
                  <a:pt x="5232850" y="71931"/>
                </a:cubicBezTo>
                <a:lnTo>
                  <a:pt x="5232850" y="539467"/>
                </a:lnTo>
                <a:cubicBezTo>
                  <a:pt x="5232850" y="579194"/>
                  <a:pt x="5200645" y="611398"/>
                  <a:pt x="5160919" y="611398"/>
                </a:cubicBezTo>
                <a:lnTo>
                  <a:pt x="35965" y="611398"/>
                </a:lnTo>
                <a:cubicBezTo>
                  <a:pt x="16102" y="611398"/>
                  <a:pt x="0" y="595296"/>
                  <a:pt x="0" y="575434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FFF7ED"/>
          </a:solidFill>
          <a:ln/>
        </p:spPr>
      </p:sp>
      <p:sp>
        <p:nvSpPr>
          <p:cNvPr id="38" name="Shape 36"/>
          <p:cNvSpPr/>
          <p:nvPr/>
        </p:nvSpPr>
        <p:spPr>
          <a:xfrm>
            <a:off x="6412657" y="2598442"/>
            <a:ext cx="35965" cy="611398"/>
          </a:xfrm>
          <a:custGeom>
            <a:avLst/>
            <a:gdLst/>
            <a:ahLst/>
            <a:cxnLst/>
            <a:rect l="l" t="t" r="r" b="b"/>
            <a:pathLst>
              <a:path w="35965" h="611398">
                <a:moveTo>
                  <a:pt x="35965" y="0"/>
                </a:moveTo>
                <a:lnTo>
                  <a:pt x="35965" y="0"/>
                </a:lnTo>
                <a:lnTo>
                  <a:pt x="35965" y="611398"/>
                </a:lnTo>
                <a:lnTo>
                  <a:pt x="35965" y="611398"/>
                </a:lnTo>
                <a:cubicBezTo>
                  <a:pt x="16102" y="611398"/>
                  <a:pt x="0" y="595296"/>
                  <a:pt x="0" y="575434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39" name="Shape 37"/>
          <p:cNvSpPr/>
          <p:nvPr/>
        </p:nvSpPr>
        <p:spPr>
          <a:xfrm>
            <a:off x="6538533" y="2760283"/>
            <a:ext cx="287717" cy="287717"/>
          </a:xfrm>
          <a:custGeom>
            <a:avLst/>
            <a:gdLst/>
            <a:ahLst/>
            <a:cxnLst/>
            <a:rect l="l" t="t" r="r" b="b"/>
            <a:pathLst>
              <a:path w="287717" h="287717">
                <a:moveTo>
                  <a:pt x="143858" y="0"/>
                </a:moveTo>
                <a:lnTo>
                  <a:pt x="143858" y="0"/>
                </a:lnTo>
                <a:cubicBezTo>
                  <a:pt x="223256" y="0"/>
                  <a:pt x="287717" y="64461"/>
                  <a:pt x="287717" y="143858"/>
                </a:cubicBezTo>
                <a:lnTo>
                  <a:pt x="287717" y="143858"/>
                </a:lnTo>
                <a:cubicBezTo>
                  <a:pt x="287717" y="223256"/>
                  <a:pt x="223256" y="287717"/>
                  <a:pt x="143858" y="287717"/>
                </a:cubicBezTo>
                <a:lnTo>
                  <a:pt x="143858" y="287717"/>
                </a:lnTo>
                <a:cubicBezTo>
                  <a:pt x="64461" y="287717"/>
                  <a:pt x="0" y="223256"/>
                  <a:pt x="0" y="143858"/>
                </a:cubicBezTo>
                <a:lnTo>
                  <a:pt x="0" y="143858"/>
                </a:lnTo>
                <a:cubicBezTo>
                  <a:pt x="0" y="64461"/>
                  <a:pt x="64461" y="0"/>
                  <a:pt x="143858" y="0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40" name="Text 38"/>
          <p:cNvSpPr/>
          <p:nvPr/>
        </p:nvSpPr>
        <p:spPr>
          <a:xfrm>
            <a:off x="6507064" y="2760283"/>
            <a:ext cx="350655" cy="287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!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34144" y="2706336"/>
            <a:ext cx="2049982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CA35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Caution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34144" y="2922124"/>
            <a:ext cx="2040991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generates sections you lightly edit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12657" y="3317735"/>
            <a:ext cx="5232850" cy="611398"/>
          </a:xfrm>
          <a:custGeom>
            <a:avLst/>
            <a:gdLst/>
            <a:ahLst/>
            <a:cxnLst/>
            <a:rect l="l" t="t" r="r" b="b"/>
            <a:pathLst>
              <a:path w="5232850" h="611398">
                <a:moveTo>
                  <a:pt x="35965" y="0"/>
                </a:moveTo>
                <a:lnTo>
                  <a:pt x="5160919" y="0"/>
                </a:lnTo>
                <a:cubicBezTo>
                  <a:pt x="5200645" y="0"/>
                  <a:pt x="5232850" y="32205"/>
                  <a:pt x="5232850" y="71931"/>
                </a:cubicBezTo>
                <a:lnTo>
                  <a:pt x="5232850" y="539467"/>
                </a:lnTo>
                <a:cubicBezTo>
                  <a:pt x="5232850" y="579194"/>
                  <a:pt x="5200645" y="611398"/>
                  <a:pt x="5160919" y="611398"/>
                </a:cubicBezTo>
                <a:lnTo>
                  <a:pt x="35965" y="611398"/>
                </a:lnTo>
                <a:cubicBezTo>
                  <a:pt x="16102" y="611398"/>
                  <a:pt x="0" y="595296"/>
                  <a:pt x="0" y="575434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FEFCE8"/>
          </a:solidFill>
          <a:ln/>
        </p:spPr>
      </p:sp>
      <p:sp>
        <p:nvSpPr>
          <p:cNvPr id="44" name="Shape 42"/>
          <p:cNvSpPr/>
          <p:nvPr/>
        </p:nvSpPr>
        <p:spPr>
          <a:xfrm>
            <a:off x="6412657" y="3317735"/>
            <a:ext cx="35965" cy="611398"/>
          </a:xfrm>
          <a:custGeom>
            <a:avLst/>
            <a:gdLst/>
            <a:ahLst/>
            <a:cxnLst/>
            <a:rect l="l" t="t" r="r" b="b"/>
            <a:pathLst>
              <a:path w="35965" h="611398">
                <a:moveTo>
                  <a:pt x="35965" y="0"/>
                </a:moveTo>
                <a:lnTo>
                  <a:pt x="35965" y="0"/>
                </a:lnTo>
                <a:lnTo>
                  <a:pt x="35965" y="611398"/>
                </a:lnTo>
                <a:lnTo>
                  <a:pt x="35965" y="611398"/>
                </a:lnTo>
                <a:cubicBezTo>
                  <a:pt x="16102" y="611398"/>
                  <a:pt x="0" y="595296"/>
                  <a:pt x="0" y="575434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45" name="Shape 43"/>
          <p:cNvSpPr/>
          <p:nvPr/>
        </p:nvSpPr>
        <p:spPr>
          <a:xfrm>
            <a:off x="6538533" y="3479575"/>
            <a:ext cx="287717" cy="287717"/>
          </a:xfrm>
          <a:custGeom>
            <a:avLst/>
            <a:gdLst/>
            <a:ahLst/>
            <a:cxnLst/>
            <a:rect l="l" t="t" r="r" b="b"/>
            <a:pathLst>
              <a:path w="287717" h="287717">
                <a:moveTo>
                  <a:pt x="143858" y="0"/>
                </a:moveTo>
                <a:lnTo>
                  <a:pt x="143858" y="0"/>
                </a:lnTo>
                <a:cubicBezTo>
                  <a:pt x="223256" y="0"/>
                  <a:pt x="287717" y="64461"/>
                  <a:pt x="287717" y="143858"/>
                </a:cubicBezTo>
                <a:lnTo>
                  <a:pt x="287717" y="143858"/>
                </a:lnTo>
                <a:cubicBezTo>
                  <a:pt x="287717" y="223256"/>
                  <a:pt x="223256" y="287717"/>
                  <a:pt x="143858" y="287717"/>
                </a:cubicBezTo>
                <a:lnTo>
                  <a:pt x="143858" y="287717"/>
                </a:lnTo>
                <a:cubicBezTo>
                  <a:pt x="64461" y="287717"/>
                  <a:pt x="0" y="223256"/>
                  <a:pt x="0" y="143858"/>
                </a:cubicBezTo>
                <a:lnTo>
                  <a:pt x="0" y="143858"/>
                </a:lnTo>
                <a:cubicBezTo>
                  <a:pt x="0" y="64461"/>
                  <a:pt x="64461" y="0"/>
                  <a:pt x="143858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46" name="Text 44"/>
          <p:cNvSpPr/>
          <p:nvPr/>
        </p:nvSpPr>
        <p:spPr>
          <a:xfrm>
            <a:off x="6507064" y="3479575"/>
            <a:ext cx="350655" cy="287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?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934144" y="3425628"/>
            <a:ext cx="1915115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A65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 Policy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934144" y="3641416"/>
            <a:ext cx="1906124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helps with outlining/structuring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12657" y="4037027"/>
            <a:ext cx="5232850" cy="611398"/>
          </a:xfrm>
          <a:custGeom>
            <a:avLst/>
            <a:gdLst/>
            <a:ahLst/>
            <a:cxnLst/>
            <a:rect l="l" t="t" r="r" b="b"/>
            <a:pathLst>
              <a:path w="5232850" h="611398">
                <a:moveTo>
                  <a:pt x="35965" y="0"/>
                </a:moveTo>
                <a:lnTo>
                  <a:pt x="5160919" y="0"/>
                </a:lnTo>
                <a:cubicBezTo>
                  <a:pt x="5200645" y="0"/>
                  <a:pt x="5232850" y="32205"/>
                  <a:pt x="5232850" y="71931"/>
                </a:cubicBezTo>
                <a:lnTo>
                  <a:pt x="5232850" y="539467"/>
                </a:lnTo>
                <a:cubicBezTo>
                  <a:pt x="5232850" y="579194"/>
                  <a:pt x="5200645" y="611398"/>
                  <a:pt x="5160919" y="611398"/>
                </a:cubicBezTo>
                <a:lnTo>
                  <a:pt x="35965" y="611398"/>
                </a:lnTo>
                <a:cubicBezTo>
                  <a:pt x="16102" y="611398"/>
                  <a:pt x="0" y="595296"/>
                  <a:pt x="0" y="575434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50" name="Shape 48"/>
          <p:cNvSpPr/>
          <p:nvPr/>
        </p:nvSpPr>
        <p:spPr>
          <a:xfrm>
            <a:off x="6412657" y="4037027"/>
            <a:ext cx="35965" cy="611398"/>
          </a:xfrm>
          <a:custGeom>
            <a:avLst/>
            <a:gdLst/>
            <a:ahLst/>
            <a:cxnLst/>
            <a:rect l="l" t="t" r="r" b="b"/>
            <a:pathLst>
              <a:path w="35965" h="611398">
                <a:moveTo>
                  <a:pt x="35965" y="0"/>
                </a:moveTo>
                <a:lnTo>
                  <a:pt x="35965" y="0"/>
                </a:lnTo>
                <a:lnTo>
                  <a:pt x="35965" y="611398"/>
                </a:lnTo>
                <a:lnTo>
                  <a:pt x="35965" y="611398"/>
                </a:lnTo>
                <a:cubicBezTo>
                  <a:pt x="16102" y="611398"/>
                  <a:pt x="0" y="595296"/>
                  <a:pt x="0" y="575434"/>
                </a:cubicBezTo>
                <a:lnTo>
                  <a:pt x="0" y="35965"/>
                </a:lnTo>
                <a:cubicBezTo>
                  <a:pt x="0" y="16115"/>
                  <a:pt x="16115" y="0"/>
                  <a:pt x="35965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51" name="Shape 49"/>
          <p:cNvSpPr/>
          <p:nvPr/>
        </p:nvSpPr>
        <p:spPr>
          <a:xfrm>
            <a:off x="6538533" y="4198867"/>
            <a:ext cx="287717" cy="287717"/>
          </a:xfrm>
          <a:custGeom>
            <a:avLst/>
            <a:gdLst/>
            <a:ahLst/>
            <a:cxnLst/>
            <a:rect l="l" t="t" r="r" b="b"/>
            <a:pathLst>
              <a:path w="287717" h="287717">
                <a:moveTo>
                  <a:pt x="143858" y="0"/>
                </a:moveTo>
                <a:lnTo>
                  <a:pt x="143858" y="0"/>
                </a:lnTo>
                <a:cubicBezTo>
                  <a:pt x="223256" y="0"/>
                  <a:pt x="287717" y="64461"/>
                  <a:pt x="287717" y="143858"/>
                </a:cubicBezTo>
                <a:lnTo>
                  <a:pt x="287717" y="143858"/>
                </a:lnTo>
                <a:cubicBezTo>
                  <a:pt x="287717" y="223256"/>
                  <a:pt x="223256" y="287717"/>
                  <a:pt x="143858" y="287717"/>
                </a:cubicBezTo>
                <a:lnTo>
                  <a:pt x="143858" y="287717"/>
                </a:lnTo>
                <a:cubicBezTo>
                  <a:pt x="64461" y="287717"/>
                  <a:pt x="0" y="223256"/>
                  <a:pt x="0" y="143858"/>
                </a:cubicBezTo>
                <a:lnTo>
                  <a:pt x="0" y="143858"/>
                </a:lnTo>
                <a:cubicBezTo>
                  <a:pt x="0" y="64461"/>
                  <a:pt x="64461" y="0"/>
                  <a:pt x="143858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52" name="Text 50"/>
          <p:cNvSpPr/>
          <p:nvPr/>
        </p:nvSpPr>
        <p:spPr>
          <a:xfrm>
            <a:off x="6507064" y="4198867"/>
            <a:ext cx="350655" cy="287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34144" y="4144920"/>
            <a:ext cx="1987044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Encouraged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934144" y="4360708"/>
            <a:ext cx="1978053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for grammar, feedback, research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205861" y="4981097"/>
            <a:ext cx="5628460" cy="1420602"/>
          </a:xfrm>
          <a:custGeom>
            <a:avLst/>
            <a:gdLst/>
            <a:ahLst/>
            <a:cxnLst/>
            <a:rect l="l" t="t" r="r" b="b"/>
            <a:pathLst>
              <a:path w="5628460" h="1420602">
                <a:moveTo>
                  <a:pt x="71925" y="0"/>
                </a:moveTo>
                <a:lnTo>
                  <a:pt x="5556535" y="0"/>
                </a:lnTo>
                <a:cubicBezTo>
                  <a:pt x="5596258" y="0"/>
                  <a:pt x="5628460" y="32202"/>
                  <a:pt x="5628460" y="71925"/>
                </a:cubicBezTo>
                <a:lnTo>
                  <a:pt x="5628460" y="1348677"/>
                </a:lnTo>
                <a:cubicBezTo>
                  <a:pt x="5628460" y="1388400"/>
                  <a:pt x="5596258" y="1420602"/>
                  <a:pt x="5556535" y="1420602"/>
                </a:cubicBezTo>
                <a:lnTo>
                  <a:pt x="71925" y="1420602"/>
                </a:lnTo>
                <a:cubicBezTo>
                  <a:pt x="32202" y="1420602"/>
                  <a:pt x="0" y="1388400"/>
                  <a:pt x="0" y="1348677"/>
                </a:cubicBezTo>
                <a:lnTo>
                  <a:pt x="0" y="71925"/>
                </a:lnTo>
                <a:cubicBezTo>
                  <a:pt x="0" y="32229"/>
                  <a:pt x="32229" y="0"/>
                  <a:pt x="71925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56" name="Shape 54"/>
          <p:cNvSpPr/>
          <p:nvPr/>
        </p:nvSpPr>
        <p:spPr>
          <a:xfrm>
            <a:off x="6408162" y="5205876"/>
            <a:ext cx="161841" cy="161841"/>
          </a:xfrm>
          <a:custGeom>
            <a:avLst/>
            <a:gdLst/>
            <a:ahLst/>
            <a:cxnLst/>
            <a:rect l="l" t="t" r="r" b="b"/>
            <a:pathLst>
              <a:path w="161841" h="161841">
                <a:moveTo>
                  <a:pt x="161841" y="10115"/>
                </a:moveTo>
                <a:cubicBezTo>
                  <a:pt x="161841" y="44285"/>
                  <a:pt x="137628" y="72797"/>
                  <a:pt x="105449" y="79466"/>
                </a:cubicBezTo>
                <a:cubicBezTo>
                  <a:pt x="102952" y="61101"/>
                  <a:pt x="94702" y="44569"/>
                  <a:pt x="82532" y="31768"/>
                </a:cubicBezTo>
                <a:cubicBezTo>
                  <a:pt x="95208" y="12644"/>
                  <a:pt x="116924" y="0"/>
                  <a:pt x="141611" y="0"/>
                </a:cubicBezTo>
                <a:lnTo>
                  <a:pt x="151726" y="0"/>
                </a:lnTo>
                <a:cubicBezTo>
                  <a:pt x="157321" y="0"/>
                  <a:pt x="161841" y="4520"/>
                  <a:pt x="161841" y="10115"/>
                </a:cubicBezTo>
                <a:close/>
                <a:moveTo>
                  <a:pt x="0" y="30345"/>
                </a:moveTo>
                <a:cubicBezTo>
                  <a:pt x="0" y="24750"/>
                  <a:pt x="4520" y="20230"/>
                  <a:pt x="10115" y="20230"/>
                </a:cubicBezTo>
                <a:lnTo>
                  <a:pt x="20230" y="20230"/>
                </a:lnTo>
                <a:cubicBezTo>
                  <a:pt x="59331" y="20230"/>
                  <a:pt x="91035" y="51934"/>
                  <a:pt x="91035" y="91035"/>
                </a:cubicBezTo>
                <a:lnTo>
                  <a:pt x="91035" y="151726"/>
                </a:lnTo>
                <a:cubicBezTo>
                  <a:pt x="91035" y="157321"/>
                  <a:pt x="86515" y="161841"/>
                  <a:pt x="80920" y="161841"/>
                </a:cubicBezTo>
                <a:cubicBezTo>
                  <a:pt x="75325" y="161841"/>
                  <a:pt x="70805" y="157321"/>
                  <a:pt x="70805" y="151726"/>
                </a:cubicBezTo>
                <a:lnTo>
                  <a:pt x="70805" y="101150"/>
                </a:lnTo>
                <a:cubicBezTo>
                  <a:pt x="31704" y="101150"/>
                  <a:pt x="0" y="69446"/>
                  <a:pt x="0" y="30345"/>
                </a:cubicBezTo>
                <a:close/>
              </a:path>
            </a:pathLst>
          </a:custGeom>
          <a:solidFill>
            <a:srgbClr val="FAF8F3"/>
          </a:solidFill>
          <a:ln/>
        </p:spPr>
      </p:sp>
      <p:sp>
        <p:nvSpPr>
          <p:cNvPr id="57" name="Text 55"/>
          <p:cNvSpPr/>
          <p:nvPr/>
        </p:nvSpPr>
        <p:spPr>
          <a:xfrm>
            <a:off x="6643403" y="5160920"/>
            <a:ext cx="5092015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Garden Analogy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385684" y="5520566"/>
            <a:ext cx="5340743" cy="701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3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Think of AI as a gardening tool. A shovel helps you cultivate the soil, but it doesn't plant the seeds or nurture the growth. </a:t>
            </a:r>
            <a:pPr>
              <a:lnSpc>
                <a:spcPct val="140000"/>
              </a:lnSpc>
            </a:pPr>
            <a:r>
              <a:rPr lang="en-US" sz="1133" b="1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ideas are the seeds—AI is just a tool to help them flourish.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64142" y="6550053"/>
            <a:ext cx="2058973" cy="305699"/>
          </a:xfrm>
          <a:custGeom>
            <a:avLst/>
            <a:gdLst/>
            <a:ahLst/>
            <a:cxnLst/>
            <a:rect l="l" t="t" r="r" b="b"/>
            <a:pathLst>
              <a:path w="2058973" h="305699">
                <a:moveTo>
                  <a:pt x="0" y="0"/>
                </a:moveTo>
                <a:lnTo>
                  <a:pt x="2058973" y="0"/>
                </a:lnTo>
                <a:lnTo>
                  <a:pt x="2058973" y="305699"/>
                </a:lnTo>
                <a:lnTo>
                  <a:pt x="0" y="305699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90196"/>
            </a:srgbClr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59646" y="6545558"/>
            <a:ext cx="2103929" cy="296708"/>
          </a:xfrm>
          <a:prstGeom prst="rect">
            <a:avLst/>
          </a:prstGeom>
          <a:noFill/>
          <a:ln/>
        </p:spPr>
        <p:txBody>
          <a:bodyPr wrap="square" lIns="107894" tIns="71929" rIns="107894" bIns="71929" rtlCol="0" anchor="ctr"/>
          <a:lstStyle/>
          <a:p>
            <a:pPr>
              <a:lnSpc>
                <a:spcPct val="120000"/>
              </a:lnSpc>
            </a:pPr>
            <a:r>
              <a:rPr lang="en-US" sz="85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Framework • Academic Integrity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900310" y="6613623"/>
            <a:ext cx="1996035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Remember: Transparency &gt; Evasion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.etsystatic.com/d862185753fba7cd23535bd05f3f9aeec018fe6a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25487" b="2548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7D9A78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266825"/>
            <a:ext cx="1352550" cy="342900"/>
          </a:xfrm>
          <a:custGeom>
            <a:avLst/>
            <a:gdLst/>
            <a:ahLst/>
            <a:cxnLst/>
            <a:rect l="l" t="t" r="r" b="b"/>
            <a:pathLst>
              <a:path w="1352550" h="342900">
                <a:moveTo>
                  <a:pt x="0" y="0"/>
                </a:moveTo>
                <a:lnTo>
                  <a:pt x="1352550" y="0"/>
                </a:lnTo>
                <a:lnTo>
                  <a:pt x="135255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1266825"/>
            <a:ext cx="1419225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Two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838325"/>
            <a:ext cx="67437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Ethical AI Tools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Researchers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7814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12432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tools that enhance your work without compromising academic integrity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95288" y="53435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57" y="43354"/>
                </a:moveTo>
                <a:lnTo>
                  <a:pt x="100057" y="65499"/>
                </a:lnTo>
                <a:lnTo>
                  <a:pt x="100280" y="65723"/>
                </a:lnTo>
                <a:cubicBezTo>
                  <a:pt x="103183" y="28932"/>
                  <a:pt x="133945" y="0"/>
                  <a:pt x="171495" y="0"/>
                </a:cubicBezTo>
                <a:cubicBezTo>
                  <a:pt x="180469" y="0"/>
                  <a:pt x="189086" y="1652"/>
                  <a:pt x="196989" y="4688"/>
                </a:cubicBezTo>
                <a:cubicBezTo>
                  <a:pt x="201454" y="6385"/>
                  <a:pt x="202257" y="12055"/>
                  <a:pt x="198909" y="15448"/>
                </a:cubicBezTo>
                <a:lnTo>
                  <a:pt x="159306" y="55052"/>
                </a:lnTo>
                <a:cubicBezTo>
                  <a:pt x="157966" y="56391"/>
                  <a:pt x="157207" y="58222"/>
                  <a:pt x="157207" y="60097"/>
                </a:cubicBezTo>
                <a:lnTo>
                  <a:pt x="157207" y="78581"/>
                </a:lnTo>
                <a:cubicBezTo>
                  <a:pt x="157207" y="82510"/>
                  <a:pt x="160422" y="85725"/>
                  <a:pt x="164351" y="85725"/>
                </a:cubicBezTo>
                <a:lnTo>
                  <a:pt x="182835" y="85725"/>
                </a:lnTo>
                <a:cubicBezTo>
                  <a:pt x="184711" y="85725"/>
                  <a:pt x="186541" y="84966"/>
                  <a:pt x="187881" y="83627"/>
                </a:cubicBezTo>
                <a:lnTo>
                  <a:pt x="227484" y="44023"/>
                </a:lnTo>
                <a:cubicBezTo>
                  <a:pt x="230877" y="40630"/>
                  <a:pt x="236547" y="41478"/>
                  <a:pt x="238244" y="45943"/>
                </a:cubicBezTo>
                <a:cubicBezTo>
                  <a:pt x="241280" y="53846"/>
                  <a:pt x="242932" y="62463"/>
                  <a:pt x="242932" y="71438"/>
                </a:cubicBezTo>
                <a:cubicBezTo>
                  <a:pt x="242932" y="98494"/>
                  <a:pt x="227886" y="122069"/>
                  <a:pt x="205651" y="134169"/>
                </a:cubicBezTo>
                <a:lnTo>
                  <a:pt x="242039" y="170557"/>
                </a:lnTo>
                <a:cubicBezTo>
                  <a:pt x="250388" y="178906"/>
                  <a:pt x="250388" y="192479"/>
                  <a:pt x="242039" y="200873"/>
                </a:cubicBezTo>
                <a:lnTo>
                  <a:pt x="215205" y="227707"/>
                </a:lnTo>
                <a:cubicBezTo>
                  <a:pt x="206856" y="236056"/>
                  <a:pt x="193283" y="236056"/>
                  <a:pt x="184889" y="227707"/>
                </a:cubicBezTo>
                <a:lnTo>
                  <a:pt x="128632" y="171450"/>
                </a:lnTo>
                <a:cubicBezTo>
                  <a:pt x="116398" y="159216"/>
                  <a:pt x="113630" y="141134"/>
                  <a:pt x="120372" y="126221"/>
                </a:cubicBezTo>
                <a:lnTo>
                  <a:pt x="79876" y="85725"/>
                </a:lnTo>
                <a:lnTo>
                  <a:pt x="57730" y="85725"/>
                </a:lnTo>
                <a:cubicBezTo>
                  <a:pt x="52953" y="85725"/>
                  <a:pt x="48488" y="83359"/>
                  <a:pt x="45854" y="79385"/>
                </a:cubicBezTo>
                <a:lnTo>
                  <a:pt x="10448" y="26298"/>
                </a:lnTo>
                <a:cubicBezTo>
                  <a:pt x="8573" y="23485"/>
                  <a:pt x="8930" y="19690"/>
                  <a:pt x="11341" y="17279"/>
                </a:cubicBezTo>
                <a:lnTo>
                  <a:pt x="31611" y="-2991"/>
                </a:lnTo>
                <a:cubicBezTo>
                  <a:pt x="34022" y="-5402"/>
                  <a:pt x="37773" y="-5760"/>
                  <a:pt x="40630" y="-3884"/>
                </a:cubicBezTo>
                <a:lnTo>
                  <a:pt x="93717" y="31477"/>
                </a:lnTo>
                <a:cubicBezTo>
                  <a:pt x="97691" y="34111"/>
                  <a:pt x="100057" y="38576"/>
                  <a:pt x="100057" y="43354"/>
                </a:cubicBezTo>
                <a:close/>
                <a:moveTo>
                  <a:pt x="96262" y="132427"/>
                </a:moveTo>
                <a:cubicBezTo>
                  <a:pt x="93449" y="148947"/>
                  <a:pt x="97334" y="166405"/>
                  <a:pt x="108049" y="180380"/>
                </a:cubicBezTo>
                <a:lnTo>
                  <a:pt x="65633" y="222751"/>
                </a:lnTo>
                <a:cubicBezTo>
                  <a:pt x="53087" y="235297"/>
                  <a:pt x="32727" y="235297"/>
                  <a:pt x="20181" y="222751"/>
                </a:cubicBezTo>
                <a:cubicBezTo>
                  <a:pt x="7635" y="210205"/>
                  <a:pt x="7635" y="189845"/>
                  <a:pt x="20181" y="177299"/>
                </a:cubicBezTo>
                <a:lnTo>
                  <a:pt x="80635" y="116845"/>
                </a:lnTo>
                <a:lnTo>
                  <a:pt x="96262" y="132472"/>
                </a:ln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10" name="Text 7"/>
          <p:cNvSpPr/>
          <p:nvPr/>
        </p:nvSpPr>
        <p:spPr>
          <a:xfrm>
            <a:off x="781050" y="5324475"/>
            <a:ext cx="2962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Curated Toolkit • Ethics-First Approach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spc="88" kern="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Myth Busting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"Humanizer" Myth vs Reality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5250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" name="Shape 3"/>
          <p:cNvSpPr/>
          <p:nvPr/>
        </p:nvSpPr>
        <p:spPr>
          <a:xfrm>
            <a:off x="333375" y="1143000"/>
            <a:ext cx="5667375" cy="1714500"/>
          </a:xfrm>
          <a:custGeom>
            <a:avLst/>
            <a:gdLst/>
            <a:ahLst/>
            <a:cxnLst/>
            <a:rect l="l" t="t" r="r" b="b"/>
            <a:pathLst>
              <a:path w="5667375" h="1714500">
                <a:moveTo>
                  <a:pt x="31750" y="0"/>
                </a:moveTo>
                <a:lnTo>
                  <a:pt x="5603870" y="0"/>
                </a:lnTo>
                <a:cubicBezTo>
                  <a:pt x="5638943" y="0"/>
                  <a:pt x="5667375" y="28432"/>
                  <a:pt x="5667375" y="63505"/>
                </a:cubicBezTo>
                <a:lnTo>
                  <a:pt x="5667375" y="1650995"/>
                </a:lnTo>
                <a:cubicBezTo>
                  <a:pt x="5667375" y="1686068"/>
                  <a:pt x="5638943" y="1714500"/>
                  <a:pt x="5603870" y="1714500"/>
                </a:cubicBezTo>
                <a:lnTo>
                  <a:pt x="31750" y="1714500"/>
                </a:lnTo>
                <a:cubicBezTo>
                  <a:pt x="14215" y="1714500"/>
                  <a:pt x="0" y="1700285"/>
                  <a:pt x="0" y="168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6" name="Shape 4"/>
          <p:cNvSpPr/>
          <p:nvPr/>
        </p:nvSpPr>
        <p:spPr>
          <a:xfrm>
            <a:off x="333375" y="1143000"/>
            <a:ext cx="31750" cy="1714500"/>
          </a:xfrm>
          <a:custGeom>
            <a:avLst/>
            <a:gdLst/>
            <a:ahLst/>
            <a:cxnLst/>
            <a:rect l="l" t="t" r="r" b="b"/>
            <a:pathLst>
              <a:path w="31750" h="1714500">
                <a:moveTo>
                  <a:pt x="31750" y="0"/>
                </a:moveTo>
                <a:lnTo>
                  <a:pt x="31750" y="0"/>
                </a:lnTo>
                <a:lnTo>
                  <a:pt x="31750" y="1714500"/>
                </a:lnTo>
                <a:lnTo>
                  <a:pt x="31750" y="1714500"/>
                </a:lnTo>
                <a:cubicBezTo>
                  <a:pt x="14227" y="1714500"/>
                  <a:pt x="0" y="1700273"/>
                  <a:pt x="0" y="168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7" name="Shape 5"/>
          <p:cNvSpPr/>
          <p:nvPr/>
        </p:nvSpPr>
        <p:spPr>
          <a:xfrm>
            <a:off x="527844" y="132953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51780" y="51780"/>
                </a:moveTo>
                <a:cubicBezTo>
                  <a:pt x="54694" y="48865"/>
                  <a:pt x="59407" y="48865"/>
                  <a:pt x="62291" y="51780"/>
                </a:cubicBezTo>
                <a:lnTo>
                  <a:pt x="79344" y="68833"/>
                </a:lnTo>
                <a:lnTo>
                  <a:pt x="96397" y="51780"/>
                </a:lnTo>
                <a:cubicBezTo>
                  <a:pt x="99312" y="48865"/>
                  <a:pt x="104025" y="48865"/>
                  <a:pt x="106908" y="51780"/>
                </a:cubicBezTo>
                <a:cubicBezTo>
                  <a:pt x="109792" y="54694"/>
                  <a:pt x="109823" y="59407"/>
                  <a:pt x="106908" y="62291"/>
                </a:cubicBezTo>
                <a:lnTo>
                  <a:pt x="89855" y="79344"/>
                </a:lnTo>
                <a:lnTo>
                  <a:pt x="106908" y="96397"/>
                </a:lnTo>
                <a:cubicBezTo>
                  <a:pt x="109823" y="99312"/>
                  <a:pt x="109823" y="104025"/>
                  <a:pt x="106908" y="106908"/>
                </a:cubicBezTo>
                <a:cubicBezTo>
                  <a:pt x="103994" y="109792"/>
                  <a:pt x="99281" y="109823"/>
                  <a:pt x="96397" y="106908"/>
                </a:cubicBezTo>
                <a:lnTo>
                  <a:pt x="79344" y="89855"/>
                </a:lnTo>
                <a:lnTo>
                  <a:pt x="62291" y="106908"/>
                </a:lnTo>
                <a:cubicBezTo>
                  <a:pt x="59376" y="109823"/>
                  <a:pt x="54663" y="109823"/>
                  <a:pt x="51780" y="106908"/>
                </a:cubicBezTo>
                <a:cubicBezTo>
                  <a:pt x="48896" y="103994"/>
                  <a:pt x="48865" y="99281"/>
                  <a:pt x="51780" y="96397"/>
                </a:cubicBezTo>
                <a:lnTo>
                  <a:pt x="68833" y="79344"/>
                </a:lnTo>
                <a:lnTo>
                  <a:pt x="51780" y="62291"/>
                </a:lnTo>
                <a:cubicBezTo>
                  <a:pt x="48865" y="59376"/>
                  <a:pt x="48865" y="54663"/>
                  <a:pt x="51780" y="51780"/>
                </a:cubicBezTo>
                <a:close/>
              </a:path>
            </a:pathLst>
          </a:custGeom>
          <a:solidFill>
            <a:srgbClr val="C10007"/>
          </a:solidFill>
          <a:ln/>
        </p:spPr>
      </p:sp>
      <p:sp>
        <p:nvSpPr>
          <p:cNvPr id="8" name="Text 6"/>
          <p:cNvSpPr/>
          <p:nvPr/>
        </p:nvSpPr>
        <p:spPr>
          <a:xfrm>
            <a:off x="746125" y="1301750"/>
            <a:ext cx="5175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1000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Myth: "Humanizer" Tools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3875" y="16827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1083" y="102319"/>
                </a:moveTo>
                <a:lnTo>
                  <a:pt x="24681" y="35917"/>
                </a:lnTo>
                <a:cubicBezTo>
                  <a:pt x="19124" y="43706"/>
                  <a:pt x="15875" y="53231"/>
                  <a:pt x="15875" y="63500"/>
                </a:cubicBezTo>
                <a:cubicBezTo>
                  <a:pt x="15875" y="89793"/>
                  <a:pt x="37207" y="111125"/>
                  <a:pt x="63500" y="111125"/>
                </a:cubicBezTo>
                <a:cubicBezTo>
                  <a:pt x="73794" y="111125"/>
                  <a:pt x="83319" y="107876"/>
                  <a:pt x="91083" y="102319"/>
                </a:cubicBezTo>
                <a:close/>
                <a:moveTo>
                  <a:pt x="102319" y="91083"/>
                </a:moveTo>
                <a:cubicBezTo>
                  <a:pt x="107876" y="83294"/>
                  <a:pt x="111125" y="73769"/>
                  <a:pt x="111125" y="63500"/>
                </a:cubicBezTo>
                <a:cubicBezTo>
                  <a:pt x="111125" y="37207"/>
                  <a:pt x="89793" y="15875"/>
                  <a:pt x="63500" y="15875"/>
                </a:cubicBezTo>
                <a:cubicBezTo>
                  <a:pt x="53206" y="15875"/>
                  <a:pt x="43681" y="19124"/>
                  <a:pt x="35917" y="24681"/>
                </a:cubicBezTo>
                <a:lnTo>
                  <a:pt x="102319" y="91083"/>
                </a:lnTo>
                <a:close/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0" name="Text 8"/>
          <p:cNvSpPr/>
          <p:nvPr/>
        </p:nvSpPr>
        <p:spPr>
          <a:xfrm>
            <a:off x="730250" y="1651000"/>
            <a:ext cx="315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Tools marketed as "AI humanizers" or "bypass detectors"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3875" y="1968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1083" y="102319"/>
                </a:moveTo>
                <a:lnTo>
                  <a:pt x="24681" y="35917"/>
                </a:lnTo>
                <a:cubicBezTo>
                  <a:pt x="19124" y="43706"/>
                  <a:pt x="15875" y="53231"/>
                  <a:pt x="15875" y="63500"/>
                </a:cubicBezTo>
                <a:cubicBezTo>
                  <a:pt x="15875" y="89793"/>
                  <a:pt x="37207" y="111125"/>
                  <a:pt x="63500" y="111125"/>
                </a:cubicBezTo>
                <a:cubicBezTo>
                  <a:pt x="73794" y="111125"/>
                  <a:pt x="83319" y="107876"/>
                  <a:pt x="91083" y="102319"/>
                </a:cubicBezTo>
                <a:close/>
                <a:moveTo>
                  <a:pt x="102319" y="91083"/>
                </a:moveTo>
                <a:cubicBezTo>
                  <a:pt x="107876" y="83294"/>
                  <a:pt x="111125" y="73769"/>
                  <a:pt x="111125" y="63500"/>
                </a:cubicBezTo>
                <a:cubicBezTo>
                  <a:pt x="111125" y="37207"/>
                  <a:pt x="89793" y="15875"/>
                  <a:pt x="63500" y="15875"/>
                </a:cubicBezTo>
                <a:cubicBezTo>
                  <a:pt x="53206" y="15875"/>
                  <a:pt x="43681" y="19124"/>
                  <a:pt x="35917" y="24681"/>
                </a:cubicBezTo>
                <a:lnTo>
                  <a:pt x="102319" y="91083"/>
                </a:lnTo>
                <a:close/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2" name="Text 10"/>
          <p:cNvSpPr/>
          <p:nvPr/>
        </p:nvSpPr>
        <p:spPr>
          <a:xfrm>
            <a:off x="730250" y="1936750"/>
            <a:ext cx="2071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Claim to make AI text "undetectable"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3875" y="22542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1083" y="102319"/>
                </a:moveTo>
                <a:lnTo>
                  <a:pt x="24681" y="35917"/>
                </a:lnTo>
                <a:cubicBezTo>
                  <a:pt x="19124" y="43706"/>
                  <a:pt x="15875" y="53231"/>
                  <a:pt x="15875" y="63500"/>
                </a:cubicBezTo>
                <a:cubicBezTo>
                  <a:pt x="15875" y="89793"/>
                  <a:pt x="37207" y="111125"/>
                  <a:pt x="63500" y="111125"/>
                </a:cubicBezTo>
                <a:cubicBezTo>
                  <a:pt x="73794" y="111125"/>
                  <a:pt x="83319" y="107876"/>
                  <a:pt x="91083" y="102319"/>
                </a:cubicBezTo>
                <a:close/>
                <a:moveTo>
                  <a:pt x="102319" y="91083"/>
                </a:moveTo>
                <a:cubicBezTo>
                  <a:pt x="107876" y="83294"/>
                  <a:pt x="111125" y="73769"/>
                  <a:pt x="111125" y="63500"/>
                </a:cubicBezTo>
                <a:cubicBezTo>
                  <a:pt x="111125" y="37207"/>
                  <a:pt x="89793" y="15875"/>
                  <a:pt x="63500" y="15875"/>
                </a:cubicBezTo>
                <a:cubicBezTo>
                  <a:pt x="53206" y="15875"/>
                  <a:pt x="43681" y="19124"/>
                  <a:pt x="35917" y="24681"/>
                </a:cubicBezTo>
                <a:lnTo>
                  <a:pt x="102319" y="91083"/>
                </a:lnTo>
                <a:close/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4" name="Text 12"/>
          <p:cNvSpPr/>
          <p:nvPr/>
        </p:nvSpPr>
        <p:spPr>
          <a:xfrm>
            <a:off x="730250" y="2222500"/>
            <a:ext cx="1960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Promise to help you "beat" Turnitin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3875" y="25400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1083" y="102319"/>
                </a:moveTo>
                <a:lnTo>
                  <a:pt x="24681" y="35917"/>
                </a:lnTo>
                <a:cubicBezTo>
                  <a:pt x="19124" y="43706"/>
                  <a:pt x="15875" y="53231"/>
                  <a:pt x="15875" y="63500"/>
                </a:cubicBezTo>
                <a:cubicBezTo>
                  <a:pt x="15875" y="89793"/>
                  <a:pt x="37207" y="111125"/>
                  <a:pt x="63500" y="111125"/>
                </a:cubicBezTo>
                <a:cubicBezTo>
                  <a:pt x="73794" y="111125"/>
                  <a:pt x="83319" y="107876"/>
                  <a:pt x="91083" y="102319"/>
                </a:cubicBezTo>
                <a:close/>
                <a:moveTo>
                  <a:pt x="102319" y="91083"/>
                </a:moveTo>
                <a:cubicBezTo>
                  <a:pt x="107876" y="83294"/>
                  <a:pt x="111125" y="73769"/>
                  <a:pt x="111125" y="63500"/>
                </a:cubicBezTo>
                <a:cubicBezTo>
                  <a:pt x="111125" y="37207"/>
                  <a:pt x="89793" y="15875"/>
                  <a:pt x="63500" y="15875"/>
                </a:cubicBezTo>
                <a:cubicBezTo>
                  <a:pt x="53206" y="15875"/>
                  <a:pt x="43681" y="19124"/>
                  <a:pt x="35917" y="24681"/>
                </a:cubicBezTo>
                <a:lnTo>
                  <a:pt x="102319" y="91083"/>
                </a:lnTo>
                <a:close/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6" name="Text 14"/>
          <p:cNvSpPr/>
          <p:nvPr/>
        </p:nvSpPr>
        <p:spPr>
          <a:xfrm>
            <a:off x="730250" y="2508250"/>
            <a:ext cx="2389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Advertise "100% human score" guarantees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17500" y="2984500"/>
            <a:ext cx="5683250" cy="1587500"/>
          </a:xfrm>
          <a:custGeom>
            <a:avLst/>
            <a:gdLst/>
            <a:ahLst/>
            <a:cxnLst/>
            <a:rect l="l" t="t" r="r" b="b"/>
            <a:pathLst>
              <a:path w="5683250" h="1587500">
                <a:moveTo>
                  <a:pt x="63500" y="0"/>
                </a:moveTo>
                <a:lnTo>
                  <a:pt x="5619750" y="0"/>
                </a:lnTo>
                <a:cubicBezTo>
                  <a:pt x="5654797" y="0"/>
                  <a:pt x="5683250" y="28453"/>
                  <a:pt x="5683250" y="63500"/>
                </a:cubicBezTo>
                <a:lnTo>
                  <a:pt x="5683250" y="1524000"/>
                </a:lnTo>
                <a:cubicBezTo>
                  <a:pt x="5683250" y="1559047"/>
                  <a:pt x="5654797" y="1587500"/>
                  <a:pt x="5619750" y="1587500"/>
                </a:cubicBezTo>
                <a:lnTo>
                  <a:pt x="63500" y="1587500"/>
                </a:lnTo>
                <a:cubicBezTo>
                  <a:pt x="28453" y="1587500"/>
                  <a:pt x="0" y="1559047"/>
                  <a:pt x="0" y="152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8B7355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96094" y="318293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75540" y="0"/>
                  <a:pt x="79307" y="2260"/>
                  <a:pt x="81260" y="5860"/>
                </a:cubicBezTo>
                <a:lnTo>
                  <a:pt x="141536" y="117481"/>
                </a:lnTo>
                <a:cubicBezTo>
                  <a:pt x="143405" y="120941"/>
                  <a:pt x="143321" y="125127"/>
                  <a:pt x="141312" y="128504"/>
                </a:cubicBezTo>
                <a:cubicBezTo>
                  <a:pt x="139303" y="131880"/>
                  <a:pt x="135648" y="133945"/>
                  <a:pt x="131713" y="133945"/>
                </a:cubicBezTo>
                <a:lnTo>
                  <a:pt x="11162" y="133945"/>
                </a:lnTo>
                <a:cubicBezTo>
                  <a:pt x="7227" y="133945"/>
                  <a:pt x="3600" y="131880"/>
                  <a:pt x="1563" y="128504"/>
                </a:cubicBezTo>
                <a:cubicBezTo>
                  <a:pt x="-474" y="125127"/>
                  <a:pt x="-530" y="120941"/>
                  <a:pt x="1339" y="117481"/>
                </a:cubicBezTo>
                <a:lnTo>
                  <a:pt x="61615" y="5860"/>
                </a:lnTo>
                <a:cubicBezTo>
                  <a:pt x="63568" y="2260"/>
                  <a:pt x="67335" y="0"/>
                  <a:pt x="71438" y="0"/>
                </a:cubicBezTo>
                <a:close/>
                <a:moveTo>
                  <a:pt x="71438" y="46881"/>
                </a:moveTo>
                <a:cubicBezTo>
                  <a:pt x="67726" y="46881"/>
                  <a:pt x="64740" y="49867"/>
                  <a:pt x="64740" y="53578"/>
                </a:cubicBezTo>
                <a:lnTo>
                  <a:pt x="64740" y="84832"/>
                </a:lnTo>
                <a:cubicBezTo>
                  <a:pt x="64740" y="88543"/>
                  <a:pt x="67726" y="91529"/>
                  <a:pt x="71438" y="91529"/>
                </a:cubicBezTo>
                <a:cubicBezTo>
                  <a:pt x="75149" y="91529"/>
                  <a:pt x="78135" y="88543"/>
                  <a:pt x="78135" y="84832"/>
                </a:cubicBezTo>
                <a:lnTo>
                  <a:pt x="78135" y="53578"/>
                </a:lnTo>
                <a:cubicBezTo>
                  <a:pt x="78135" y="49867"/>
                  <a:pt x="75149" y="46881"/>
                  <a:pt x="71438" y="46881"/>
                </a:cubicBezTo>
                <a:close/>
                <a:moveTo>
                  <a:pt x="78888" y="107156"/>
                </a:moveTo>
                <a:cubicBezTo>
                  <a:pt x="79058" y="104391"/>
                  <a:pt x="77678" y="101759"/>
                  <a:pt x="75308" y="100325"/>
                </a:cubicBezTo>
                <a:cubicBezTo>
                  <a:pt x="72937" y="98891"/>
                  <a:pt x="69966" y="98891"/>
                  <a:pt x="67595" y="100325"/>
                </a:cubicBezTo>
                <a:cubicBezTo>
                  <a:pt x="65224" y="101759"/>
                  <a:pt x="63845" y="104391"/>
                  <a:pt x="64015" y="107156"/>
                </a:cubicBezTo>
                <a:cubicBezTo>
                  <a:pt x="63845" y="109922"/>
                  <a:pt x="65224" y="112553"/>
                  <a:pt x="67595" y="113987"/>
                </a:cubicBezTo>
                <a:cubicBezTo>
                  <a:pt x="69966" y="115421"/>
                  <a:pt x="72937" y="115421"/>
                  <a:pt x="75308" y="113987"/>
                </a:cubicBezTo>
                <a:cubicBezTo>
                  <a:pt x="77678" y="112553"/>
                  <a:pt x="79058" y="109922"/>
                  <a:pt x="78888" y="107156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19" name="Text 17"/>
          <p:cNvSpPr/>
          <p:nvPr/>
        </p:nvSpPr>
        <p:spPr>
          <a:xfrm>
            <a:off x="698500" y="3143250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8B73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These Tools Fail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8000" y="349250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13667" y="18207"/>
                </a:moveTo>
                <a:cubicBezTo>
                  <a:pt x="10567" y="15106"/>
                  <a:pt x="5531" y="15106"/>
                  <a:pt x="2431" y="18207"/>
                </a:cubicBezTo>
                <a:cubicBezTo>
                  <a:pt x="-670" y="21307"/>
                  <a:pt x="-670" y="26343"/>
                  <a:pt x="2431" y="29443"/>
                </a:cubicBezTo>
                <a:lnTo>
                  <a:pt x="36513" y="63500"/>
                </a:lnTo>
                <a:lnTo>
                  <a:pt x="2456" y="97582"/>
                </a:lnTo>
                <a:cubicBezTo>
                  <a:pt x="-645" y="100682"/>
                  <a:pt x="-645" y="105718"/>
                  <a:pt x="2456" y="108818"/>
                </a:cubicBezTo>
                <a:cubicBezTo>
                  <a:pt x="5556" y="111919"/>
                  <a:pt x="10592" y="111919"/>
                  <a:pt x="13692" y="108818"/>
                </a:cubicBezTo>
                <a:lnTo>
                  <a:pt x="47749" y="74737"/>
                </a:lnTo>
                <a:lnTo>
                  <a:pt x="81831" y="108793"/>
                </a:lnTo>
                <a:cubicBezTo>
                  <a:pt x="84931" y="111894"/>
                  <a:pt x="89967" y="111894"/>
                  <a:pt x="93067" y="108793"/>
                </a:cubicBezTo>
                <a:cubicBezTo>
                  <a:pt x="96168" y="105693"/>
                  <a:pt x="96168" y="100657"/>
                  <a:pt x="93067" y="97557"/>
                </a:cubicBezTo>
                <a:lnTo>
                  <a:pt x="58986" y="63500"/>
                </a:lnTo>
                <a:lnTo>
                  <a:pt x="93042" y="29418"/>
                </a:lnTo>
                <a:cubicBezTo>
                  <a:pt x="96143" y="26318"/>
                  <a:pt x="96143" y="21282"/>
                  <a:pt x="93042" y="18182"/>
                </a:cubicBezTo>
                <a:cubicBezTo>
                  <a:pt x="89942" y="15081"/>
                  <a:pt x="84906" y="15081"/>
                  <a:pt x="81806" y="18182"/>
                </a:cubicBezTo>
                <a:lnTo>
                  <a:pt x="47749" y="52263"/>
                </a:lnTo>
                <a:lnTo>
                  <a:pt x="13667" y="18207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21" name="Text 19"/>
          <p:cNvSpPr/>
          <p:nvPr/>
        </p:nvSpPr>
        <p:spPr>
          <a:xfrm>
            <a:off x="698500" y="3460750"/>
            <a:ext cx="2198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algorithms constantly evolve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8000" y="374650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13667" y="18207"/>
                </a:moveTo>
                <a:cubicBezTo>
                  <a:pt x="10567" y="15106"/>
                  <a:pt x="5531" y="15106"/>
                  <a:pt x="2431" y="18207"/>
                </a:cubicBezTo>
                <a:cubicBezTo>
                  <a:pt x="-670" y="21307"/>
                  <a:pt x="-670" y="26343"/>
                  <a:pt x="2431" y="29443"/>
                </a:cubicBezTo>
                <a:lnTo>
                  <a:pt x="36513" y="63500"/>
                </a:lnTo>
                <a:lnTo>
                  <a:pt x="2456" y="97582"/>
                </a:lnTo>
                <a:cubicBezTo>
                  <a:pt x="-645" y="100682"/>
                  <a:pt x="-645" y="105718"/>
                  <a:pt x="2456" y="108818"/>
                </a:cubicBezTo>
                <a:cubicBezTo>
                  <a:pt x="5556" y="111919"/>
                  <a:pt x="10592" y="111919"/>
                  <a:pt x="13692" y="108818"/>
                </a:cubicBezTo>
                <a:lnTo>
                  <a:pt x="47749" y="74737"/>
                </a:lnTo>
                <a:lnTo>
                  <a:pt x="81831" y="108793"/>
                </a:lnTo>
                <a:cubicBezTo>
                  <a:pt x="84931" y="111894"/>
                  <a:pt x="89967" y="111894"/>
                  <a:pt x="93067" y="108793"/>
                </a:cubicBezTo>
                <a:cubicBezTo>
                  <a:pt x="96168" y="105693"/>
                  <a:pt x="96168" y="100657"/>
                  <a:pt x="93067" y="97557"/>
                </a:cubicBezTo>
                <a:lnTo>
                  <a:pt x="58986" y="63500"/>
                </a:lnTo>
                <a:lnTo>
                  <a:pt x="93042" y="29418"/>
                </a:lnTo>
                <a:cubicBezTo>
                  <a:pt x="96143" y="26318"/>
                  <a:pt x="96143" y="21282"/>
                  <a:pt x="93042" y="18182"/>
                </a:cubicBezTo>
                <a:cubicBezTo>
                  <a:pt x="89942" y="15081"/>
                  <a:pt x="84906" y="15081"/>
                  <a:pt x="81806" y="18182"/>
                </a:cubicBezTo>
                <a:lnTo>
                  <a:pt x="47749" y="52263"/>
                </a:lnTo>
                <a:lnTo>
                  <a:pt x="13667" y="18207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23" name="Text 21"/>
          <p:cNvSpPr/>
          <p:nvPr/>
        </p:nvSpPr>
        <p:spPr>
          <a:xfrm>
            <a:off x="698500" y="3714750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"Undetectable" claims are wildly inconsistent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8000" y="400050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13667" y="18207"/>
                </a:moveTo>
                <a:cubicBezTo>
                  <a:pt x="10567" y="15106"/>
                  <a:pt x="5531" y="15106"/>
                  <a:pt x="2431" y="18207"/>
                </a:cubicBezTo>
                <a:cubicBezTo>
                  <a:pt x="-670" y="21307"/>
                  <a:pt x="-670" y="26343"/>
                  <a:pt x="2431" y="29443"/>
                </a:cubicBezTo>
                <a:lnTo>
                  <a:pt x="36513" y="63500"/>
                </a:lnTo>
                <a:lnTo>
                  <a:pt x="2456" y="97582"/>
                </a:lnTo>
                <a:cubicBezTo>
                  <a:pt x="-645" y="100682"/>
                  <a:pt x="-645" y="105718"/>
                  <a:pt x="2456" y="108818"/>
                </a:cubicBezTo>
                <a:cubicBezTo>
                  <a:pt x="5556" y="111919"/>
                  <a:pt x="10592" y="111919"/>
                  <a:pt x="13692" y="108818"/>
                </a:cubicBezTo>
                <a:lnTo>
                  <a:pt x="47749" y="74737"/>
                </a:lnTo>
                <a:lnTo>
                  <a:pt x="81831" y="108793"/>
                </a:lnTo>
                <a:cubicBezTo>
                  <a:pt x="84931" y="111894"/>
                  <a:pt x="89967" y="111894"/>
                  <a:pt x="93067" y="108793"/>
                </a:cubicBezTo>
                <a:cubicBezTo>
                  <a:pt x="96168" y="105693"/>
                  <a:pt x="96168" y="100657"/>
                  <a:pt x="93067" y="97557"/>
                </a:cubicBezTo>
                <a:lnTo>
                  <a:pt x="58986" y="63500"/>
                </a:lnTo>
                <a:lnTo>
                  <a:pt x="93042" y="29418"/>
                </a:lnTo>
                <a:cubicBezTo>
                  <a:pt x="96143" y="26318"/>
                  <a:pt x="96143" y="21282"/>
                  <a:pt x="93042" y="18182"/>
                </a:cubicBezTo>
                <a:cubicBezTo>
                  <a:pt x="89942" y="15081"/>
                  <a:pt x="84906" y="15081"/>
                  <a:pt x="81806" y="18182"/>
                </a:cubicBezTo>
                <a:lnTo>
                  <a:pt x="47749" y="52263"/>
                </a:lnTo>
                <a:lnTo>
                  <a:pt x="13667" y="18207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25" name="Text 23"/>
          <p:cNvSpPr/>
          <p:nvPr/>
        </p:nvSpPr>
        <p:spPr>
          <a:xfrm>
            <a:off x="698500" y="3968750"/>
            <a:ext cx="2405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Often produce awkward, unnatural writing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8000" y="425450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13667" y="18207"/>
                </a:moveTo>
                <a:cubicBezTo>
                  <a:pt x="10567" y="15106"/>
                  <a:pt x="5531" y="15106"/>
                  <a:pt x="2431" y="18207"/>
                </a:cubicBezTo>
                <a:cubicBezTo>
                  <a:pt x="-670" y="21307"/>
                  <a:pt x="-670" y="26343"/>
                  <a:pt x="2431" y="29443"/>
                </a:cubicBezTo>
                <a:lnTo>
                  <a:pt x="36513" y="63500"/>
                </a:lnTo>
                <a:lnTo>
                  <a:pt x="2456" y="97582"/>
                </a:lnTo>
                <a:cubicBezTo>
                  <a:pt x="-645" y="100682"/>
                  <a:pt x="-645" y="105718"/>
                  <a:pt x="2456" y="108818"/>
                </a:cubicBezTo>
                <a:cubicBezTo>
                  <a:pt x="5556" y="111919"/>
                  <a:pt x="10592" y="111919"/>
                  <a:pt x="13692" y="108818"/>
                </a:cubicBezTo>
                <a:lnTo>
                  <a:pt x="47749" y="74737"/>
                </a:lnTo>
                <a:lnTo>
                  <a:pt x="81831" y="108793"/>
                </a:lnTo>
                <a:cubicBezTo>
                  <a:pt x="84931" y="111894"/>
                  <a:pt x="89967" y="111894"/>
                  <a:pt x="93067" y="108793"/>
                </a:cubicBezTo>
                <a:cubicBezTo>
                  <a:pt x="96168" y="105693"/>
                  <a:pt x="96168" y="100657"/>
                  <a:pt x="93067" y="97557"/>
                </a:cubicBezTo>
                <a:lnTo>
                  <a:pt x="58986" y="63500"/>
                </a:lnTo>
                <a:lnTo>
                  <a:pt x="93042" y="29418"/>
                </a:lnTo>
                <a:cubicBezTo>
                  <a:pt x="96143" y="26318"/>
                  <a:pt x="96143" y="21282"/>
                  <a:pt x="93042" y="18182"/>
                </a:cubicBezTo>
                <a:cubicBezTo>
                  <a:pt x="89942" y="15081"/>
                  <a:pt x="84906" y="15081"/>
                  <a:pt x="81806" y="18182"/>
                </a:cubicBezTo>
                <a:lnTo>
                  <a:pt x="47749" y="52263"/>
                </a:lnTo>
                <a:lnTo>
                  <a:pt x="13667" y="18207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27" name="Text 25"/>
          <p:cNvSpPr/>
          <p:nvPr/>
        </p:nvSpPr>
        <p:spPr>
          <a:xfrm>
            <a:off x="698500" y="4222750"/>
            <a:ext cx="236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Professors can recognize artificial patterns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07125" y="1143000"/>
            <a:ext cx="5667375" cy="3175000"/>
          </a:xfrm>
          <a:custGeom>
            <a:avLst/>
            <a:gdLst/>
            <a:ahLst/>
            <a:cxnLst/>
            <a:rect l="l" t="t" r="r" b="b"/>
            <a:pathLst>
              <a:path w="5667375" h="3175000">
                <a:moveTo>
                  <a:pt x="31750" y="0"/>
                </a:moveTo>
                <a:lnTo>
                  <a:pt x="5603875" y="0"/>
                </a:lnTo>
                <a:cubicBezTo>
                  <a:pt x="5638922" y="0"/>
                  <a:pt x="5667375" y="28453"/>
                  <a:pt x="5667375" y="63500"/>
                </a:cubicBezTo>
                <a:lnTo>
                  <a:pt x="5667375" y="3111500"/>
                </a:lnTo>
                <a:cubicBezTo>
                  <a:pt x="5667375" y="3146547"/>
                  <a:pt x="5638922" y="3175000"/>
                  <a:pt x="5603875" y="3175000"/>
                </a:cubicBezTo>
                <a:lnTo>
                  <a:pt x="31750" y="3175000"/>
                </a:lnTo>
                <a:cubicBezTo>
                  <a:pt x="14227" y="3175000"/>
                  <a:pt x="0" y="3160773"/>
                  <a:pt x="0" y="314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29" name="Shape 27"/>
          <p:cNvSpPr/>
          <p:nvPr/>
        </p:nvSpPr>
        <p:spPr>
          <a:xfrm>
            <a:off x="6207125" y="1143000"/>
            <a:ext cx="31750" cy="3175000"/>
          </a:xfrm>
          <a:custGeom>
            <a:avLst/>
            <a:gdLst/>
            <a:ahLst/>
            <a:cxnLst/>
            <a:rect l="l" t="t" r="r" b="b"/>
            <a:pathLst>
              <a:path w="31750" h="3175000">
                <a:moveTo>
                  <a:pt x="31750" y="0"/>
                </a:moveTo>
                <a:lnTo>
                  <a:pt x="31750" y="0"/>
                </a:lnTo>
                <a:lnTo>
                  <a:pt x="31750" y="3175000"/>
                </a:lnTo>
                <a:lnTo>
                  <a:pt x="31750" y="3175000"/>
                </a:lnTo>
                <a:cubicBezTo>
                  <a:pt x="14227" y="3175000"/>
                  <a:pt x="0" y="3160773"/>
                  <a:pt x="0" y="314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1594" y="132953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105544" y="65949"/>
                </a:moveTo>
                <a:lnTo>
                  <a:pt x="80739" y="105637"/>
                </a:lnTo>
                <a:cubicBezTo>
                  <a:pt x="79437" y="107714"/>
                  <a:pt x="77205" y="109017"/>
                  <a:pt x="74755" y="109141"/>
                </a:cubicBezTo>
                <a:cubicBezTo>
                  <a:pt x="72306" y="109265"/>
                  <a:pt x="69949" y="108148"/>
                  <a:pt x="68492" y="106164"/>
                </a:cubicBezTo>
                <a:lnTo>
                  <a:pt x="53609" y="86320"/>
                </a:lnTo>
                <a:cubicBezTo>
                  <a:pt x="51129" y="83034"/>
                  <a:pt x="51811" y="78383"/>
                  <a:pt x="55097" y="75902"/>
                </a:cubicBezTo>
                <a:cubicBezTo>
                  <a:pt x="58384" y="73422"/>
                  <a:pt x="63035" y="74104"/>
                  <a:pt x="65515" y="77391"/>
                </a:cubicBezTo>
                <a:lnTo>
                  <a:pt x="73887" y="88553"/>
                </a:lnTo>
                <a:lnTo>
                  <a:pt x="92925" y="58074"/>
                </a:lnTo>
                <a:cubicBezTo>
                  <a:pt x="95095" y="54601"/>
                  <a:pt x="99684" y="53516"/>
                  <a:pt x="103188" y="55718"/>
                </a:cubicBezTo>
                <a:cubicBezTo>
                  <a:pt x="106691" y="57919"/>
                  <a:pt x="107745" y="62477"/>
                  <a:pt x="105544" y="65980"/>
                </a:cubicBezTo>
                <a:close/>
              </a:path>
            </a:pathLst>
          </a:custGeom>
          <a:solidFill>
            <a:srgbClr val="008236"/>
          </a:solidFill>
          <a:ln/>
        </p:spPr>
      </p:sp>
      <p:sp>
        <p:nvSpPr>
          <p:cNvPr id="31" name="Text 29"/>
          <p:cNvSpPr/>
          <p:nvPr/>
        </p:nvSpPr>
        <p:spPr>
          <a:xfrm>
            <a:off x="6619875" y="1301750"/>
            <a:ext cx="5175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82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Reality: Ethical Alternative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81750" y="1651000"/>
            <a:ext cx="539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AI as a Writing Coach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81750" y="1905000"/>
            <a:ext cx="5397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Instead of trying to hide AI use, use AI tools to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 your own writing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feedback and suggestions.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81750" y="2444750"/>
            <a:ext cx="5334000" cy="1714500"/>
          </a:xfrm>
          <a:custGeom>
            <a:avLst/>
            <a:gdLst/>
            <a:ahLst/>
            <a:cxnLst/>
            <a:rect l="l" t="t" r="r" b="b"/>
            <a:pathLst>
              <a:path w="5334000" h="1714500">
                <a:moveTo>
                  <a:pt x="63505" y="0"/>
                </a:moveTo>
                <a:lnTo>
                  <a:pt x="5270495" y="0"/>
                </a:lnTo>
                <a:cubicBezTo>
                  <a:pt x="5305568" y="0"/>
                  <a:pt x="5334000" y="28432"/>
                  <a:pt x="5334000" y="63505"/>
                </a:cubicBezTo>
                <a:lnTo>
                  <a:pt x="5334000" y="1650995"/>
                </a:lnTo>
                <a:cubicBezTo>
                  <a:pt x="5334000" y="1686068"/>
                  <a:pt x="5305568" y="1714500"/>
                  <a:pt x="5270495" y="1714500"/>
                </a:cubicBezTo>
                <a:lnTo>
                  <a:pt x="63505" y="1714500"/>
                </a:lnTo>
                <a:cubicBezTo>
                  <a:pt x="28432" y="1714500"/>
                  <a:pt x="0" y="1686068"/>
                  <a:pt x="0" y="16509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508750" y="2571750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Real Human Writing Looks Like: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08750" y="2825750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Personal insights and unique perspectives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08750" y="3079750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Varied sentence structures (high "burstiness")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08750" y="3333750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Occasional informal expressions or colloquialisms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08750" y="3587750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References to specific experiences or contexts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08750" y="3841750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Subtle inconsistencies in style (human!)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91250" y="4445000"/>
            <a:ext cx="5683250" cy="1889125"/>
          </a:xfrm>
          <a:custGeom>
            <a:avLst/>
            <a:gdLst/>
            <a:ahLst/>
            <a:cxnLst/>
            <a:rect l="l" t="t" r="r" b="b"/>
            <a:pathLst>
              <a:path w="5683250" h="1889125">
                <a:moveTo>
                  <a:pt x="63493" y="0"/>
                </a:moveTo>
                <a:lnTo>
                  <a:pt x="5619757" y="0"/>
                </a:lnTo>
                <a:cubicBezTo>
                  <a:pt x="5654823" y="0"/>
                  <a:pt x="5683250" y="28427"/>
                  <a:pt x="5683250" y="63493"/>
                </a:cubicBezTo>
                <a:lnTo>
                  <a:pt x="5683250" y="1825632"/>
                </a:lnTo>
                <a:cubicBezTo>
                  <a:pt x="5683250" y="1860698"/>
                  <a:pt x="5654823" y="1889125"/>
                  <a:pt x="5619757" y="1889125"/>
                </a:cubicBezTo>
                <a:lnTo>
                  <a:pt x="63493" y="1889125"/>
                </a:lnTo>
                <a:cubicBezTo>
                  <a:pt x="28427" y="1889125"/>
                  <a:pt x="0" y="1860698"/>
                  <a:pt x="0" y="1825632"/>
                </a:cubicBezTo>
                <a:lnTo>
                  <a:pt x="0" y="63493"/>
                </a:lnTo>
                <a:cubicBezTo>
                  <a:pt x="0" y="28427"/>
                  <a:pt x="28427" y="0"/>
                  <a:pt x="63493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42" name="Shape 40"/>
          <p:cNvSpPr/>
          <p:nvPr/>
        </p:nvSpPr>
        <p:spPr>
          <a:xfrm>
            <a:off x="6387703" y="4643438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81735" y="107156"/>
                </a:moveTo>
                <a:cubicBezTo>
                  <a:pt x="83772" y="100933"/>
                  <a:pt x="87846" y="95297"/>
                  <a:pt x="92450" y="90441"/>
                </a:cubicBezTo>
                <a:cubicBezTo>
                  <a:pt x="101575" y="80842"/>
                  <a:pt x="107156" y="67866"/>
                  <a:pt x="107156" y="53578"/>
                </a:cubicBezTo>
                <a:cubicBezTo>
                  <a:pt x="107156" y="23999"/>
                  <a:pt x="83158" y="0"/>
                  <a:pt x="53578" y="0"/>
                </a:cubicBezTo>
                <a:cubicBezTo>
                  <a:pt x="23999" y="0"/>
                  <a:pt x="0" y="23999"/>
                  <a:pt x="0" y="53578"/>
                </a:cubicBezTo>
                <a:cubicBezTo>
                  <a:pt x="0" y="67866"/>
                  <a:pt x="5581" y="80842"/>
                  <a:pt x="14706" y="90441"/>
                </a:cubicBezTo>
                <a:cubicBezTo>
                  <a:pt x="19310" y="95297"/>
                  <a:pt x="23413" y="100933"/>
                  <a:pt x="25422" y="107156"/>
                </a:cubicBezTo>
                <a:lnTo>
                  <a:pt x="81707" y="107156"/>
                </a:lnTo>
                <a:close/>
                <a:moveTo>
                  <a:pt x="80367" y="120551"/>
                </a:moveTo>
                <a:lnTo>
                  <a:pt x="26789" y="120551"/>
                </a:lnTo>
                <a:lnTo>
                  <a:pt x="26789" y="125016"/>
                </a:lnTo>
                <a:cubicBezTo>
                  <a:pt x="26789" y="137350"/>
                  <a:pt x="36779" y="147340"/>
                  <a:pt x="49113" y="147340"/>
                </a:cubicBezTo>
                <a:lnTo>
                  <a:pt x="58043" y="147340"/>
                </a:lnTo>
                <a:cubicBezTo>
                  <a:pt x="70377" y="147340"/>
                  <a:pt x="80367" y="137350"/>
                  <a:pt x="80367" y="125016"/>
                </a:cubicBezTo>
                <a:lnTo>
                  <a:pt x="80367" y="120551"/>
                </a:lnTo>
                <a:close/>
                <a:moveTo>
                  <a:pt x="51346" y="31254"/>
                </a:moveTo>
                <a:cubicBezTo>
                  <a:pt x="40239" y="31254"/>
                  <a:pt x="31254" y="40239"/>
                  <a:pt x="31254" y="51346"/>
                </a:cubicBezTo>
                <a:cubicBezTo>
                  <a:pt x="31254" y="55057"/>
                  <a:pt x="28268" y="58043"/>
                  <a:pt x="24557" y="58043"/>
                </a:cubicBezTo>
                <a:cubicBezTo>
                  <a:pt x="20845" y="58043"/>
                  <a:pt x="17859" y="55057"/>
                  <a:pt x="17859" y="51346"/>
                </a:cubicBezTo>
                <a:cubicBezTo>
                  <a:pt x="17859" y="32845"/>
                  <a:pt x="32845" y="17859"/>
                  <a:pt x="51346" y="17859"/>
                </a:cubicBezTo>
                <a:cubicBezTo>
                  <a:pt x="55057" y="17859"/>
                  <a:pt x="58043" y="20845"/>
                  <a:pt x="58043" y="24557"/>
                </a:cubicBezTo>
                <a:cubicBezTo>
                  <a:pt x="58043" y="28268"/>
                  <a:pt x="55057" y="31254"/>
                  <a:pt x="51346" y="31254"/>
                </a:cubicBezTo>
                <a:close/>
              </a:path>
            </a:pathLst>
          </a:custGeom>
          <a:solidFill>
            <a:srgbClr val="FAF8F3"/>
          </a:solidFill>
          <a:ln/>
        </p:spPr>
      </p:sp>
      <p:sp>
        <p:nvSpPr>
          <p:cNvPr id="43" name="Text 41"/>
          <p:cNvSpPr/>
          <p:nvPr/>
        </p:nvSpPr>
        <p:spPr>
          <a:xfrm>
            <a:off x="6572250" y="4603750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Honest Path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50000" y="4921250"/>
            <a:ext cx="5429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Rather than trying to "humanize" AI-generated content, focus on: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50000" y="5222875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Writing your own drafts first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50000" y="5476875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AI for feedback and improvement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50000" y="5730875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Making revisions yourself (learning!)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50000" y="5984875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Being transparent about AI assistance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21469" y="6465094"/>
            <a:ext cx="11549063" cy="674688"/>
          </a:xfrm>
          <a:custGeom>
            <a:avLst/>
            <a:gdLst/>
            <a:ahLst/>
            <a:cxnLst/>
            <a:rect l="l" t="t" r="r" b="b"/>
            <a:pathLst>
              <a:path w="11549063" h="674688">
                <a:moveTo>
                  <a:pt x="63502" y="0"/>
                </a:moveTo>
                <a:lnTo>
                  <a:pt x="11485561" y="0"/>
                </a:lnTo>
                <a:cubicBezTo>
                  <a:pt x="11520632" y="0"/>
                  <a:pt x="11549063" y="28431"/>
                  <a:pt x="11549063" y="63502"/>
                </a:cubicBezTo>
                <a:lnTo>
                  <a:pt x="11549063" y="611186"/>
                </a:lnTo>
                <a:cubicBezTo>
                  <a:pt x="11549062" y="646257"/>
                  <a:pt x="11520632" y="674688"/>
                  <a:pt x="11485561" y="674688"/>
                </a:cubicBezTo>
                <a:lnTo>
                  <a:pt x="63502" y="674688"/>
                </a:lnTo>
                <a:cubicBezTo>
                  <a:pt x="28431" y="674688"/>
                  <a:pt x="0" y="646257"/>
                  <a:pt x="0" y="6111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E2E2"/>
          </a:solidFill>
          <a:ln w="12700">
            <a:solidFill>
              <a:srgbClr val="FFA2A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8547" y="662781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52586" y="47563"/>
                </a:moveTo>
                <a:lnTo>
                  <a:pt x="46788" y="41765"/>
                </a:lnTo>
                <a:cubicBezTo>
                  <a:pt x="42912" y="37889"/>
                  <a:pt x="42912" y="31595"/>
                  <a:pt x="46788" y="27719"/>
                </a:cubicBezTo>
                <a:lnTo>
                  <a:pt x="82352" y="-7875"/>
                </a:lnTo>
                <a:cubicBezTo>
                  <a:pt x="86227" y="-11751"/>
                  <a:pt x="92521" y="-11751"/>
                  <a:pt x="96397" y="-7875"/>
                </a:cubicBezTo>
                <a:lnTo>
                  <a:pt x="102195" y="-2046"/>
                </a:lnTo>
                <a:cubicBezTo>
                  <a:pt x="106071" y="1829"/>
                  <a:pt x="106071" y="8124"/>
                  <a:pt x="102195" y="11999"/>
                </a:cubicBezTo>
                <a:lnTo>
                  <a:pt x="66632" y="47563"/>
                </a:lnTo>
                <a:cubicBezTo>
                  <a:pt x="62756" y="51439"/>
                  <a:pt x="56462" y="51439"/>
                  <a:pt x="52586" y="47563"/>
                </a:cubicBezTo>
                <a:close/>
                <a:moveTo>
                  <a:pt x="85576" y="65639"/>
                </a:moveTo>
                <a:lnTo>
                  <a:pt x="75840" y="55904"/>
                </a:lnTo>
                <a:lnTo>
                  <a:pt x="110567" y="21177"/>
                </a:lnTo>
                <a:lnTo>
                  <a:pt x="147588" y="58198"/>
                </a:lnTo>
                <a:lnTo>
                  <a:pt x="112861" y="92925"/>
                </a:lnTo>
                <a:lnTo>
                  <a:pt x="103125" y="83189"/>
                </a:lnTo>
                <a:lnTo>
                  <a:pt x="31192" y="155122"/>
                </a:lnTo>
                <a:cubicBezTo>
                  <a:pt x="26355" y="159959"/>
                  <a:pt x="18510" y="159959"/>
                  <a:pt x="13643" y="155122"/>
                </a:cubicBezTo>
                <a:cubicBezTo>
                  <a:pt x="8775" y="150285"/>
                  <a:pt x="8806" y="142441"/>
                  <a:pt x="13643" y="137573"/>
                </a:cubicBezTo>
                <a:lnTo>
                  <a:pt x="85576" y="65639"/>
                </a:lnTo>
                <a:close/>
                <a:moveTo>
                  <a:pt x="121202" y="116148"/>
                </a:moveTo>
                <a:cubicBezTo>
                  <a:pt x="117326" y="112272"/>
                  <a:pt x="117326" y="105978"/>
                  <a:pt x="121202" y="102102"/>
                </a:cubicBezTo>
                <a:lnTo>
                  <a:pt x="156766" y="66539"/>
                </a:lnTo>
                <a:cubicBezTo>
                  <a:pt x="160641" y="62663"/>
                  <a:pt x="166936" y="62663"/>
                  <a:pt x="170811" y="66539"/>
                </a:cubicBezTo>
                <a:lnTo>
                  <a:pt x="176609" y="72337"/>
                </a:lnTo>
                <a:cubicBezTo>
                  <a:pt x="180485" y="76212"/>
                  <a:pt x="180485" y="82507"/>
                  <a:pt x="176609" y="86382"/>
                </a:cubicBezTo>
                <a:lnTo>
                  <a:pt x="141046" y="121977"/>
                </a:lnTo>
                <a:cubicBezTo>
                  <a:pt x="137170" y="125853"/>
                  <a:pt x="130876" y="125853"/>
                  <a:pt x="127000" y="121977"/>
                </a:cubicBezTo>
                <a:lnTo>
                  <a:pt x="121202" y="116179"/>
                </a:ln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51" name="Text 49"/>
          <p:cNvSpPr/>
          <p:nvPr/>
        </p:nvSpPr>
        <p:spPr>
          <a:xfrm>
            <a:off x="695151" y="6596063"/>
            <a:ext cx="1110456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9F07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Integrity Warning: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9F07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"humanizer" tools to disguise AI-generated content and submit it as your own work constitutes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9F07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dishonesty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9F07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potential consequences—failing courses, academic probation, expulsion—far outweigh any perceived time savings.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21469" y="7274719"/>
            <a:ext cx="1524000" cy="269875"/>
          </a:xfrm>
          <a:custGeom>
            <a:avLst/>
            <a:gdLst/>
            <a:ahLst/>
            <a:cxnLst/>
            <a:rect l="l" t="t" r="r" b="b"/>
            <a:pathLst>
              <a:path w="1524000" h="269875">
                <a:moveTo>
                  <a:pt x="0" y="0"/>
                </a:moveTo>
                <a:lnTo>
                  <a:pt x="1524000" y="0"/>
                </a:lnTo>
                <a:lnTo>
                  <a:pt x="1524000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90196"/>
            </a:srgbClr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7500" y="7270750"/>
            <a:ext cx="1563688" cy="261937"/>
          </a:xfrm>
          <a:prstGeom prst="rect">
            <a:avLst/>
          </a:prstGeom>
          <a:noFill/>
          <a:ln/>
        </p:spPr>
        <p:txBody>
          <a:bodyPr wrap="square" lIns="95250" tIns="63500" rIns="95250" bIns="63500" rtlCol="0" anchor="ctr"/>
          <a:lstStyle/>
          <a:p>
            <a:pPr>
              <a:lnSpc>
                <a:spcPct val="120000"/>
              </a:lnSpc>
            </a:pPr>
            <a:r>
              <a:rPr lang="en-US" sz="75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Reality • Myth Debunking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038271" y="7330839"/>
            <a:ext cx="1889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Remember: Transparency &gt; Deception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efaa052e73dee578149de6b970e8d8a31a4693d2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1444" r="1444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8B735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452563"/>
            <a:ext cx="1447800" cy="342900"/>
          </a:xfrm>
          <a:custGeom>
            <a:avLst/>
            <a:gdLst/>
            <a:ahLst/>
            <a:cxnLst/>
            <a:rect l="l" t="t" r="r" b="b"/>
            <a:pathLst>
              <a:path w="1447800" h="342900">
                <a:moveTo>
                  <a:pt x="0" y="0"/>
                </a:moveTo>
                <a:lnTo>
                  <a:pt x="1447800" y="0"/>
                </a:lnTo>
                <a:lnTo>
                  <a:pt x="14478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1452563"/>
            <a:ext cx="1514475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Three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24062"/>
            <a:ext cx="6438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Writing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Integrity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96716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310063"/>
            <a:ext cx="6210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practices for ethical AI integration in your writing process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9575" y="51577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66762" y="12100"/>
                </a:moveTo>
                <a:cubicBezTo>
                  <a:pt x="173459" y="4420"/>
                  <a:pt x="183148" y="0"/>
                  <a:pt x="193372" y="0"/>
                </a:cubicBezTo>
                <a:cubicBezTo>
                  <a:pt x="212839" y="0"/>
                  <a:pt x="228645" y="15806"/>
                  <a:pt x="228645" y="35272"/>
                </a:cubicBezTo>
                <a:cubicBezTo>
                  <a:pt x="228645" y="45452"/>
                  <a:pt x="224224" y="55185"/>
                  <a:pt x="216545" y="61883"/>
                </a:cubicBezTo>
                <a:lnTo>
                  <a:pt x="126668" y="140107"/>
                </a:lnTo>
                <a:lnTo>
                  <a:pt x="121890" y="135285"/>
                </a:lnTo>
                <a:lnTo>
                  <a:pt x="93315" y="106710"/>
                </a:lnTo>
                <a:lnTo>
                  <a:pt x="88493" y="101932"/>
                </a:lnTo>
                <a:lnTo>
                  <a:pt x="166762" y="12100"/>
                </a:lnTo>
                <a:close/>
                <a:moveTo>
                  <a:pt x="71929" y="115639"/>
                </a:moveTo>
                <a:cubicBezTo>
                  <a:pt x="72330" y="116086"/>
                  <a:pt x="83939" y="127695"/>
                  <a:pt x="106710" y="150465"/>
                </a:cubicBezTo>
                <a:lnTo>
                  <a:pt x="112916" y="156671"/>
                </a:lnTo>
                <a:lnTo>
                  <a:pt x="105281" y="189801"/>
                </a:lnTo>
                <a:cubicBezTo>
                  <a:pt x="103540" y="197435"/>
                  <a:pt x="97735" y="203508"/>
                  <a:pt x="90190" y="205606"/>
                </a:cubicBezTo>
                <a:lnTo>
                  <a:pt x="14377" y="226814"/>
                </a:lnTo>
                <a:lnTo>
                  <a:pt x="55587" y="185604"/>
                </a:lnTo>
                <a:cubicBezTo>
                  <a:pt x="56123" y="185648"/>
                  <a:pt x="56614" y="185693"/>
                  <a:pt x="57150" y="185693"/>
                </a:cubicBezTo>
                <a:cubicBezTo>
                  <a:pt x="65053" y="185693"/>
                  <a:pt x="71438" y="179308"/>
                  <a:pt x="71438" y="171405"/>
                </a:cubicBezTo>
                <a:cubicBezTo>
                  <a:pt x="71438" y="163503"/>
                  <a:pt x="65053" y="157118"/>
                  <a:pt x="57150" y="157118"/>
                </a:cubicBezTo>
                <a:cubicBezTo>
                  <a:pt x="49247" y="157118"/>
                  <a:pt x="42863" y="163503"/>
                  <a:pt x="42863" y="171405"/>
                </a:cubicBezTo>
                <a:cubicBezTo>
                  <a:pt x="42863" y="171941"/>
                  <a:pt x="42907" y="172477"/>
                  <a:pt x="42952" y="172968"/>
                </a:cubicBezTo>
                <a:lnTo>
                  <a:pt x="1741" y="214223"/>
                </a:lnTo>
                <a:lnTo>
                  <a:pt x="22994" y="138410"/>
                </a:lnTo>
                <a:cubicBezTo>
                  <a:pt x="25092" y="130865"/>
                  <a:pt x="31165" y="125060"/>
                  <a:pt x="38799" y="123319"/>
                </a:cubicBezTo>
                <a:lnTo>
                  <a:pt x="71929" y="115639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10" name="Text 7"/>
          <p:cNvSpPr/>
          <p:nvPr/>
        </p:nvSpPr>
        <p:spPr>
          <a:xfrm>
            <a:off x="781050" y="5138738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Practices • Practical Guidelines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spc="88" kern="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Framework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Ethical Spectrum: What's Allowed vs Prohibited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5250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" name="Shape 3"/>
          <p:cNvSpPr/>
          <p:nvPr/>
        </p:nvSpPr>
        <p:spPr>
          <a:xfrm>
            <a:off x="321469" y="1146969"/>
            <a:ext cx="6810375" cy="6103938"/>
          </a:xfrm>
          <a:custGeom>
            <a:avLst/>
            <a:gdLst/>
            <a:ahLst/>
            <a:cxnLst/>
            <a:rect l="l" t="t" r="r" b="b"/>
            <a:pathLst>
              <a:path w="6810375" h="6103938">
                <a:moveTo>
                  <a:pt x="63481" y="0"/>
                </a:moveTo>
                <a:lnTo>
                  <a:pt x="6746894" y="0"/>
                </a:lnTo>
                <a:cubicBezTo>
                  <a:pt x="6781954" y="0"/>
                  <a:pt x="6810375" y="28421"/>
                  <a:pt x="6810375" y="63481"/>
                </a:cubicBezTo>
                <a:lnTo>
                  <a:pt x="6810375" y="6040457"/>
                </a:lnTo>
                <a:cubicBezTo>
                  <a:pt x="6810375" y="6075516"/>
                  <a:pt x="6781954" y="6103938"/>
                  <a:pt x="6746894" y="6103938"/>
                </a:cubicBezTo>
                <a:lnTo>
                  <a:pt x="63481" y="6103938"/>
                </a:lnTo>
                <a:cubicBezTo>
                  <a:pt x="28421" y="6103938"/>
                  <a:pt x="0" y="6075516"/>
                  <a:pt x="0" y="6040457"/>
                </a:cubicBezTo>
                <a:lnTo>
                  <a:pt x="0" y="63481"/>
                </a:lnTo>
                <a:cubicBezTo>
                  <a:pt x="0" y="28445"/>
                  <a:pt x="28445" y="0"/>
                  <a:pt x="63481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187" y="1309688"/>
            <a:ext cx="6564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Use Spectrum in Academic Writing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0063" y="1658938"/>
            <a:ext cx="6469063" cy="1397000"/>
          </a:xfrm>
          <a:custGeom>
            <a:avLst/>
            <a:gdLst/>
            <a:ahLst/>
            <a:cxnLst/>
            <a:rect l="l" t="t" r="r" b="b"/>
            <a:pathLst>
              <a:path w="6469063" h="1397000">
                <a:moveTo>
                  <a:pt x="31750" y="0"/>
                </a:moveTo>
                <a:lnTo>
                  <a:pt x="6405569" y="0"/>
                </a:lnTo>
                <a:cubicBezTo>
                  <a:pt x="6440635" y="0"/>
                  <a:pt x="6469063" y="28427"/>
                  <a:pt x="6469063" y="63494"/>
                </a:cubicBezTo>
                <a:lnTo>
                  <a:pt x="6469063" y="1333506"/>
                </a:lnTo>
                <a:cubicBezTo>
                  <a:pt x="6469062" y="1368573"/>
                  <a:pt x="6440635" y="1397000"/>
                  <a:pt x="6405569" y="1397000"/>
                </a:cubicBezTo>
                <a:lnTo>
                  <a:pt x="31750" y="1397000"/>
                </a:lnTo>
                <a:cubicBezTo>
                  <a:pt x="14215" y="1397000"/>
                  <a:pt x="0" y="1382785"/>
                  <a:pt x="0" y="1365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8" name="Shape 6"/>
          <p:cNvSpPr/>
          <p:nvPr/>
        </p:nvSpPr>
        <p:spPr>
          <a:xfrm>
            <a:off x="500063" y="1658938"/>
            <a:ext cx="31750" cy="1397000"/>
          </a:xfrm>
          <a:custGeom>
            <a:avLst/>
            <a:gdLst/>
            <a:ahLst/>
            <a:cxnLst/>
            <a:rect l="l" t="t" r="r" b="b"/>
            <a:pathLst>
              <a:path w="31750" h="1397000">
                <a:moveTo>
                  <a:pt x="31750" y="0"/>
                </a:moveTo>
                <a:lnTo>
                  <a:pt x="31750" y="0"/>
                </a:lnTo>
                <a:lnTo>
                  <a:pt x="31750" y="1397000"/>
                </a:lnTo>
                <a:lnTo>
                  <a:pt x="31750" y="1397000"/>
                </a:lnTo>
                <a:cubicBezTo>
                  <a:pt x="14227" y="1397000"/>
                  <a:pt x="0" y="1382773"/>
                  <a:pt x="0" y="1365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9" name="Shape 7"/>
          <p:cNvSpPr/>
          <p:nvPr/>
        </p:nvSpPr>
        <p:spPr>
          <a:xfrm>
            <a:off x="658813" y="18335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1083" y="102319"/>
                </a:moveTo>
                <a:lnTo>
                  <a:pt x="24681" y="35917"/>
                </a:lnTo>
                <a:cubicBezTo>
                  <a:pt x="19124" y="43706"/>
                  <a:pt x="15875" y="53231"/>
                  <a:pt x="15875" y="63500"/>
                </a:cubicBezTo>
                <a:cubicBezTo>
                  <a:pt x="15875" y="89793"/>
                  <a:pt x="37207" y="111125"/>
                  <a:pt x="63500" y="111125"/>
                </a:cubicBezTo>
                <a:cubicBezTo>
                  <a:pt x="73794" y="111125"/>
                  <a:pt x="83319" y="107876"/>
                  <a:pt x="91083" y="102319"/>
                </a:cubicBezTo>
                <a:close/>
                <a:moveTo>
                  <a:pt x="102319" y="91083"/>
                </a:moveTo>
                <a:cubicBezTo>
                  <a:pt x="107876" y="83294"/>
                  <a:pt x="111125" y="73769"/>
                  <a:pt x="111125" y="63500"/>
                </a:cubicBezTo>
                <a:cubicBezTo>
                  <a:pt x="111125" y="37207"/>
                  <a:pt x="89793" y="15875"/>
                  <a:pt x="63500" y="15875"/>
                </a:cubicBezTo>
                <a:cubicBezTo>
                  <a:pt x="53206" y="15875"/>
                  <a:pt x="43681" y="19124"/>
                  <a:pt x="35917" y="24681"/>
                </a:cubicBezTo>
                <a:lnTo>
                  <a:pt x="102319" y="91083"/>
                </a:lnTo>
                <a:close/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</a:path>
            </a:pathLst>
          </a:custGeom>
          <a:solidFill>
            <a:srgbClr val="C10007"/>
          </a:solidFill>
          <a:ln/>
        </p:spPr>
      </p:sp>
      <p:sp>
        <p:nvSpPr>
          <p:cNvPr id="10" name="Text 8"/>
          <p:cNvSpPr/>
          <p:nvPr/>
        </p:nvSpPr>
        <p:spPr>
          <a:xfrm>
            <a:off x="841375" y="1801813"/>
            <a:ext cx="817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1000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PROHIBITED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2706" y="1785938"/>
            <a:ext cx="635000" cy="222250"/>
          </a:xfrm>
          <a:custGeom>
            <a:avLst/>
            <a:gdLst/>
            <a:ahLst/>
            <a:cxnLst/>
            <a:rect l="l" t="t" r="r" b="b"/>
            <a:pathLst>
              <a:path w="635000" h="222250">
                <a:moveTo>
                  <a:pt x="111125" y="0"/>
                </a:moveTo>
                <a:lnTo>
                  <a:pt x="523875" y="0"/>
                </a:lnTo>
                <a:cubicBezTo>
                  <a:pt x="585207" y="0"/>
                  <a:pt x="635000" y="49793"/>
                  <a:pt x="635000" y="111125"/>
                </a:cubicBezTo>
                <a:lnTo>
                  <a:pt x="635000" y="111125"/>
                </a:lnTo>
                <a:cubicBezTo>
                  <a:pt x="635000" y="172457"/>
                  <a:pt x="585207" y="222250"/>
                  <a:pt x="52387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FFC9C9"/>
          </a:solidFill>
          <a:ln/>
        </p:spPr>
      </p:sp>
      <p:sp>
        <p:nvSpPr>
          <p:cNvPr id="12" name="Text 10"/>
          <p:cNvSpPr/>
          <p:nvPr/>
        </p:nvSpPr>
        <p:spPr>
          <a:xfrm>
            <a:off x="6212706" y="1785938"/>
            <a:ext cx="69056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F07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Risk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2938" y="2071688"/>
            <a:ext cx="6262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AI writes your entire paper or major sections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2938" y="2293938"/>
            <a:ext cx="6262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Submitting AI-generated content as your own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2938" y="2516188"/>
            <a:ext cx="6262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Using AI to perform critical analysis for you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2938" y="2738438"/>
            <a:ext cx="6262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Paraphrasing AI output to evade detection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0063" y="3151188"/>
            <a:ext cx="6469063" cy="1174750"/>
          </a:xfrm>
          <a:custGeom>
            <a:avLst/>
            <a:gdLst/>
            <a:ahLst/>
            <a:cxnLst/>
            <a:rect l="l" t="t" r="r" b="b"/>
            <a:pathLst>
              <a:path w="6469063" h="1174750">
                <a:moveTo>
                  <a:pt x="31750" y="0"/>
                </a:moveTo>
                <a:lnTo>
                  <a:pt x="6405567" y="0"/>
                </a:lnTo>
                <a:cubicBezTo>
                  <a:pt x="6440635" y="0"/>
                  <a:pt x="6469063" y="28428"/>
                  <a:pt x="6469063" y="63495"/>
                </a:cubicBezTo>
                <a:lnTo>
                  <a:pt x="6469063" y="1111255"/>
                </a:lnTo>
                <a:cubicBezTo>
                  <a:pt x="6469063" y="1146322"/>
                  <a:pt x="6440635" y="1174750"/>
                  <a:pt x="6405567" y="1174750"/>
                </a:cubicBezTo>
                <a:lnTo>
                  <a:pt x="31750" y="1174750"/>
                </a:lnTo>
                <a:cubicBezTo>
                  <a:pt x="14215" y="1174750"/>
                  <a:pt x="0" y="1160535"/>
                  <a:pt x="0" y="1143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EFCE8"/>
          </a:solidFill>
          <a:ln/>
        </p:spPr>
      </p:sp>
      <p:sp>
        <p:nvSpPr>
          <p:cNvPr id="18" name="Shape 16"/>
          <p:cNvSpPr/>
          <p:nvPr/>
        </p:nvSpPr>
        <p:spPr>
          <a:xfrm>
            <a:off x="500063" y="3151188"/>
            <a:ext cx="31750" cy="1174750"/>
          </a:xfrm>
          <a:custGeom>
            <a:avLst/>
            <a:gdLst/>
            <a:ahLst/>
            <a:cxnLst/>
            <a:rect l="l" t="t" r="r" b="b"/>
            <a:pathLst>
              <a:path w="31750" h="1174750">
                <a:moveTo>
                  <a:pt x="31750" y="0"/>
                </a:moveTo>
                <a:lnTo>
                  <a:pt x="31750" y="0"/>
                </a:lnTo>
                <a:lnTo>
                  <a:pt x="31750" y="1174750"/>
                </a:lnTo>
                <a:lnTo>
                  <a:pt x="31750" y="1174750"/>
                </a:lnTo>
                <a:cubicBezTo>
                  <a:pt x="14227" y="1174750"/>
                  <a:pt x="0" y="1160523"/>
                  <a:pt x="0" y="1143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813" y="332581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A65F00"/>
          </a:solidFill>
          <a:ln/>
        </p:spPr>
      </p:sp>
      <p:sp>
        <p:nvSpPr>
          <p:cNvPr id="20" name="Text 18"/>
          <p:cNvSpPr/>
          <p:nvPr/>
        </p:nvSpPr>
        <p:spPr>
          <a:xfrm>
            <a:off x="841375" y="3294063"/>
            <a:ext cx="64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A65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CAUTION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37027" y="3278188"/>
            <a:ext cx="809625" cy="222250"/>
          </a:xfrm>
          <a:custGeom>
            <a:avLst/>
            <a:gdLst/>
            <a:ahLst/>
            <a:cxnLst/>
            <a:rect l="l" t="t" r="r" b="b"/>
            <a:pathLst>
              <a:path w="809625" h="222250">
                <a:moveTo>
                  <a:pt x="111125" y="0"/>
                </a:moveTo>
                <a:lnTo>
                  <a:pt x="698500" y="0"/>
                </a:lnTo>
                <a:cubicBezTo>
                  <a:pt x="759832" y="0"/>
                  <a:pt x="809625" y="49793"/>
                  <a:pt x="809625" y="111125"/>
                </a:cubicBezTo>
                <a:lnTo>
                  <a:pt x="809625" y="111125"/>
                </a:lnTo>
                <a:cubicBezTo>
                  <a:pt x="809625" y="172457"/>
                  <a:pt x="759832" y="222250"/>
                  <a:pt x="69850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FFF085"/>
          </a:solidFill>
          <a:ln/>
        </p:spPr>
      </p:sp>
      <p:sp>
        <p:nvSpPr>
          <p:cNvPr id="22" name="Text 20"/>
          <p:cNvSpPr/>
          <p:nvPr/>
        </p:nvSpPr>
        <p:spPr>
          <a:xfrm>
            <a:off x="6037027" y="3278188"/>
            <a:ext cx="86518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94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 Risk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2938" y="3563938"/>
            <a:ext cx="6262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AI generates content you lightly edit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2938" y="3786188"/>
            <a:ext cx="6262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Heavy reliance on AI for argumentation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2938" y="4008438"/>
            <a:ext cx="6262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Accepting AI interpretations without evaluation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0063" y="4421188"/>
            <a:ext cx="6469063" cy="1174750"/>
          </a:xfrm>
          <a:custGeom>
            <a:avLst/>
            <a:gdLst/>
            <a:ahLst/>
            <a:cxnLst/>
            <a:rect l="l" t="t" r="r" b="b"/>
            <a:pathLst>
              <a:path w="6469063" h="1174750">
                <a:moveTo>
                  <a:pt x="31750" y="0"/>
                </a:moveTo>
                <a:lnTo>
                  <a:pt x="6405567" y="0"/>
                </a:lnTo>
                <a:cubicBezTo>
                  <a:pt x="6440635" y="0"/>
                  <a:pt x="6469063" y="28428"/>
                  <a:pt x="6469063" y="63495"/>
                </a:cubicBezTo>
                <a:lnTo>
                  <a:pt x="6469063" y="1111255"/>
                </a:lnTo>
                <a:cubicBezTo>
                  <a:pt x="6469063" y="1146322"/>
                  <a:pt x="6440635" y="1174750"/>
                  <a:pt x="6405567" y="1174750"/>
                </a:cubicBezTo>
                <a:lnTo>
                  <a:pt x="31750" y="1174750"/>
                </a:lnTo>
                <a:cubicBezTo>
                  <a:pt x="14215" y="1174750"/>
                  <a:pt x="0" y="1160535"/>
                  <a:pt x="0" y="1143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27" name="Shape 25"/>
          <p:cNvSpPr/>
          <p:nvPr/>
        </p:nvSpPr>
        <p:spPr>
          <a:xfrm>
            <a:off x="500063" y="4421188"/>
            <a:ext cx="31750" cy="1174750"/>
          </a:xfrm>
          <a:custGeom>
            <a:avLst/>
            <a:gdLst/>
            <a:ahLst/>
            <a:cxnLst/>
            <a:rect l="l" t="t" r="r" b="b"/>
            <a:pathLst>
              <a:path w="31750" h="1174750">
                <a:moveTo>
                  <a:pt x="31750" y="0"/>
                </a:moveTo>
                <a:lnTo>
                  <a:pt x="31750" y="0"/>
                </a:lnTo>
                <a:lnTo>
                  <a:pt x="31750" y="1174750"/>
                </a:lnTo>
                <a:lnTo>
                  <a:pt x="31750" y="1174750"/>
                </a:lnTo>
                <a:cubicBezTo>
                  <a:pt x="14227" y="1174750"/>
                  <a:pt x="0" y="1160523"/>
                  <a:pt x="0" y="1143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58813" y="459581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63500" y="43656"/>
                </a:moveTo>
                <a:cubicBezTo>
                  <a:pt x="59110" y="43656"/>
                  <a:pt x="55563" y="47203"/>
                  <a:pt x="55563" y="51594"/>
                </a:cubicBezTo>
                <a:cubicBezTo>
                  <a:pt x="55563" y="54893"/>
                  <a:pt x="52908" y="57547"/>
                  <a:pt x="49609" y="57547"/>
                </a:cubicBezTo>
                <a:cubicBezTo>
                  <a:pt x="46310" y="57547"/>
                  <a:pt x="43656" y="54893"/>
                  <a:pt x="43656" y="51594"/>
                </a:cubicBezTo>
                <a:cubicBezTo>
                  <a:pt x="43656" y="40630"/>
                  <a:pt x="52536" y="31750"/>
                  <a:pt x="63500" y="31750"/>
                </a:cubicBezTo>
                <a:cubicBezTo>
                  <a:pt x="74464" y="31750"/>
                  <a:pt x="83344" y="40630"/>
                  <a:pt x="83344" y="51594"/>
                </a:cubicBezTo>
                <a:cubicBezTo>
                  <a:pt x="83344" y="63302"/>
                  <a:pt x="74414" y="68263"/>
                  <a:pt x="69453" y="70073"/>
                </a:cubicBezTo>
                <a:lnTo>
                  <a:pt x="69453" y="71016"/>
                </a:lnTo>
                <a:cubicBezTo>
                  <a:pt x="69453" y="74315"/>
                  <a:pt x="66799" y="76969"/>
                  <a:pt x="63500" y="76969"/>
                </a:cubicBezTo>
                <a:cubicBezTo>
                  <a:pt x="60201" y="76969"/>
                  <a:pt x="57547" y="74315"/>
                  <a:pt x="57547" y="71016"/>
                </a:cubicBezTo>
                <a:lnTo>
                  <a:pt x="57547" y="69007"/>
                </a:lnTo>
                <a:cubicBezTo>
                  <a:pt x="57547" y="63922"/>
                  <a:pt x="61218" y="60275"/>
                  <a:pt x="65013" y="59035"/>
                </a:cubicBezTo>
                <a:cubicBezTo>
                  <a:pt x="66601" y="58514"/>
                  <a:pt x="68287" y="57671"/>
                  <a:pt x="69528" y="56480"/>
                </a:cubicBezTo>
                <a:cubicBezTo>
                  <a:pt x="70594" y="55438"/>
                  <a:pt x="71438" y="54000"/>
                  <a:pt x="71438" y="51619"/>
                </a:cubicBezTo>
                <a:cubicBezTo>
                  <a:pt x="71438" y="47228"/>
                  <a:pt x="67890" y="43681"/>
                  <a:pt x="63500" y="43681"/>
                </a:cubicBezTo>
                <a:close/>
                <a:moveTo>
                  <a:pt x="55563" y="91281"/>
                </a:moveTo>
                <a:cubicBezTo>
                  <a:pt x="55563" y="86900"/>
                  <a:pt x="59119" y="83344"/>
                  <a:pt x="63500" y="83344"/>
                </a:cubicBezTo>
                <a:cubicBezTo>
                  <a:pt x="67881" y="83344"/>
                  <a:pt x="71438" y="86900"/>
                  <a:pt x="71438" y="91281"/>
                </a:cubicBezTo>
                <a:cubicBezTo>
                  <a:pt x="71438" y="95662"/>
                  <a:pt x="67881" y="99219"/>
                  <a:pt x="63500" y="99219"/>
                </a:cubicBezTo>
                <a:cubicBezTo>
                  <a:pt x="59119" y="99219"/>
                  <a:pt x="55563" y="95662"/>
                  <a:pt x="55563" y="91281"/>
                </a:cubicBezTo>
                <a:close/>
              </a:path>
            </a:pathLst>
          </a:custGeom>
          <a:solidFill>
            <a:srgbClr val="1447E6"/>
          </a:solidFill>
          <a:ln/>
        </p:spPr>
      </p:sp>
      <p:sp>
        <p:nvSpPr>
          <p:cNvPr id="29" name="Text 27"/>
          <p:cNvSpPr/>
          <p:nvPr/>
        </p:nvSpPr>
        <p:spPr>
          <a:xfrm>
            <a:off x="841375" y="4564063"/>
            <a:ext cx="9763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447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 POLICY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58409" y="4548188"/>
            <a:ext cx="587375" cy="222250"/>
          </a:xfrm>
          <a:custGeom>
            <a:avLst/>
            <a:gdLst/>
            <a:ahLst/>
            <a:cxnLst/>
            <a:rect l="l" t="t" r="r" b="b"/>
            <a:pathLst>
              <a:path w="587375" h="222250">
                <a:moveTo>
                  <a:pt x="111125" y="0"/>
                </a:moveTo>
                <a:lnTo>
                  <a:pt x="476250" y="0"/>
                </a:lnTo>
                <a:cubicBezTo>
                  <a:pt x="537582" y="0"/>
                  <a:pt x="587375" y="49793"/>
                  <a:pt x="587375" y="111125"/>
                </a:cubicBezTo>
                <a:lnTo>
                  <a:pt x="587375" y="111125"/>
                </a:lnTo>
                <a:cubicBezTo>
                  <a:pt x="587375" y="172457"/>
                  <a:pt x="537582" y="222250"/>
                  <a:pt x="4762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BEDBFF"/>
          </a:solidFill>
          <a:ln/>
        </p:spPr>
      </p:sp>
      <p:sp>
        <p:nvSpPr>
          <p:cNvPr id="31" name="Text 29"/>
          <p:cNvSpPr/>
          <p:nvPr/>
        </p:nvSpPr>
        <p:spPr>
          <a:xfrm>
            <a:off x="6258409" y="4548188"/>
            <a:ext cx="6429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93C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2938" y="4833938"/>
            <a:ext cx="6262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AI helps with outlining and structuring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2938" y="5056188"/>
            <a:ext cx="6262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AI assists with brainstorming ideas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2938" y="5278438"/>
            <a:ext cx="6262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AI suggests transitions and headings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00063" y="5691188"/>
            <a:ext cx="6469063" cy="1397000"/>
          </a:xfrm>
          <a:custGeom>
            <a:avLst/>
            <a:gdLst/>
            <a:ahLst/>
            <a:cxnLst/>
            <a:rect l="l" t="t" r="r" b="b"/>
            <a:pathLst>
              <a:path w="6469063" h="1397000">
                <a:moveTo>
                  <a:pt x="31750" y="0"/>
                </a:moveTo>
                <a:lnTo>
                  <a:pt x="6405569" y="0"/>
                </a:lnTo>
                <a:cubicBezTo>
                  <a:pt x="6440635" y="0"/>
                  <a:pt x="6469063" y="28427"/>
                  <a:pt x="6469063" y="63494"/>
                </a:cubicBezTo>
                <a:lnTo>
                  <a:pt x="6469063" y="1333506"/>
                </a:lnTo>
                <a:cubicBezTo>
                  <a:pt x="6469062" y="1368573"/>
                  <a:pt x="6440635" y="1397000"/>
                  <a:pt x="6405569" y="1397000"/>
                </a:cubicBezTo>
                <a:lnTo>
                  <a:pt x="31750" y="1397000"/>
                </a:lnTo>
                <a:cubicBezTo>
                  <a:pt x="14215" y="1397000"/>
                  <a:pt x="0" y="1382785"/>
                  <a:pt x="0" y="1365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36" name="Shape 34"/>
          <p:cNvSpPr/>
          <p:nvPr/>
        </p:nvSpPr>
        <p:spPr>
          <a:xfrm>
            <a:off x="500063" y="5691188"/>
            <a:ext cx="31750" cy="1397000"/>
          </a:xfrm>
          <a:custGeom>
            <a:avLst/>
            <a:gdLst/>
            <a:ahLst/>
            <a:cxnLst/>
            <a:rect l="l" t="t" r="r" b="b"/>
            <a:pathLst>
              <a:path w="31750" h="1397000">
                <a:moveTo>
                  <a:pt x="31750" y="0"/>
                </a:moveTo>
                <a:lnTo>
                  <a:pt x="31750" y="0"/>
                </a:lnTo>
                <a:lnTo>
                  <a:pt x="31750" y="1397000"/>
                </a:lnTo>
                <a:lnTo>
                  <a:pt x="31750" y="1397000"/>
                </a:lnTo>
                <a:cubicBezTo>
                  <a:pt x="14227" y="1397000"/>
                  <a:pt x="0" y="1382773"/>
                  <a:pt x="0" y="1365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7" name="Shape 35"/>
          <p:cNvSpPr/>
          <p:nvPr/>
        </p:nvSpPr>
        <p:spPr>
          <a:xfrm>
            <a:off x="658813" y="586581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8236"/>
          </a:solidFill>
          <a:ln/>
        </p:spPr>
      </p:sp>
      <p:sp>
        <p:nvSpPr>
          <p:cNvPr id="38" name="Text 36"/>
          <p:cNvSpPr/>
          <p:nvPr/>
        </p:nvSpPr>
        <p:spPr>
          <a:xfrm>
            <a:off x="841375" y="5834063"/>
            <a:ext cx="944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82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ENCOURAGED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25356" y="5818188"/>
            <a:ext cx="619125" cy="222250"/>
          </a:xfrm>
          <a:custGeom>
            <a:avLst/>
            <a:gdLst/>
            <a:ahLst/>
            <a:cxnLst/>
            <a:rect l="l" t="t" r="r" b="b"/>
            <a:pathLst>
              <a:path w="619125" h="222250">
                <a:moveTo>
                  <a:pt x="111125" y="0"/>
                </a:moveTo>
                <a:lnTo>
                  <a:pt x="508000" y="0"/>
                </a:lnTo>
                <a:cubicBezTo>
                  <a:pt x="569332" y="0"/>
                  <a:pt x="619125" y="49793"/>
                  <a:pt x="619125" y="111125"/>
                </a:cubicBezTo>
                <a:lnTo>
                  <a:pt x="619125" y="111125"/>
                </a:lnTo>
                <a:cubicBezTo>
                  <a:pt x="619125" y="172457"/>
                  <a:pt x="569332" y="222250"/>
                  <a:pt x="50800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B9F8CF"/>
          </a:solidFill>
          <a:ln/>
        </p:spPr>
      </p:sp>
      <p:sp>
        <p:nvSpPr>
          <p:cNvPr id="40" name="Text 38"/>
          <p:cNvSpPr/>
          <p:nvPr/>
        </p:nvSpPr>
        <p:spPr>
          <a:xfrm>
            <a:off x="6225356" y="5818188"/>
            <a:ext cx="67468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166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Risk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2938" y="6103938"/>
            <a:ext cx="6262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Grammar and spelling checks (Grammarly)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2938" y="6326188"/>
            <a:ext cx="6262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Citation management (Zotero, Mendeley)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2938" y="6548438"/>
            <a:ext cx="6262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Research assistance (Consensus, Semantic Scholar)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2938" y="6770688"/>
            <a:ext cx="6262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Feedback on your drafts (Claude)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343800" y="1143000"/>
            <a:ext cx="4532313" cy="1682750"/>
          </a:xfrm>
          <a:custGeom>
            <a:avLst/>
            <a:gdLst/>
            <a:ahLst/>
            <a:cxnLst/>
            <a:rect l="l" t="t" r="r" b="b"/>
            <a:pathLst>
              <a:path w="4532313" h="1682750">
                <a:moveTo>
                  <a:pt x="31750" y="0"/>
                </a:moveTo>
                <a:lnTo>
                  <a:pt x="4468806" y="0"/>
                </a:lnTo>
                <a:cubicBezTo>
                  <a:pt x="4503879" y="0"/>
                  <a:pt x="4532313" y="28433"/>
                  <a:pt x="4532313" y="63507"/>
                </a:cubicBezTo>
                <a:lnTo>
                  <a:pt x="4532313" y="1619243"/>
                </a:lnTo>
                <a:cubicBezTo>
                  <a:pt x="4532313" y="1654317"/>
                  <a:pt x="4503879" y="1682750"/>
                  <a:pt x="4468806" y="1682750"/>
                </a:cubicBezTo>
                <a:lnTo>
                  <a:pt x="31750" y="1682750"/>
                </a:lnTo>
                <a:cubicBezTo>
                  <a:pt x="14215" y="1682750"/>
                  <a:pt x="0" y="1668535"/>
                  <a:pt x="0" y="1651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5A3D">
              <a:alpha val="1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43800" y="1143000"/>
            <a:ext cx="31750" cy="1682750"/>
          </a:xfrm>
          <a:custGeom>
            <a:avLst/>
            <a:gdLst/>
            <a:ahLst/>
            <a:cxnLst/>
            <a:rect l="l" t="t" r="r" b="b"/>
            <a:pathLst>
              <a:path w="31750" h="1682750">
                <a:moveTo>
                  <a:pt x="31750" y="0"/>
                </a:moveTo>
                <a:lnTo>
                  <a:pt x="31750" y="0"/>
                </a:lnTo>
                <a:lnTo>
                  <a:pt x="31750" y="1682750"/>
                </a:lnTo>
                <a:lnTo>
                  <a:pt x="31750" y="1682750"/>
                </a:lnTo>
                <a:cubicBezTo>
                  <a:pt x="14227" y="1682750"/>
                  <a:pt x="0" y="1668523"/>
                  <a:pt x="0" y="1651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47" name="Shape 45"/>
          <p:cNvSpPr/>
          <p:nvPr/>
        </p:nvSpPr>
        <p:spPr>
          <a:xfrm>
            <a:off x="7556128" y="1341438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81735" y="107156"/>
                </a:moveTo>
                <a:cubicBezTo>
                  <a:pt x="83772" y="100933"/>
                  <a:pt x="87846" y="95297"/>
                  <a:pt x="92450" y="90441"/>
                </a:cubicBezTo>
                <a:cubicBezTo>
                  <a:pt x="101575" y="80842"/>
                  <a:pt x="107156" y="67866"/>
                  <a:pt x="107156" y="53578"/>
                </a:cubicBezTo>
                <a:cubicBezTo>
                  <a:pt x="107156" y="23999"/>
                  <a:pt x="83158" y="0"/>
                  <a:pt x="53578" y="0"/>
                </a:cubicBezTo>
                <a:cubicBezTo>
                  <a:pt x="23999" y="0"/>
                  <a:pt x="0" y="23999"/>
                  <a:pt x="0" y="53578"/>
                </a:cubicBezTo>
                <a:cubicBezTo>
                  <a:pt x="0" y="67866"/>
                  <a:pt x="5581" y="80842"/>
                  <a:pt x="14706" y="90441"/>
                </a:cubicBezTo>
                <a:cubicBezTo>
                  <a:pt x="19310" y="95297"/>
                  <a:pt x="23413" y="100933"/>
                  <a:pt x="25422" y="107156"/>
                </a:cubicBezTo>
                <a:lnTo>
                  <a:pt x="81707" y="107156"/>
                </a:lnTo>
                <a:close/>
                <a:moveTo>
                  <a:pt x="80367" y="120551"/>
                </a:moveTo>
                <a:lnTo>
                  <a:pt x="26789" y="120551"/>
                </a:lnTo>
                <a:lnTo>
                  <a:pt x="26789" y="125016"/>
                </a:lnTo>
                <a:cubicBezTo>
                  <a:pt x="26789" y="137350"/>
                  <a:pt x="36779" y="147340"/>
                  <a:pt x="49113" y="147340"/>
                </a:cubicBezTo>
                <a:lnTo>
                  <a:pt x="58043" y="147340"/>
                </a:lnTo>
                <a:cubicBezTo>
                  <a:pt x="70377" y="147340"/>
                  <a:pt x="80367" y="137350"/>
                  <a:pt x="80367" y="125016"/>
                </a:cubicBezTo>
                <a:lnTo>
                  <a:pt x="80367" y="120551"/>
                </a:lnTo>
                <a:close/>
                <a:moveTo>
                  <a:pt x="51346" y="31254"/>
                </a:moveTo>
                <a:cubicBezTo>
                  <a:pt x="40239" y="31254"/>
                  <a:pt x="31254" y="40239"/>
                  <a:pt x="31254" y="51346"/>
                </a:cubicBezTo>
                <a:cubicBezTo>
                  <a:pt x="31254" y="55057"/>
                  <a:pt x="28268" y="58043"/>
                  <a:pt x="24557" y="58043"/>
                </a:cubicBezTo>
                <a:cubicBezTo>
                  <a:pt x="20845" y="58043"/>
                  <a:pt x="17859" y="55057"/>
                  <a:pt x="17859" y="51346"/>
                </a:cubicBezTo>
                <a:cubicBezTo>
                  <a:pt x="17859" y="32845"/>
                  <a:pt x="32845" y="17859"/>
                  <a:pt x="51346" y="17859"/>
                </a:cubicBezTo>
                <a:cubicBezTo>
                  <a:pt x="55057" y="17859"/>
                  <a:pt x="58043" y="20845"/>
                  <a:pt x="58043" y="24557"/>
                </a:cubicBezTo>
                <a:cubicBezTo>
                  <a:pt x="58043" y="28268"/>
                  <a:pt x="55057" y="31254"/>
                  <a:pt x="51346" y="31254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48" name="Text 46"/>
          <p:cNvSpPr/>
          <p:nvPr/>
        </p:nvSpPr>
        <p:spPr>
          <a:xfrm>
            <a:off x="7740675" y="1301750"/>
            <a:ext cx="404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Decision Guide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542237" y="16510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50" name="Text 48"/>
          <p:cNvSpPr/>
          <p:nvPr/>
        </p:nvSpPr>
        <p:spPr>
          <a:xfrm>
            <a:off x="7740675" y="1619250"/>
            <a:ext cx="2659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Does this maintain MY intellectual contribution?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542237" y="1936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52" name="Text 50"/>
          <p:cNvSpPr/>
          <p:nvPr/>
        </p:nvSpPr>
        <p:spPr>
          <a:xfrm>
            <a:off x="7740675" y="1905000"/>
            <a:ext cx="207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 I being transparent about AI use?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542237" y="22225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54" name="Text 52"/>
          <p:cNvSpPr/>
          <p:nvPr/>
        </p:nvSpPr>
        <p:spPr>
          <a:xfrm>
            <a:off x="7740675" y="2190750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Does my institution allow this use?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542237" y="25082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56" name="Text 54"/>
          <p:cNvSpPr/>
          <p:nvPr/>
        </p:nvSpPr>
        <p:spPr>
          <a:xfrm>
            <a:off x="7740675" y="2476500"/>
            <a:ext cx="1722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Will I verify all AI suggestions?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331894" y="2956719"/>
            <a:ext cx="4540250" cy="3087688"/>
          </a:xfrm>
          <a:custGeom>
            <a:avLst/>
            <a:gdLst/>
            <a:ahLst/>
            <a:cxnLst/>
            <a:rect l="l" t="t" r="r" b="b"/>
            <a:pathLst>
              <a:path w="4540250" h="3087688">
                <a:moveTo>
                  <a:pt x="63514" y="0"/>
                </a:moveTo>
                <a:lnTo>
                  <a:pt x="4476736" y="0"/>
                </a:lnTo>
                <a:cubicBezTo>
                  <a:pt x="4511814" y="0"/>
                  <a:pt x="4540250" y="28436"/>
                  <a:pt x="4540250" y="63514"/>
                </a:cubicBezTo>
                <a:lnTo>
                  <a:pt x="4540250" y="3024174"/>
                </a:lnTo>
                <a:cubicBezTo>
                  <a:pt x="4540250" y="3059251"/>
                  <a:pt x="4511814" y="3087688"/>
                  <a:pt x="4476736" y="3087688"/>
                </a:cubicBezTo>
                <a:lnTo>
                  <a:pt x="63514" y="3087688"/>
                </a:lnTo>
                <a:cubicBezTo>
                  <a:pt x="28436" y="3087688"/>
                  <a:pt x="0" y="3059251"/>
                  <a:pt x="0" y="3024174"/>
                </a:cubicBezTo>
                <a:lnTo>
                  <a:pt x="0" y="63514"/>
                </a:lnTo>
                <a:cubicBezTo>
                  <a:pt x="0" y="28460"/>
                  <a:pt x="28460" y="0"/>
                  <a:pt x="63514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94612" y="3119438"/>
            <a:ext cx="4286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Examples: Ethical vs Unethical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494612" y="3436938"/>
            <a:ext cx="4214813" cy="539750"/>
          </a:xfrm>
          <a:custGeom>
            <a:avLst/>
            <a:gdLst/>
            <a:ahLst/>
            <a:cxnLst/>
            <a:rect l="l" t="t" r="r" b="b"/>
            <a:pathLst>
              <a:path w="4214813" h="539750">
                <a:moveTo>
                  <a:pt x="63502" y="0"/>
                </a:moveTo>
                <a:lnTo>
                  <a:pt x="4151311" y="0"/>
                </a:lnTo>
                <a:cubicBezTo>
                  <a:pt x="4186382" y="0"/>
                  <a:pt x="4214813" y="28431"/>
                  <a:pt x="4214813" y="63502"/>
                </a:cubicBezTo>
                <a:lnTo>
                  <a:pt x="4214813" y="476248"/>
                </a:lnTo>
                <a:cubicBezTo>
                  <a:pt x="4214812" y="511319"/>
                  <a:pt x="4186382" y="539750"/>
                  <a:pt x="4151311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60" name="Text 58"/>
          <p:cNvSpPr/>
          <p:nvPr/>
        </p:nvSpPr>
        <p:spPr>
          <a:xfrm>
            <a:off x="7589862" y="3532188"/>
            <a:ext cx="4079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ETHICAL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589862" y="3722688"/>
            <a:ext cx="4079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Grammarly to catch grammar errors in your own writing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494612" y="4071938"/>
            <a:ext cx="4214813" cy="539750"/>
          </a:xfrm>
          <a:custGeom>
            <a:avLst/>
            <a:gdLst/>
            <a:ahLst/>
            <a:cxnLst/>
            <a:rect l="l" t="t" r="r" b="b"/>
            <a:pathLst>
              <a:path w="4214813" h="539750">
                <a:moveTo>
                  <a:pt x="63502" y="0"/>
                </a:moveTo>
                <a:lnTo>
                  <a:pt x="4151311" y="0"/>
                </a:lnTo>
                <a:cubicBezTo>
                  <a:pt x="4186382" y="0"/>
                  <a:pt x="4214813" y="28431"/>
                  <a:pt x="4214813" y="63502"/>
                </a:cubicBezTo>
                <a:lnTo>
                  <a:pt x="4214813" y="476248"/>
                </a:lnTo>
                <a:cubicBezTo>
                  <a:pt x="4214812" y="511319"/>
                  <a:pt x="4186382" y="539750"/>
                  <a:pt x="4151311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63" name="Text 61"/>
          <p:cNvSpPr/>
          <p:nvPr/>
        </p:nvSpPr>
        <p:spPr>
          <a:xfrm>
            <a:off x="7589862" y="4167188"/>
            <a:ext cx="4079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UNETHICAL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589862" y="4357688"/>
            <a:ext cx="4079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Having ChatGPT write your entire essay and submitting it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494612" y="4706938"/>
            <a:ext cx="4214813" cy="539750"/>
          </a:xfrm>
          <a:custGeom>
            <a:avLst/>
            <a:gdLst/>
            <a:ahLst/>
            <a:cxnLst/>
            <a:rect l="l" t="t" r="r" b="b"/>
            <a:pathLst>
              <a:path w="4214813" h="539750">
                <a:moveTo>
                  <a:pt x="63502" y="0"/>
                </a:moveTo>
                <a:lnTo>
                  <a:pt x="4151311" y="0"/>
                </a:lnTo>
                <a:cubicBezTo>
                  <a:pt x="4186382" y="0"/>
                  <a:pt x="4214813" y="28431"/>
                  <a:pt x="4214813" y="63502"/>
                </a:cubicBezTo>
                <a:lnTo>
                  <a:pt x="4214813" y="476248"/>
                </a:lnTo>
                <a:cubicBezTo>
                  <a:pt x="4214812" y="511319"/>
                  <a:pt x="4186382" y="539750"/>
                  <a:pt x="4151311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66" name="Text 64"/>
          <p:cNvSpPr/>
          <p:nvPr/>
        </p:nvSpPr>
        <p:spPr>
          <a:xfrm>
            <a:off x="7589862" y="4802188"/>
            <a:ext cx="4079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ETHICAL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589862" y="4992688"/>
            <a:ext cx="4079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AI to brainstorm research topics, then selecting independently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494612" y="5341938"/>
            <a:ext cx="4214813" cy="539750"/>
          </a:xfrm>
          <a:custGeom>
            <a:avLst/>
            <a:gdLst/>
            <a:ahLst/>
            <a:cxnLst/>
            <a:rect l="l" t="t" r="r" b="b"/>
            <a:pathLst>
              <a:path w="4214813" h="539750">
                <a:moveTo>
                  <a:pt x="63502" y="0"/>
                </a:moveTo>
                <a:lnTo>
                  <a:pt x="4151311" y="0"/>
                </a:lnTo>
                <a:cubicBezTo>
                  <a:pt x="4186382" y="0"/>
                  <a:pt x="4214813" y="28431"/>
                  <a:pt x="4214813" y="63502"/>
                </a:cubicBezTo>
                <a:lnTo>
                  <a:pt x="4214813" y="476248"/>
                </a:lnTo>
                <a:cubicBezTo>
                  <a:pt x="4214812" y="511319"/>
                  <a:pt x="4186382" y="539750"/>
                  <a:pt x="4151311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69" name="Text 67"/>
          <p:cNvSpPr/>
          <p:nvPr/>
        </p:nvSpPr>
        <p:spPr>
          <a:xfrm>
            <a:off x="7589862" y="5437188"/>
            <a:ext cx="4079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UNETHICAL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7589862" y="5627688"/>
            <a:ext cx="4079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Accepting AI's critical analysis without your own evaluation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21469" y="7385844"/>
            <a:ext cx="1722438" cy="269875"/>
          </a:xfrm>
          <a:custGeom>
            <a:avLst/>
            <a:gdLst/>
            <a:ahLst/>
            <a:cxnLst/>
            <a:rect l="l" t="t" r="r" b="b"/>
            <a:pathLst>
              <a:path w="1722438" h="269875">
                <a:moveTo>
                  <a:pt x="0" y="0"/>
                </a:moveTo>
                <a:lnTo>
                  <a:pt x="1722438" y="0"/>
                </a:lnTo>
                <a:lnTo>
                  <a:pt x="1722438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90196"/>
            </a:srgbClr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17500" y="7381875"/>
            <a:ext cx="1762125" cy="261937"/>
          </a:xfrm>
          <a:prstGeom prst="rect">
            <a:avLst/>
          </a:prstGeom>
          <a:noFill/>
          <a:ln/>
        </p:spPr>
        <p:txBody>
          <a:bodyPr wrap="square" lIns="95250" tIns="63500" rIns="95250" bIns="63500" rtlCol="0" anchor="ctr"/>
          <a:lstStyle/>
          <a:p>
            <a:pPr>
              <a:lnSpc>
                <a:spcPct val="120000"/>
              </a:lnSpc>
            </a:pPr>
            <a:r>
              <a:rPr lang="en-US" sz="75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Framework • Risk Assessment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9685982" y="7441964"/>
            <a:ext cx="224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check your institution's specific policy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spc="88" kern="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Use Case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Brainstorming &amp; Topic Development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5250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" name="Shape 3"/>
          <p:cNvSpPr/>
          <p:nvPr/>
        </p:nvSpPr>
        <p:spPr>
          <a:xfrm>
            <a:off x="321469" y="1146969"/>
            <a:ext cx="5675313" cy="4071938"/>
          </a:xfrm>
          <a:custGeom>
            <a:avLst/>
            <a:gdLst/>
            <a:ahLst/>
            <a:cxnLst/>
            <a:rect l="l" t="t" r="r" b="b"/>
            <a:pathLst>
              <a:path w="5675313" h="4071938">
                <a:moveTo>
                  <a:pt x="63482" y="0"/>
                </a:moveTo>
                <a:lnTo>
                  <a:pt x="5611831" y="0"/>
                </a:lnTo>
                <a:cubicBezTo>
                  <a:pt x="5646891" y="0"/>
                  <a:pt x="5675313" y="28422"/>
                  <a:pt x="5675313" y="63482"/>
                </a:cubicBezTo>
                <a:lnTo>
                  <a:pt x="5675313" y="4008456"/>
                </a:lnTo>
                <a:cubicBezTo>
                  <a:pt x="5675313" y="4043516"/>
                  <a:pt x="5646891" y="4071938"/>
                  <a:pt x="5611831" y="4071938"/>
                </a:cubicBezTo>
                <a:lnTo>
                  <a:pt x="63482" y="4071938"/>
                </a:lnTo>
                <a:cubicBezTo>
                  <a:pt x="28422" y="4071938"/>
                  <a:pt x="0" y="4043516"/>
                  <a:pt x="0" y="4008456"/>
                </a:cubicBezTo>
                <a:lnTo>
                  <a:pt x="0" y="63482"/>
                </a:lnTo>
                <a:cubicBezTo>
                  <a:pt x="0" y="28445"/>
                  <a:pt x="28445" y="0"/>
                  <a:pt x="63482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3875" y="1337469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7" name="Text 5"/>
          <p:cNvSpPr/>
          <p:nvPr/>
        </p:nvSpPr>
        <p:spPr>
          <a:xfrm>
            <a:off x="722313" y="1309688"/>
            <a:ext cx="5191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Ethical Example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187" y="1658938"/>
            <a:ext cx="5349875" cy="682625"/>
          </a:xfrm>
          <a:custGeom>
            <a:avLst/>
            <a:gdLst/>
            <a:ahLst/>
            <a:cxnLst/>
            <a:rect l="l" t="t" r="r" b="b"/>
            <a:pathLst>
              <a:path w="5349875" h="682625">
                <a:moveTo>
                  <a:pt x="63498" y="0"/>
                </a:moveTo>
                <a:lnTo>
                  <a:pt x="5286377" y="0"/>
                </a:lnTo>
                <a:cubicBezTo>
                  <a:pt x="5321446" y="0"/>
                  <a:pt x="5349875" y="28429"/>
                  <a:pt x="5349875" y="63498"/>
                </a:cubicBezTo>
                <a:lnTo>
                  <a:pt x="5349875" y="619127"/>
                </a:lnTo>
                <a:cubicBezTo>
                  <a:pt x="5349875" y="654196"/>
                  <a:pt x="5321446" y="682625"/>
                  <a:pt x="5286377" y="682625"/>
                </a:cubicBezTo>
                <a:lnTo>
                  <a:pt x="63498" y="682625"/>
                </a:lnTo>
                <a:cubicBezTo>
                  <a:pt x="28429" y="682625"/>
                  <a:pt x="0" y="654196"/>
                  <a:pt x="0" y="619127"/>
                </a:cubicBezTo>
                <a:lnTo>
                  <a:pt x="0" y="63498"/>
                </a:lnTo>
                <a:cubicBezTo>
                  <a:pt x="0" y="28452"/>
                  <a:pt x="28452" y="0"/>
                  <a:pt x="63498" y="0"/>
                </a:cubicBezTo>
                <a:close/>
              </a:path>
            </a:pathLst>
          </a:custGeom>
          <a:solidFill>
            <a:srgbClr val="2D5A3D">
              <a:alpha val="5098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11188" y="1801813"/>
            <a:ext cx="499752" cy="123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Scenario: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1188" y="2008187"/>
            <a:ext cx="515937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master's student in sociology is struggling to define a thesis topic on urban migration.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187" y="2468563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1: AI Generates Subtopics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8156" y="2726531"/>
            <a:ext cx="5341938" cy="611188"/>
          </a:xfrm>
          <a:custGeom>
            <a:avLst/>
            <a:gdLst/>
            <a:ahLst/>
            <a:cxnLst/>
            <a:rect l="l" t="t" r="r" b="b"/>
            <a:pathLst>
              <a:path w="5341938" h="611188">
                <a:moveTo>
                  <a:pt x="63502" y="0"/>
                </a:moveTo>
                <a:lnTo>
                  <a:pt x="5278435" y="0"/>
                </a:lnTo>
                <a:cubicBezTo>
                  <a:pt x="5313507" y="0"/>
                  <a:pt x="5341938" y="28431"/>
                  <a:pt x="5341938" y="63502"/>
                </a:cubicBezTo>
                <a:lnTo>
                  <a:pt x="5341938" y="547685"/>
                </a:lnTo>
                <a:cubicBezTo>
                  <a:pt x="5341938" y="582757"/>
                  <a:pt x="5313507" y="611187"/>
                  <a:pt x="5278435" y="611188"/>
                </a:cubicBezTo>
                <a:lnTo>
                  <a:pt x="63502" y="611188"/>
                </a:lnTo>
                <a:cubicBezTo>
                  <a:pt x="28431" y="611188"/>
                  <a:pt x="0" y="582757"/>
                  <a:pt x="0" y="547685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7D9A78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7375" y="28257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asks AI: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7375" y="304800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"What are some research subtopics related to urban migration patterns?"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187" y="3436938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2: AI Suggests Ideas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1188" y="3690937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Impact of climate change on rural-to-urban migration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1188" y="3913188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Socioeconomic factors in European migration trends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1188" y="4135438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vs contemporary migration policy comparison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187" y="4421188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3: Student Refines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187" y="4675188"/>
            <a:ext cx="5413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student conducts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 research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checks academic sources, and narrows focus based on personal interest and feasibility.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3375" y="5349875"/>
            <a:ext cx="5667375" cy="666750"/>
          </a:xfrm>
          <a:custGeom>
            <a:avLst/>
            <a:gdLst/>
            <a:ahLst/>
            <a:cxnLst/>
            <a:rect l="l" t="t" r="r" b="b"/>
            <a:pathLst>
              <a:path w="5667375" h="666750">
                <a:moveTo>
                  <a:pt x="31750" y="0"/>
                </a:moveTo>
                <a:lnTo>
                  <a:pt x="5603874" y="0"/>
                </a:lnTo>
                <a:cubicBezTo>
                  <a:pt x="5638945" y="0"/>
                  <a:pt x="5667375" y="28430"/>
                  <a:pt x="5667375" y="63501"/>
                </a:cubicBezTo>
                <a:lnTo>
                  <a:pt x="5667375" y="603249"/>
                </a:lnTo>
                <a:cubicBezTo>
                  <a:pt x="5667375" y="638320"/>
                  <a:pt x="5638945" y="666750"/>
                  <a:pt x="56038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22" name="Shape 20"/>
          <p:cNvSpPr/>
          <p:nvPr/>
        </p:nvSpPr>
        <p:spPr>
          <a:xfrm>
            <a:off x="333375" y="5349875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3" name="Text 21"/>
          <p:cNvSpPr/>
          <p:nvPr/>
        </p:nvSpPr>
        <p:spPr>
          <a:xfrm>
            <a:off x="476250" y="5476875"/>
            <a:ext cx="5461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This Is Ethical: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 acts as an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exploration tool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a decision-maker. The student maintains control over topic selection through independent research and critical evaluation.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5219" y="1146969"/>
            <a:ext cx="5675313" cy="3563938"/>
          </a:xfrm>
          <a:custGeom>
            <a:avLst/>
            <a:gdLst/>
            <a:ahLst/>
            <a:cxnLst/>
            <a:rect l="l" t="t" r="r" b="b"/>
            <a:pathLst>
              <a:path w="5675313" h="3563938">
                <a:moveTo>
                  <a:pt x="63509" y="0"/>
                </a:moveTo>
                <a:lnTo>
                  <a:pt x="5611803" y="0"/>
                </a:lnTo>
                <a:cubicBezTo>
                  <a:pt x="5646878" y="0"/>
                  <a:pt x="5675313" y="28434"/>
                  <a:pt x="5675313" y="63509"/>
                </a:cubicBezTo>
                <a:lnTo>
                  <a:pt x="5675313" y="3500428"/>
                </a:lnTo>
                <a:cubicBezTo>
                  <a:pt x="5675313" y="3535503"/>
                  <a:pt x="5646878" y="3563938"/>
                  <a:pt x="5611803" y="3563938"/>
                </a:cubicBezTo>
                <a:lnTo>
                  <a:pt x="63509" y="3563938"/>
                </a:lnTo>
                <a:cubicBezTo>
                  <a:pt x="28434" y="3563938"/>
                  <a:pt x="0" y="3535503"/>
                  <a:pt x="0" y="3500428"/>
                </a:cubicBezTo>
                <a:lnTo>
                  <a:pt x="0" y="63509"/>
                </a:lnTo>
                <a:cubicBezTo>
                  <a:pt x="0" y="28434"/>
                  <a:pt x="28434" y="0"/>
                  <a:pt x="63509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77781" y="1337469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51780" y="51780"/>
                </a:moveTo>
                <a:cubicBezTo>
                  <a:pt x="54694" y="48865"/>
                  <a:pt x="59407" y="48865"/>
                  <a:pt x="62291" y="51780"/>
                </a:cubicBezTo>
                <a:lnTo>
                  <a:pt x="79344" y="68833"/>
                </a:lnTo>
                <a:lnTo>
                  <a:pt x="96397" y="51780"/>
                </a:lnTo>
                <a:cubicBezTo>
                  <a:pt x="99312" y="48865"/>
                  <a:pt x="104025" y="48865"/>
                  <a:pt x="106908" y="51780"/>
                </a:cubicBezTo>
                <a:cubicBezTo>
                  <a:pt x="109792" y="54694"/>
                  <a:pt x="109823" y="59407"/>
                  <a:pt x="106908" y="62291"/>
                </a:cubicBezTo>
                <a:lnTo>
                  <a:pt x="89855" y="79344"/>
                </a:lnTo>
                <a:lnTo>
                  <a:pt x="106908" y="96397"/>
                </a:lnTo>
                <a:cubicBezTo>
                  <a:pt x="109823" y="99312"/>
                  <a:pt x="109823" y="104025"/>
                  <a:pt x="106908" y="106908"/>
                </a:cubicBezTo>
                <a:cubicBezTo>
                  <a:pt x="103994" y="109792"/>
                  <a:pt x="99281" y="109823"/>
                  <a:pt x="96397" y="106908"/>
                </a:cubicBezTo>
                <a:lnTo>
                  <a:pt x="79344" y="89855"/>
                </a:lnTo>
                <a:lnTo>
                  <a:pt x="62291" y="106908"/>
                </a:lnTo>
                <a:cubicBezTo>
                  <a:pt x="59376" y="109823"/>
                  <a:pt x="54663" y="109823"/>
                  <a:pt x="51780" y="106908"/>
                </a:cubicBezTo>
                <a:cubicBezTo>
                  <a:pt x="48896" y="103994"/>
                  <a:pt x="48865" y="99281"/>
                  <a:pt x="51780" y="96397"/>
                </a:cubicBezTo>
                <a:lnTo>
                  <a:pt x="68833" y="79344"/>
                </a:lnTo>
                <a:lnTo>
                  <a:pt x="51780" y="62291"/>
                </a:lnTo>
                <a:cubicBezTo>
                  <a:pt x="48865" y="59376"/>
                  <a:pt x="48865" y="54663"/>
                  <a:pt x="51780" y="5178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6" name="Text 24"/>
          <p:cNvSpPr/>
          <p:nvPr/>
        </p:nvSpPr>
        <p:spPr>
          <a:xfrm>
            <a:off x="6596063" y="1309688"/>
            <a:ext cx="5191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to Avoid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57938" y="1658938"/>
            <a:ext cx="5349875" cy="730250"/>
          </a:xfrm>
          <a:custGeom>
            <a:avLst/>
            <a:gdLst/>
            <a:ahLst/>
            <a:cxnLst/>
            <a:rect l="l" t="t" r="r" b="b"/>
            <a:pathLst>
              <a:path w="5349875" h="730250">
                <a:moveTo>
                  <a:pt x="63503" y="0"/>
                </a:moveTo>
                <a:lnTo>
                  <a:pt x="5286372" y="0"/>
                </a:lnTo>
                <a:cubicBezTo>
                  <a:pt x="5321444" y="0"/>
                  <a:pt x="5349875" y="28431"/>
                  <a:pt x="5349875" y="63503"/>
                </a:cubicBezTo>
                <a:lnTo>
                  <a:pt x="5349875" y="666747"/>
                </a:lnTo>
                <a:cubicBezTo>
                  <a:pt x="5349875" y="701819"/>
                  <a:pt x="5321444" y="730250"/>
                  <a:pt x="5286372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28" name="Shape 26"/>
          <p:cNvSpPr/>
          <p:nvPr/>
        </p:nvSpPr>
        <p:spPr>
          <a:xfrm>
            <a:off x="6469063" y="17819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1083" y="102319"/>
                </a:moveTo>
                <a:lnTo>
                  <a:pt x="24681" y="35917"/>
                </a:lnTo>
                <a:cubicBezTo>
                  <a:pt x="19124" y="43706"/>
                  <a:pt x="15875" y="53231"/>
                  <a:pt x="15875" y="63500"/>
                </a:cubicBezTo>
                <a:cubicBezTo>
                  <a:pt x="15875" y="89793"/>
                  <a:pt x="37207" y="111125"/>
                  <a:pt x="63500" y="111125"/>
                </a:cubicBezTo>
                <a:cubicBezTo>
                  <a:pt x="73794" y="111125"/>
                  <a:pt x="83319" y="107876"/>
                  <a:pt x="91083" y="102319"/>
                </a:cubicBezTo>
                <a:close/>
                <a:moveTo>
                  <a:pt x="102319" y="91083"/>
                </a:moveTo>
                <a:cubicBezTo>
                  <a:pt x="107876" y="83294"/>
                  <a:pt x="111125" y="73769"/>
                  <a:pt x="111125" y="63500"/>
                </a:cubicBezTo>
                <a:cubicBezTo>
                  <a:pt x="111125" y="37207"/>
                  <a:pt x="89793" y="15875"/>
                  <a:pt x="63500" y="15875"/>
                </a:cubicBezTo>
                <a:cubicBezTo>
                  <a:pt x="53206" y="15875"/>
                  <a:pt x="43681" y="19124"/>
                  <a:pt x="35917" y="24681"/>
                </a:cubicBezTo>
                <a:lnTo>
                  <a:pt x="102319" y="91083"/>
                </a:lnTo>
                <a:close/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</a:path>
            </a:pathLst>
          </a:custGeom>
          <a:solidFill>
            <a:srgbClr val="C10007"/>
          </a:solidFill>
          <a:ln/>
        </p:spPr>
      </p:sp>
      <p:sp>
        <p:nvSpPr>
          <p:cNvPr id="29" name="Text 27"/>
          <p:cNvSpPr/>
          <p:nvPr/>
        </p:nvSpPr>
        <p:spPr>
          <a:xfrm>
            <a:off x="6651625" y="1754188"/>
            <a:ext cx="5024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Unverified AI Suggestions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53188" y="1976438"/>
            <a:ext cx="5214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Accepting AI-generated topics without checking academic sources can lead to outdated or overused research ideas.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57938" y="2484438"/>
            <a:ext cx="5349875" cy="730250"/>
          </a:xfrm>
          <a:custGeom>
            <a:avLst/>
            <a:gdLst/>
            <a:ahLst/>
            <a:cxnLst/>
            <a:rect l="l" t="t" r="r" b="b"/>
            <a:pathLst>
              <a:path w="5349875" h="730250">
                <a:moveTo>
                  <a:pt x="63503" y="0"/>
                </a:moveTo>
                <a:lnTo>
                  <a:pt x="5286372" y="0"/>
                </a:lnTo>
                <a:cubicBezTo>
                  <a:pt x="5321444" y="0"/>
                  <a:pt x="5349875" y="28431"/>
                  <a:pt x="5349875" y="63503"/>
                </a:cubicBezTo>
                <a:lnTo>
                  <a:pt x="5349875" y="666747"/>
                </a:lnTo>
                <a:cubicBezTo>
                  <a:pt x="5349875" y="701819"/>
                  <a:pt x="5321444" y="730250"/>
                  <a:pt x="5286372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32" name="Shape 30"/>
          <p:cNvSpPr/>
          <p:nvPr/>
        </p:nvSpPr>
        <p:spPr>
          <a:xfrm>
            <a:off x="6469063" y="26074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1083" y="102319"/>
                </a:moveTo>
                <a:lnTo>
                  <a:pt x="24681" y="35917"/>
                </a:lnTo>
                <a:cubicBezTo>
                  <a:pt x="19124" y="43706"/>
                  <a:pt x="15875" y="53231"/>
                  <a:pt x="15875" y="63500"/>
                </a:cubicBezTo>
                <a:cubicBezTo>
                  <a:pt x="15875" y="89793"/>
                  <a:pt x="37207" y="111125"/>
                  <a:pt x="63500" y="111125"/>
                </a:cubicBezTo>
                <a:cubicBezTo>
                  <a:pt x="73794" y="111125"/>
                  <a:pt x="83319" y="107876"/>
                  <a:pt x="91083" y="102319"/>
                </a:cubicBezTo>
                <a:close/>
                <a:moveTo>
                  <a:pt x="102319" y="91083"/>
                </a:moveTo>
                <a:cubicBezTo>
                  <a:pt x="107876" y="83294"/>
                  <a:pt x="111125" y="73769"/>
                  <a:pt x="111125" y="63500"/>
                </a:cubicBezTo>
                <a:cubicBezTo>
                  <a:pt x="111125" y="37207"/>
                  <a:pt x="89793" y="15875"/>
                  <a:pt x="63500" y="15875"/>
                </a:cubicBezTo>
                <a:cubicBezTo>
                  <a:pt x="53206" y="15875"/>
                  <a:pt x="43681" y="19124"/>
                  <a:pt x="35917" y="24681"/>
                </a:cubicBezTo>
                <a:lnTo>
                  <a:pt x="102319" y="91083"/>
                </a:lnTo>
                <a:close/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</a:path>
            </a:pathLst>
          </a:custGeom>
          <a:solidFill>
            <a:srgbClr val="C10007"/>
          </a:solidFill>
          <a:ln/>
        </p:spPr>
      </p:sp>
      <p:sp>
        <p:nvSpPr>
          <p:cNvPr id="33" name="Text 31"/>
          <p:cNvSpPr/>
          <p:nvPr/>
        </p:nvSpPr>
        <p:spPr>
          <a:xfrm>
            <a:off x="6651625" y="2579688"/>
            <a:ext cx="5024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Overreliance on AI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53188" y="2801938"/>
            <a:ext cx="5214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AI-generated topics without personal input results in generic, surface-level research lacking originality.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57938" y="3309938"/>
            <a:ext cx="5349875" cy="571500"/>
          </a:xfrm>
          <a:custGeom>
            <a:avLst/>
            <a:gdLst/>
            <a:ahLst/>
            <a:cxnLst/>
            <a:rect l="l" t="t" r="r" b="b"/>
            <a:pathLst>
              <a:path w="5349875" h="571500">
                <a:moveTo>
                  <a:pt x="63499" y="0"/>
                </a:moveTo>
                <a:lnTo>
                  <a:pt x="5286376" y="0"/>
                </a:lnTo>
                <a:cubicBezTo>
                  <a:pt x="5321445" y="0"/>
                  <a:pt x="5349875" y="28430"/>
                  <a:pt x="5349875" y="63499"/>
                </a:cubicBezTo>
                <a:lnTo>
                  <a:pt x="5349875" y="508001"/>
                </a:lnTo>
                <a:cubicBezTo>
                  <a:pt x="5349875" y="543070"/>
                  <a:pt x="5321445" y="571500"/>
                  <a:pt x="528637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36" name="Shape 34"/>
          <p:cNvSpPr/>
          <p:nvPr/>
        </p:nvSpPr>
        <p:spPr>
          <a:xfrm>
            <a:off x="6469063" y="34329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1083" y="102319"/>
                </a:moveTo>
                <a:lnTo>
                  <a:pt x="24681" y="35917"/>
                </a:lnTo>
                <a:cubicBezTo>
                  <a:pt x="19124" y="43706"/>
                  <a:pt x="15875" y="53231"/>
                  <a:pt x="15875" y="63500"/>
                </a:cubicBezTo>
                <a:cubicBezTo>
                  <a:pt x="15875" y="89793"/>
                  <a:pt x="37207" y="111125"/>
                  <a:pt x="63500" y="111125"/>
                </a:cubicBezTo>
                <a:cubicBezTo>
                  <a:pt x="73794" y="111125"/>
                  <a:pt x="83319" y="107876"/>
                  <a:pt x="91083" y="102319"/>
                </a:cubicBezTo>
                <a:close/>
                <a:moveTo>
                  <a:pt x="102319" y="91083"/>
                </a:moveTo>
                <a:cubicBezTo>
                  <a:pt x="107876" y="83294"/>
                  <a:pt x="111125" y="73769"/>
                  <a:pt x="111125" y="63500"/>
                </a:cubicBezTo>
                <a:cubicBezTo>
                  <a:pt x="111125" y="37207"/>
                  <a:pt x="89793" y="15875"/>
                  <a:pt x="63500" y="15875"/>
                </a:cubicBezTo>
                <a:cubicBezTo>
                  <a:pt x="53206" y="15875"/>
                  <a:pt x="43681" y="19124"/>
                  <a:pt x="35917" y="24681"/>
                </a:cubicBezTo>
                <a:lnTo>
                  <a:pt x="102319" y="91083"/>
                </a:lnTo>
                <a:close/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</a:path>
            </a:pathLst>
          </a:custGeom>
          <a:solidFill>
            <a:srgbClr val="C10007"/>
          </a:solidFill>
          <a:ln/>
        </p:spPr>
      </p:sp>
      <p:sp>
        <p:nvSpPr>
          <p:cNvPr id="37" name="Text 35"/>
          <p:cNvSpPr/>
          <p:nvPr/>
        </p:nvSpPr>
        <p:spPr>
          <a:xfrm>
            <a:off x="6651625" y="3405188"/>
            <a:ext cx="5024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Skipping Critical Evaluation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53188" y="3627438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Treating AI-generated ideas as final choices without assessing feasibility, originality, and relevance.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57938" y="3976687"/>
            <a:ext cx="5349875" cy="571500"/>
          </a:xfrm>
          <a:custGeom>
            <a:avLst/>
            <a:gdLst/>
            <a:ahLst/>
            <a:cxnLst/>
            <a:rect l="l" t="t" r="r" b="b"/>
            <a:pathLst>
              <a:path w="5349875" h="571500">
                <a:moveTo>
                  <a:pt x="63499" y="0"/>
                </a:moveTo>
                <a:lnTo>
                  <a:pt x="5286376" y="0"/>
                </a:lnTo>
                <a:cubicBezTo>
                  <a:pt x="5321445" y="0"/>
                  <a:pt x="5349875" y="28430"/>
                  <a:pt x="5349875" y="63499"/>
                </a:cubicBezTo>
                <a:lnTo>
                  <a:pt x="5349875" y="508001"/>
                </a:lnTo>
                <a:cubicBezTo>
                  <a:pt x="5349875" y="543070"/>
                  <a:pt x="5321445" y="571500"/>
                  <a:pt x="528637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40" name="Shape 38"/>
          <p:cNvSpPr/>
          <p:nvPr/>
        </p:nvSpPr>
        <p:spPr>
          <a:xfrm>
            <a:off x="6469063" y="40997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1083" y="102319"/>
                </a:moveTo>
                <a:lnTo>
                  <a:pt x="24681" y="35917"/>
                </a:lnTo>
                <a:cubicBezTo>
                  <a:pt x="19124" y="43706"/>
                  <a:pt x="15875" y="53231"/>
                  <a:pt x="15875" y="63500"/>
                </a:cubicBezTo>
                <a:cubicBezTo>
                  <a:pt x="15875" y="89793"/>
                  <a:pt x="37207" y="111125"/>
                  <a:pt x="63500" y="111125"/>
                </a:cubicBezTo>
                <a:cubicBezTo>
                  <a:pt x="73794" y="111125"/>
                  <a:pt x="83319" y="107876"/>
                  <a:pt x="91083" y="102319"/>
                </a:cubicBezTo>
                <a:close/>
                <a:moveTo>
                  <a:pt x="102319" y="91083"/>
                </a:moveTo>
                <a:cubicBezTo>
                  <a:pt x="107876" y="83294"/>
                  <a:pt x="111125" y="73769"/>
                  <a:pt x="111125" y="63500"/>
                </a:cubicBezTo>
                <a:cubicBezTo>
                  <a:pt x="111125" y="37207"/>
                  <a:pt x="89793" y="15875"/>
                  <a:pt x="63500" y="15875"/>
                </a:cubicBezTo>
                <a:cubicBezTo>
                  <a:pt x="53206" y="15875"/>
                  <a:pt x="43681" y="19124"/>
                  <a:pt x="35917" y="24681"/>
                </a:cubicBezTo>
                <a:lnTo>
                  <a:pt x="102319" y="91083"/>
                </a:lnTo>
                <a:close/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</a:path>
            </a:pathLst>
          </a:custGeom>
          <a:solidFill>
            <a:srgbClr val="C10007"/>
          </a:solidFill>
          <a:ln/>
        </p:spPr>
      </p:sp>
      <p:sp>
        <p:nvSpPr>
          <p:cNvPr id="41" name="Text 39"/>
          <p:cNvSpPr/>
          <p:nvPr/>
        </p:nvSpPr>
        <p:spPr>
          <a:xfrm>
            <a:off x="6651625" y="4071938"/>
            <a:ext cx="5024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AI-Generated Thesis Statements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53188" y="4294188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thesis requires </a:t>
            </a:r>
            <a:pPr>
              <a:lnSpc>
                <a:spcPct val="120000"/>
              </a:lnSpc>
            </a:pPr>
            <a:r>
              <a:rPr lang="en-US" sz="875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engagement with academic literature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just AI-generated phrasing.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07125" y="4841875"/>
            <a:ext cx="5667375" cy="1587500"/>
          </a:xfrm>
          <a:custGeom>
            <a:avLst/>
            <a:gdLst/>
            <a:ahLst/>
            <a:cxnLst/>
            <a:rect l="l" t="t" r="r" b="b"/>
            <a:pathLst>
              <a:path w="5667375" h="1587500">
                <a:moveTo>
                  <a:pt x="31750" y="0"/>
                </a:moveTo>
                <a:lnTo>
                  <a:pt x="5603875" y="0"/>
                </a:lnTo>
                <a:cubicBezTo>
                  <a:pt x="5638922" y="0"/>
                  <a:pt x="5667375" y="28453"/>
                  <a:pt x="5667375" y="63500"/>
                </a:cubicBezTo>
                <a:lnTo>
                  <a:pt x="5667375" y="1524000"/>
                </a:lnTo>
                <a:cubicBezTo>
                  <a:pt x="5667375" y="1559047"/>
                  <a:pt x="5638922" y="1587500"/>
                  <a:pt x="5603875" y="1587500"/>
                </a:cubicBezTo>
                <a:lnTo>
                  <a:pt x="31750" y="1587500"/>
                </a:lnTo>
                <a:cubicBezTo>
                  <a:pt x="14227" y="1587500"/>
                  <a:pt x="0" y="1573273"/>
                  <a:pt x="0" y="155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5A3D">
              <a:alpha val="1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07125" y="4841875"/>
            <a:ext cx="31750" cy="1587500"/>
          </a:xfrm>
          <a:custGeom>
            <a:avLst/>
            <a:gdLst/>
            <a:ahLst/>
            <a:cxnLst/>
            <a:rect l="l" t="t" r="r" b="b"/>
            <a:pathLst>
              <a:path w="31750" h="1587500">
                <a:moveTo>
                  <a:pt x="31750" y="0"/>
                </a:moveTo>
                <a:lnTo>
                  <a:pt x="31750" y="0"/>
                </a:lnTo>
                <a:lnTo>
                  <a:pt x="31750" y="1587500"/>
                </a:lnTo>
                <a:lnTo>
                  <a:pt x="31750" y="1587500"/>
                </a:lnTo>
                <a:cubicBezTo>
                  <a:pt x="14227" y="1587500"/>
                  <a:pt x="0" y="1573273"/>
                  <a:pt x="0" y="155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45" name="Shape 43"/>
          <p:cNvSpPr/>
          <p:nvPr/>
        </p:nvSpPr>
        <p:spPr>
          <a:xfrm>
            <a:off x="6419453" y="5040313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86897" y="8930"/>
                </a:moveTo>
                <a:lnTo>
                  <a:pt x="89297" y="8930"/>
                </a:lnTo>
                <a:cubicBezTo>
                  <a:pt x="99147" y="8930"/>
                  <a:pt x="107156" y="16939"/>
                  <a:pt x="107156" y="26789"/>
                </a:cubicBezTo>
                <a:lnTo>
                  <a:pt x="107156" y="125016"/>
                </a:lnTo>
                <a:cubicBezTo>
                  <a:pt x="107156" y="134866"/>
                  <a:pt x="99147" y="142875"/>
                  <a:pt x="89297" y="142875"/>
                </a:cubicBezTo>
                <a:lnTo>
                  <a:pt x="17859" y="142875"/>
                </a:lnTo>
                <a:cubicBezTo>
                  <a:pt x="8009" y="142875"/>
                  <a:pt x="0" y="134866"/>
                  <a:pt x="0" y="125016"/>
                </a:cubicBezTo>
                <a:lnTo>
                  <a:pt x="0" y="26789"/>
                </a:lnTo>
                <a:cubicBezTo>
                  <a:pt x="0" y="16939"/>
                  <a:pt x="8009" y="8930"/>
                  <a:pt x="17859" y="8930"/>
                </a:cubicBezTo>
                <a:lnTo>
                  <a:pt x="20259" y="8930"/>
                </a:lnTo>
                <a:cubicBezTo>
                  <a:pt x="23329" y="3600"/>
                  <a:pt x="29105" y="0"/>
                  <a:pt x="35719" y="0"/>
                </a:cubicBezTo>
                <a:lnTo>
                  <a:pt x="71438" y="0"/>
                </a:lnTo>
                <a:cubicBezTo>
                  <a:pt x="78051" y="0"/>
                  <a:pt x="83827" y="3600"/>
                  <a:pt x="86897" y="8930"/>
                </a:cubicBezTo>
                <a:close/>
                <a:moveTo>
                  <a:pt x="69205" y="31254"/>
                </a:moveTo>
                <a:cubicBezTo>
                  <a:pt x="72916" y="31254"/>
                  <a:pt x="75902" y="28268"/>
                  <a:pt x="75902" y="24557"/>
                </a:cubicBezTo>
                <a:cubicBezTo>
                  <a:pt x="75902" y="20845"/>
                  <a:pt x="72916" y="17859"/>
                  <a:pt x="69205" y="17859"/>
                </a:cubicBezTo>
                <a:lnTo>
                  <a:pt x="37951" y="17859"/>
                </a:lnTo>
                <a:cubicBezTo>
                  <a:pt x="34240" y="17859"/>
                  <a:pt x="31254" y="20845"/>
                  <a:pt x="31254" y="24557"/>
                </a:cubicBezTo>
                <a:cubicBezTo>
                  <a:pt x="31254" y="28268"/>
                  <a:pt x="34240" y="31254"/>
                  <a:pt x="37951" y="31254"/>
                </a:cubicBezTo>
                <a:lnTo>
                  <a:pt x="69205" y="31254"/>
                </a:lnTo>
                <a:close/>
                <a:moveTo>
                  <a:pt x="77130" y="72749"/>
                </a:moveTo>
                <a:cubicBezTo>
                  <a:pt x="79084" y="69624"/>
                  <a:pt x="78135" y="65494"/>
                  <a:pt x="75009" y="63512"/>
                </a:cubicBezTo>
                <a:cubicBezTo>
                  <a:pt x="71884" y="61531"/>
                  <a:pt x="67754" y="62508"/>
                  <a:pt x="65773" y="65633"/>
                </a:cubicBezTo>
                <a:lnTo>
                  <a:pt x="48639" y="93064"/>
                </a:lnTo>
                <a:lnTo>
                  <a:pt x="41104" y="83018"/>
                </a:lnTo>
                <a:cubicBezTo>
                  <a:pt x="38872" y="80060"/>
                  <a:pt x="34686" y="79446"/>
                  <a:pt x="31728" y="81679"/>
                </a:cubicBezTo>
                <a:cubicBezTo>
                  <a:pt x="28770" y="83911"/>
                  <a:pt x="28156" y="88097"/>
                  <a:pt x="30389" y="91055"/>
                </a:cubicBezTo>
                <a:lnTo>
                  <a:pt x="43783" y="108914"/>
                </a:lnTo>
                <a:cubicBezTo>
                  <a:pt x="45095" y="110672"/>
                  <a:pt x="47216" y="111677"/>
                  <a:pt x="49420" y="111593"/>
                </a:cubicBezTo>
                <a:cubicBezTo>
                  <a:pt x="51625" y="111509"/>
                  <a:pt x="53634" y="110337"/>
                  <a:pt x="54806" y="108440"/>
                </a:cubicBezTo>
                <a:lnTo>
                  <a:pt x="77130" y="72721"/>
                </a:ln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46" name="Text 44"/>
          <p:cNvSpPr/>
          <p:nvPr/>
        </p:nvSpPr>
        <p:spPr>
          <a:xfrm>
            <a:off x="6604000" y="5000625"/>
            <a:ext cx="518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 Checklist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05563" y="534987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48" name="Text 46"/>
          <p:cNvSpPr/>
          <p:nvPr/>
        </p:nvSpPr>
        <p:spPr>
          <a:xfrm>
            <a:off x="6604000" y="531812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Cross-check AI suggestions with peer-reviewed sources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05563" y="560387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50" name="Text 48"/>
          <p:cNvSpPr/>
          <p:nvPr/>
        </p:nvSpPr>
        <p:spPr>
          <a:xfrm>
            <a:off x="6604000" y="5572125"/>
            <a:ext cx="279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AI as a tool for exploration, not final decisions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05563" y="585787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52" name="Text 50"/>
          <p:cNvSpPr/>
          <p:nvPr/>
        </p:nvSpPr>
        <p:spPr>
          <a:xfrm>
            <a:off x="6604000" y="5826125"/>
            <a:ext cx="246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Refine topics through independent research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05563" y="611187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54" name="Text 52"/>
          <p:cNvSpPr/>
          <p:nvPr/>
        </p:nvSpPr>
        <p:spPr>
          <a:xfrm>
            <a:off x="6604000" y="6080125"/>
            <a:ext cx="2611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Seek faculty feedback on your narrowed focus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21469" y="6560344"/>
            <a:ext cx="1539875" cy="269875"/>
          </a:xfrm>
          <a:custGeom>
            <a:avLst/>
            <a:gdLst/>
            <a:ahLst/>
            <a:cxnLst/>
            <a:rect l="l" t="t" r="r" b="b"/>
            <a:pathLst>
              <a:path w="1539875" h="269875">
                <a:moveTo>
                  <a:pt x="0" y="0"/>
                </a:moveTo>
                <a:lnTo>
                  <a:pt x="1539875" y="0"/>
                </a:lnTo>
                <a:lnTo>
                  <a:pt x="153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90196"/>
            </a:srgbClr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7500" y="6556375"/>
            <a:ext cx="1579563" cy="261937"/>
          </a:xfrm>
          <a:prstGeom prst="rect">
            <a:avLst/>
          </a:prstGeom>
          <a:noFill/>
          <a:ln/>
        </p:spPr>
        <p:txBody>
          <a:bodyPr wrap="square" lIns="95250" tIns="63500" rIns="95250" bIns="63500" rtlCol="0" anchor="ctr"/>
          <a:lstStyle/>
          <a:p>
            <a:pPr>
              <a:lnSpc>
                <a:spcPct val="120000"/>
              </a:lnSpc>
            </a:pPr>
            <a:r>
              <a:rPr lang="en-US" sz="75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Use • Topic Development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862654" y="6616464"/>
            <a:ext cx="2063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as exploration tool, not decision-maker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spc="88" kern="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Use Case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Structuring &amp; Outlining Your Paper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5250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" name="Shape 3"/>
          <p:cNvSpPr/>
          <p:nvPr/>
        </p:nvSpPr>
        <p:spPr>
          <a:xfrm>
            <a:off x="321469" y="1146969"/>
            <a:ext cx="5675313" cy="5167313"/>
          </a:xfrm>
          <a:custGeom>
            <a:avLst/>
            <a:gdLst/>
            <a:ahLst/>
            <a:cxnLst/>
            <a:rect l="l" t="t" r="r" b="b"/>
            <a:pathLst>
              <a:path w="5675313" h="5167313">
                <a:moveTo>
                  <a:pt x="63506" y="0"/>
                </a:moveTo>
                <a:lnTo>
                  <a:pt x="5611806" y="0"/>
                </a:lnTo>
                <a:cubicBezTo>
                  <a:pt x="5646880" y="0"/>
                  <a:pt x="5675312" y="28433"/>
                  <a:pt x="5675312" y="63506"/>
                </a:cubicBezTo>
                <a:lnTo>
                  <a:pt x="5675313" y="5103806"/>
                </a:lnTo>
                <a:cubicBezTo>
                  <a:pt x="5675312" y="5138880"/>
                  <a:pt x="5646880" y="5167312"/>
                  <a:pt x="5611806" y="5167312"/>
                </a:cubicBezTo>
                <a:lnTo>
                  <a:pt x="63506" y="5167313"/>
                </a:lnTo>
                <a:cubicBezTo>
                  <a:pt x="28433" y="5167312"/>
                  <a:pt x="0" y="5138880"/>
                  <a:pt x="0" y="5103806"/>
                </a:cubicBezTo>
                <a:lnTo>
                  <a:pt x="0" y="63506"/>
                </a:lnTo>
                <a:cubicBezTo>
                  <a:pt x="0" y="28433"/>
                  <a:pt x="28433" y="0"/>
                  <a:pt x="63506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4031" y="1337469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59531" y="19844"/>
                </a:moveTo>
                <a:cubicBezTo>
                  <a:pt x="59531" y="14356"/>
                  <a:pt x="63965" y="9922"/>
                  <a:pt x="69453" y="9922"/>
                </a:cubicBezTo>
                <a:lnTo>
                  <a:pt x="89297" y="9922"/>
                </a:lnTo>
                <a:cubicBezTo>
                  <a:pt x="94785" y="9922"/>
                  <a:pt x="99219" y="14356"/>
                  <a:pt x="99219" y="19844"/>
                </a:cubicBezTo>
                <a:lnTo>
                  <a:pt x="99219" y="39688"/>
                </a:lnTo>
                <a:cubicBezTo>
                  <a:pt x="99219" y="45176"/>
                  <a:pt x="94785" y="49609"/>
                  <a:pt x="89297" y="49609"/>
                </a:cubicBezTo>
                <a:lnTo>
                  <a:pt x="86816" y="49609"/>
                </a:lnTo>
                <a:lnTo>
                  <a:pt x="86816" y="69453"/>
                </a:lnTo>
                <a:lnTo>
                  <a:pt x="124023" y="69453"/>
                </a:lnTo>
                <a:cubicBezTo>
                  <a:pt x="136364" y="69453"/>
                  <a:pt x="146348" y="79437"/>
                  <a:pt x="146348" y="91777"/>
                </a:cubicBezTo>
                <a:lnTo>
                  <a:pt x="146348" y="109141"/>
                </a:lnTo>
                <a:lnTo>
                  <a:pt x="148828" y="109141"/>
                </a:lnTo>
                <a:cubicBezTo>
                  <a:pt x="154316" y="109141"/>
                  <a:pt x="158750" y="113574"/>
                  <a:pt x="158750" y="119062"/>
                </a:cubicBezTo>
                <a:lnTo>
                  <a:pt x="158750" y="138906"/>
                </a:lnTo>
                <a:cubicBezTo>
                  <a:pt x="158750" y="144394"/>
                  <a:pt x="154316" y="148828"/>
                  <a:pt x="148828" y="148828"/>
                </a:cubicBezTo>
                <a:lnTo>
                  <a:pt x="128984" y="148828"/>
                </a:lnTo>
                <a:cubicBezTo>
                  <a:pt x="123496" y="148828"/>
                  <a:pt x="119062" y="144394"/>
                  <a:pt x="119062" y="138906"/>
                </a:cubicBezTo>
                <a:lnTo>
                  <a:pt x="119062" y="119062"/>
                </a:lnTo>
                <a:cubicBezTo>
                  <a:pt x="119062" y="113574"/>
                  <a:pt x="123496" y="109141"/>
                  <a:pt x="128984" y="109141"/>
                </a:cubicBezTo>
                <a:lnTo>
                  <a:pt x="131465" y="109141"/>
                </a:lnTo>
                <a:lnTo>
                  <a:pt x="131465" y="91777"/>
                </a:lnTo>
                <a:cubicBezTo>
                  <a:pt x="131465" y="87654"/>
                  <a:pt x="128147" y="84336"/>
                  <a:pt x="124023" y="84336"/>
                </a:cubicBezTo>
                <a:lnTo>
                  <a:pt x="86816" y="84336"/>
                </a:lnTo>
                <a:lnTo>
                  <a:pt x="86816" y="109141"/>
                </a:lnTo>
                <a:lnTo>
                  <a:pt x="89297" y="109141"/>
                </a:lnTo>
                <a:cubicBezTo>
                  <a:pt x="94785" y="109141"/>
                  <a:pt x="99219" y="113574"/>
                  <a:pt x="99219" y="119062"/>
                </a:cubicBezTo>
                <a:lnTo>
                  <a:pt x="99219" y="138906"/>
                </a:lnTo>
                <a:cubicBezTo>
                  <a:pt x="99219" y="144394"/>
                  <a:pt x="94785" y="148828"/>
                  <a:pt x="89297" y="148828"/>
                </a:cubicBezTo>
                <a:lnTo>
                  <a:pt x="69453" y="148828"/>
                </a:lnTo>
                <a:cubicBezTo>
                  <a:pt x="63965" y="148828"/>
                  <a:pt x="59531" y="144394"/>
                  <a:pt x="59531" y="138906"/>
                </a:cubicBezTo>
                <a:lnTo>
                  <a:pt x="59531" y="119062"/>
                </a:lnTo>
                <a:cubicBezTo>
                  <a:pt x="59531" y="113574"/>
                  <a:pt x="63965" y="109141"/>
                  <a:pt x="69453" y="109141"/>
                </a:cubicBezTo>
                <a:lnTo>
                  <a:pt x="71934" y="109141"/>
                </a:lnTo>
                <a:lnTo>
                  <a:pt x="71934" y="84336"/>
                </a:lnTo>
                <a:lnTo>
                  <a:pt x="34727" y="84336"/>
                </a:lnTo>
                <a:cubicBezTo>
                  <a:pt x="30603" y="84336"/>
                  <a:pt x="27285" y="87654"/>
                  <a:pt x="27285" y="91777"/>
                </a:cubicBezTo>
                <a:lnTo>
                  <a:pt x="27285" y="109141"/>
                </a:lnTo>
                <a:lnTo>
                  <a:pt x="29766" y="109141"/>
                </a:lnTo>
                <a:cubicBezTo>
                  <a:pt x="35254" y="109141"/>
                  <a:pt x="39688" y="113574"/>
                  <a:pt x="39688" y="119062"/>
                </a:cubicBezTo>
                <a:lnTo>
                  <a:pt x="39688" y="138906"/>
                </a:lnTo>
                <a:cubicBezTo>
                  <a:pt x="39688" y="144394"/>
                  <a:pt x="35254" y="148828"/>
                  <a:pt x="29766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19062"/>
                </a:lnTo>
                <a:cubicBezTo>
                  <a:pt x="0" y="113574"/>
                  <a:pt x="4434" y="109141"/>
                  <a:pt x="9922" y="109141"/>
                </a:cubicBezTo>
                <a:lnTo>
                  <a:pt x="12402" y="109141"/>
                </a:lnTo>
                <a:lnTo>
                  <a:pt x="12402" y="91777"/>
                </a:lnTo>
                <a:cubicBezTo>
                  <a:pt x="12402" y="79437"/>
                  <a:pt x="22386" y="69453"/>
                  <a:pt x="34727" y="69453"/>
                </a:cubicBezTo>
                <a:lnTo>
                  <a:pt x="71934" y="69453"/>
                </a:lnTo>
                <a:lnTo>
                  <a:pt x="71934" y="49609"/>
                </a:lnTo>
                <a:lnTo>
                  <a:pt x="69453" y="49609"/>
                </a:lnTo>
                <a:cubicBezTo>
                  <a:pt x="63965" y="49609"/>
                  <a:pt x="59531" y="45176"/>
                  <a:pt x="59531" y="39688"/>
                </a:cubicBezTo>
                <a:lnTo>
                  <a:pt x="59531" y="19844"/>
                </a:ln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7" name="Text 5"/>
          <p:cNvSpPr/>
          <p:nvPr/>
        </p:nvSpPr>
        <p:spPr>
          <a:xfrm>
            <a:off x="722313" y="1309688"/>
            <a:ext cx="5191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Ethical Use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187" y="1658938"/>
            <a:ext cx="5349875" cy="889000"/>
          </a:xfrm>
          <a:custGeom>
            <a:avLst/>
            <a:gdLst/>
            <a:ahLst/>
            <a:cxnLst/>
            <a:rect l="l" t="t" r="r" b="b"/>
            <a:pathLst>
              <a:path w="5349875" h="889000">
                <a:moveTo>
                  <a:pt x="63501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825499"/>
                </a:lnTo>
                <a:cubicBezTo>
                  <a:pt x="5349875" y="860570"/>
                  <a:pt x="5321445" y="889000"/>
                  <a:pt x="5286374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2D5A3D">
              <a:alpha val="5098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11188" y="1801813"/>
            <a:ext cx="499752" cy="123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Scenario: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1188" y="2008187"/>
            <a:ext cx="5159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business student is drafting a market analysis report and needs help organizing their thoughts.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187" y="2674938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1: AI Proposes Structure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8156" y="2932906"/>
            <a:ext cx="5341938" cy="611188"/>
          </a:xfrm>
          <a:custGeom>
            <a:avLst/>
            <a:gdLst/>
            <a:ahLst/>
            <a:cxnLst/>
            <a:rect l="l" t="t" r="r" b="b"/>
            <a:pathLst>
              <a:path w="5341938" h="611188">
                <a:moveTo>
                  <a:pt x="63502" y="0"/>
                </a:moveTo>
                <a:lnTo>
                  <a:pt x="5278435" y="0"/>
                </a:lnTo>
                <a:cubicBezTo>
                  <a:pt x="5313507" y="0"/>
                  <a:pt x="5341938" y="28431"/>
                  <a:pt x="5341938" y="63502"/>
                </a:cubicBezTo>
                <a:lnTo>
                  <a:pt x="5341938" y="547685"/>
                </a:lnTo>
                <a:cubicBezTo>
                  <a:pt x="5341938" y="582757"/>
                  <a:pt x="5313507" y="611187"/>
                  <a:pt x="5278435" y="611188"/>
                </a:cubicBezTo>
                <a:lnTo>
                  <a:pt x="63502" y="611188"/>
                </a:lnTo>
                <a:cubicBezTo>
                  <a:pt x="28431" y="611188"/>
                  <a:pt x="0" y="582757"/>
                  <a:pt x="0" y="547685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7D9A78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7375" y="3032125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asks AI: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7375" y="3254375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"Create an outline for a market analysis report on sustainable fashion."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187" y="3643313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2: AI Suggests Framework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4187" y="3897313"/>
            <a:ext cx="5349875" cy="1524000"/>
          </a:xfrm>
          <a:custGeom>
            <a:avLst/>
            <a:gdLst/>
            <a:ahLst/>
            <a:cxnLst/>
            <a:rect l="l" t="t" r="r" b="b"/>
            <a:pathLst>
              <a:path w="5349875" h="1524000">
                <a:moveTo>
                  <a:pt x="63505" y="0"/>
                </a:moveTo>
                <a:lnTo>
                  <a:pt x="5286370" y="0"/>
                </a:lnTo>
                <a:cubicBezTo>
                  <a:pt x="5321443" y="0"/>
                  <a:pt x="5349875" y="28432"/>
                  <a:pt x="5349875" y="63505"/>
                </a:cubicBezTo>
                <a:lnTo>
                  <a:pt x="5349875" y="1460495"/>
                </a:lnTo>
                <a:cubicBezTo>
                  <a:pt x="5349875" y="1495568"/>
                  <a:pt x="5321443" y="1524000"/>
                  <a:pt x="5286370" y="1524000"/>
                </a:cubicBezTo>
                <a:lnTo>
                  <a:pt x="63505" y="1524000"/>
                </a:lnTo>
                <a:cubicBezTo>
                  <a:pt x="28432" y="1524000"/>
                  <a:pt x="0" y="1495568"/>
                  <a:pt x="0" y="14604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7D9A78">
              <a:alpha val="1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79438" y="3992563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AI-Generated Outline: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6438" y="4214813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Executive Summary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6438" y="4405313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Market Trends Overview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6438" y="4595813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Competitor Analysis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6438" y="4786313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Consumer Behavior Insights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6438" y="4976813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Strategic Recommendations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6438" y="5167313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 Conclusion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187" y="5516563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3: Student Customizes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4187" y="5770563"/>
            <a:ext cx="5413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student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adjusts the framework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align with their specific research findings, adds subsections relevant to their data, and reorders sections to match their argument flow.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5219" y="1146969"/>
            <a:ext cx="5675313" cy="2738438"/>
          </a:xfrm>
          <a:custGeom>
            <a:avLst/>
            <a:gdLst/>
            <a:ahLst/>
            <a:cxnLst/>
            <a:rect l="l" t="t" r="r" b="b"/>
            <a:pathLst>
              <a:path w="5675313" h="2738438">
                <a:moveTo>
                  <a:pt x="63504" y="0"/>
                </a:moveTo>
                <a:lnTo>
                  <a:pt x="5611808" y="0"/>
                </a:lnTo>
                <a:cubicBezTo>
                  <a:pt x="5646881" y="0"/>
                  <a:pt x="5675313" y="28432"/>
                  <a:pt x="5675313" y="63504"/>
                </a:cubicBezTo>
                <a:lnTo>
                  <a:pt x="5675313" y="2674933"/>
                </a:lnTo>
                <a:cubicBezTo>
                  <a:pt x="5675313" y="2710006"/>
                  <a:pt x="5646881" y="2738437"/>
                  <a:pt x="5611808" y="2738438"/>
                </a:cubicBezTo>
                <a:lnTo>
                  <a:pt x="63504" y="2738438"/>
                </a:lnTo>
                <a:cubicBezTo>
                  <a:pt x="28432" y="2738438"/>
                  <a:pt x="0" y="2710006"/>
                  <a:pt x="0" y="2674933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77781" y="1337469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3933" y="0"/>
                  <a:pt x="88119" y="2511"/>
                  <a:pt x="90289" y="6511"/>
                </a:cubicBezTo>
                <a:lnTo>
                  <a:pt x="157262" y="130535"/>
                </a:lnTo>
                <a:cubicBezTo>
                  <a:pt x="159339" y="134379"/>
                  <a:pt x="159246" y="139030"/>
                  <a:pt x="157014" y="142782"/>
                </a:cubicBezTo>
                <a:cubicBezTo>
                  <a:pt x="154781" y="146534"/>
                  <a:pt x="150719" y="148828"/>
                  <a:pt x="146348" y="148828"/>
                </a:cubicBezTo>
                <a:lnTo>
                  <a:pt x="12402" y="148828"/>
                </a:lnTo>
                <a:cubicBezTo>
                  <a:pt x="8031" y="148828"/>
                  <a:pt x="4000" y="146534"/>
                  <a:pt x="1736" y="142782"/>
                </a:cubicBezTo>
                <a:cubicBezTo>
                  <a:pt x="-527" y="139030"/>
                  <a:pt x="-589" y="134379"/>
                  <a:pt x="1488" y="130535"/>
                </a:cubicBezTo>
                <a:lnTo>
                  <a:pt x="68461" y="6511"/>
                </a:lnTo>
                <a:cubicBezTo>
                  <a:pt x="70631" y="2511"/>
                  <a:pt x="74817" y="0"/>
                  <a:pt x="79375" y="0"/>
                </a:cubicBezTo>
                <a:close/>
                <a:moveTo>
                  <a:pt x="79375" y="52090"/>
                </a:moveTo>
                <a:cubicBezTo>
                  <a:pt x="75251" y="52090"/>
                  <a:pt x="71934" y="55407"/>
                  <a:pt x="71934" y="59531"/>
                </a:cubicBezTo>
                <a:lnTo>
                  <a:pt x="71934" y="94258"/>
                </a:lnTo>
                <a:cubicBezTo>
                  <a:pt x="71934" y="98382"/>
                  <a:pt x="75251" y="101699"/>
                  <a:pt x="79375" y="101699"/>
                </a:cubicBezTo>
                <a:cubicBezTo>
                  <a:pt x="83499" y="101699"/>
                  <a:pt x="86816" y="98382"/>
                  <a:pt x="86816" y="94258"/>
                </a:cubicBezTo>
                <a:lnTo>
                  <a:pt x="86816" y="59531"/>
                </a:lnTo>
                <a:cubicBezTo>
                  <a:pt x="86816" y="55407"/>
                  <a:pt x="83499" y="52090"/>
                  <a:pt x="79375" y="52090"/>
                </a:cubicBezTo>
                <a:close/>
                <a:moveTo>
                  <a:pt x="87654" y="119062"/>
                </a:moveTo>
                <a:cubicBezTo>
                  <a:pt x="87842" y="115990"/>
                  <a:pt x="86309" y="113066"/>
                  <a:pt x="83675" y="111473"/>
                </a:cubicBezTo>
                <a:cubicBezTo>
                  <a:pt x="81041" y="109879"/>
                  <a:pt x="77740" y="109879"/>
                  <a:pt x="75106" y="111473"/>
                </a:cubicBezTo>
                <a:cubicBezTo>
                  <a:pt x="72472" y="113066"/>
                  <a:pt x="70939" y="115990"/>
                  <a:pt x="71127" y="119062"/>
                </a:cubicBezTo>
                <a:cubicBezTo>
                  <a:pt x="70939" y="122135"/>
                  <a:pt x="72472" y="125059"/>
                  <a:pt x="75106" y="126652"/>
                </a:cubicBezTo>
                <a:cubicBezTo>
                  <a:pt x="77740" y="128246"/>
                  <a:pt x="81041" y="128246"/>
                  <a:pt x="83675" y="126652"/>
                </a:cubicBezTo>
                <a:cubicBezTo>
                  <a:pt x="86309" y="125059"/>
                  <a:pt x="87842" y="122135"/>
                  <a:pt x="87654" y="119062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28" name="Text 26"/>
          <p:cNvSpPr/>
          <p:nvPr/>
        </p:nvSpPr>
        <p:spPr>
          <a:xfrm>
            <a:off x="6596063" y="1309688"/>
            <a:ext cx="5191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to Avoid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57938" y="1658938"/>
            <a:ext cx="5349875" cy="571500"/>
          </a:xfrm>
          <a:custGeom>
            <a:avLst/>
            <a:gdLst/>
            <a:ahLst/>
            <a:cxnLst/>
            <a:rect l="l" t="t" r="r" b="b"/>
            <a:pathLst>
              <a:path w="5349875" h="571500">
                <a:moveTo>
                  <a:pt x="63499" y="0"/>
                </a:moveTo>
                <a:lnTo>
                  <a:pt x="5286376" y="0"/>
                </a:lnTo>
                <a:cubicBezTo>
                  <a:pt x="5321445" y="0"/>
                  <a:pt x="5349875" y="28430"/>
                  <a:pt x="5349875" y="63499"/>
                </a:cubicBezTo>
                <a:lnTo>
                  <a:pt x="5349875" y="508001"/>
                </a:lnTo>
                <a:cubicBezTo>
                  <a:pt x="5349875" y="543070"/>
                  <a:pt x="5321445" y="571500"/>
                  <a:pt x="528637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30" name="Shape 28"/>
          <p:cNvSpPr/>
          <p:nvPr/>
        </p:nvSpPr>
        <p:spPr>
          <a:xfrm>
            <a:off x="6469063" y="17819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1083" y="102319"/>
                </a:moveTo>
                <a:lnTo>
                  <a:pt x="24681" y="35917"/>
                </a:lnTo>
                <a:cubicBezTo>
                  <a:pt x="19124" y="43706"/>
                  <a:pt x="15875" y="53231"/>
                  <a:pt x="15875" y="63500"/>
                </a:cubicBezTo>
                <a:cubicBezTo>
                  <a:pt x="15875" y="89793"/>
                  <a:pt x="37207" y="111125"/>
                  <a:pt x="63500" y="111125"/>
                </a:cubicBezTo>
                <a:cubicBezTo>
                  <a:pt x="73794" y="111125"/>
                  <a:pt x="83319" y="107876"/>
                  <a:pt x="91083" y="102319"/>
                </a:cubicBezTo>
                <a:close/>
                <a:moveTo>
                  <a:pt x="102319" y="91083"/>
                </a:moveTo>
                <a:cubicBezTo>
                  <a:pt x="107876" y="83294"/>
                  <a:pt x="111125" y="73769"/>
                  <a:pt x="111125" y="63500"/>
                </a:cubicBezTo>
                <a:cubicBezTo>
                  <a:pt x="111125" y="37207"/>
                  <a:pt x="89793" y="15875"/>
                  <a:pt x="63500" y="15875"/>
                </a:cubicBezTo>
                <a:cubicBezTo>
                  <a:pt x="53206" y="15875"/>
                  <a:pt x="43681" y="19124"/>
                  <a:pt x="35917" y="24681"/>
                </a:cubicBezTo>
                <a:lnTo>
                  <a:pt x="102319" y="91083"/>
                </a:lnTo>
                <a:close/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</a:path>
            </a:pathLst>
          </a:custGeom>
          <a:solidFill>
            <a:srgbClr val="C10007"/>
          </a:solidFill>
          <a:ln/>
        </p:spPr>
      </p:sp>
      <p:sp>
        <p:nvSpPr>
          <p:cNvPr id="31" name="Text 29"/>
          <p:cNvSpPr/>
          <p:nvPr/>
        </p:nvSpPr>
        <p:spPr>
          <a:xfrm>
            <a:off x="6651625" y="1754188"/>
            <a:ext cx="5024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Rigid Adherence to AI Suggestions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53188" y="1976438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AI-generated outline should not constrain the natural progression of your ideas. Flexibility is key.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57938" y="2325688"/>
            <a:ext cx="5349875" cy="571500"/>
          </a:xfrm>
          <a:custGeom>
            <a:avLst/>
            <a:gdLst/>
            <a:ahLst/>
            <a:cxnLst/>
            <a:rect l="l" t="t" r="r" b="b"/>
            <a:pathLst>
              <a:path w="5349875" h="571500">
                <a:moveTo>
                  <a:pt x="63499" y="0"/>
                </a:moveTo>
                <a:lnTo>
                  <a:pt x="5286376" y="0"/>
                </a:lnTo>
                <a:cubicBezTo>
                  <a:pt x="5321445" y="0"/>
                  <a:pt x="5349875" y="28430"/>
                  <a:pt x="5349875" y="63499"/>
                </a:cubicBezTo>
                <a:lnTo>
                  <a:pt x="5349875" y="508001"/>
                </a:lnTo>
                <a:cubicBezTo>
                  <a:pt x="5349875" y="543070"/>
                  <a:pt x="5321445" y="571500"/>
                  <a:pt x="528637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34" name="Shape 32"/>
          <p:cNvSpPr/>
          <p:nvPr/>
        </p:nvSpPr>
        <p:spPr>
          <a:xfrm>
            <a:off x="6469063" y="24487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1083" y="102319"/>
                </a:moveTo>
                <a:lnTo>
                  <a:pt x="24681" y="35917"/>
                </a:lnTo>
                <a:cubicBezTo>
                  <a:pt x="19124" y="43706"/>
                  <a:pt x="15875" y="53231"/>
                  <a:pt x="15875" y="63500"/>
                </a:cubicBezTo>
                <a:cubicBezTo>
                  <a:pt x="15875" y="89793"/>
                  <a:pt x="37207" y="111125"/>
                  <a:pt x="63500" y="111125"/>
                </a:cubicBezTo>
                <a:cubicBezTo>
                  <a:pt x="73794" y="111125"/>
                  <a:pt x="83319" y="107876"/>
                  <a:pt x="91083" y="102319"/>
                </a:cubicBezTo>
                <a:close/>
                <a:moveTo>
                  <a:pt x="102319" y="91083"/>
                </a:moveTo>
                <a:cubicBezTo>
                  <a:pt x="107876" y="83294"/>
                  <a:pt x="111125" y="73769"/>
                  <a:pt x="111125" y="63500"/>
                </a:cubicBezTo>
                <a:cubicBezTo>
                  <a:pt x="111125" y="37207"/>
                  <a:pt x="89793" y="15875"/>
                  <a:pt x="63500" y="15875"/>
                </a:cubicBezTo>
                <a:cubicBezTo>
                  <a:pt x="53206" y="15875"/>
                  <a:pt x="43681" y="19124"/>
                  <a:pt x="35917" y="24681"/>
                </a:cubicBezTo>
                <a:lnTo>
                  <a:pt x="102319" y="91083"/>
                </a:lnTo>
                <a:close/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</a:path>
            </a:pathLst>
          </a:custGeom>
          <a:solidFill>
            <a:srgbClr val="C10007"/>
          </a:solidFill>
          <a:ln/>
        </p:spPr>
      </p:sp>
      <p:sp>
        <p:nvSpPr>
          <p:cNvPr id="35" name="Text 33"/>
          <p:cNvSpPr/>
          <p:nvPr/>
        </p:nvSpPr>
        <p:spPr>
          <a:xfrm>
            <a:off x="6651625" y="2420938"/>
            <a:ext cx="5024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Neglecting Coherence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53188" y="2643188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 the AI-proposed structure maintains logical flow and effectively supports your thesis statement.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57938" y="2992438"/>
            <a:ext cx="5349875" cy="730250"/>
          </a:xfrm>
          <a:custGeom>
            <a:avLst/>
            <a:gdLst/>
            <a:ahLst/>
            <a:cxnLst/>
            <a:rect l="l" t="t" r="r" b="b"/>
            <a:pathLst>
              <a:path w="5349875" h="730250">
                <a:moveTo>
                  <a:pt x="63503" y="0"/>
                </a:moveTo>
                <a:lnTo>
                  <a:pt x="5286372" y="0"/>
                </a:lnTo>
                <a:cubicBezTo>
                  <a:pt x="5321444" y="0"/>
                  <a:pt x="5349875" y="28431"/>
                  <a:pt x="5349875" y="63503"/>
                </a:cubicBezTo>
                <a:lnTo>
                  <a:pt x="5349875" y="666747"/>
                </a:lnTo>
                <a:cubicBezTo>
                  <a:pt x="5349875" y="701819"/>
                  <a:pt x="5321444" y="730250"/>
                  <a:pt x="5286372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38" name="Shape 36"/>
          <p:cNvSpPr/>
          <p:nvPr/>
        </p:nvSpPr>
        <p:spPr>
          <a:xfrm>
            <a:off x="6469063" y="31154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1083" y="102319"/>
                </a:moveTo>
                <a:lnTo>
                  <a:pt x="24681" y="35917"/>
                </a:lnTo>
                <a:cubicBezTo>
                  <a:pt x="19124" y="43706"/>
                  <a:pt x="15875" y="53231"/>
                  <a:pt x="15875" y="63500"/>
                </a:cubicBezTo>
                <a:cubicBezTo>
                  <a:pt x="15875" y="89793"/>
                  <a:pt x="37207" y="111125"/>
                  <a:pt x="63500" y="111125"/>
                </a:cubicBezTo>
                <a:cubicBezTo>
                  <a:pt x="73794" y="111125"/>
                  <a:pt x="83319" y="107876"/>
                  <a:pt x="91083" y="102319"/>
                </a:cubicBezTo>
                <a:close/>
                <a:moveTo>
                  <a:pt x="102319" y="91083"/>
                </a:moveTo>
                <a:cubicBezTo>
                  <a:pt x="107876" y="83294"/>
                  <a:pt x="111125" y="73769"/>
                  <a:pt x="111125" y="63500"/>
                </a:cubicBezTo>
                <a:cubicBezTo>
                  <a:pt x="111125" y="37207"/>
                  <a:pt x="89793" y="15875"/>
                  <a:pt x="63500" y="15875"/>
                </a:cubicBezTo>
                <a:cubicBezTo>
                  <a:pt x="53206" y="15875"/>
                  <a:pt x="43681" y="19124"/>
                  <a:pt x="35917" y="24681"/>
                </a:cubicBezTo>
                <a:lnTo>
                  <a:pt x="102319" y="91083"/>
                </a:lnTo>
                <a:close/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</a:path>
            </a:pathLst>
          </a:custGeom>
          <a:solidFill>
            <a:srgbClr val="C10007"/>
          </a:solidFill>
          <a:ln/>
        </p:spPr>
      </p:sp>
      <p:sp>
        <p:nvSpPr>
          <p:cNvPr id="39" name="Text 37"/>
          <p:cNvSpPr/>
          <p:nvPr/>
        </p:nvSpPr>
        <p:spPr>
          <a:xfrm>
            <a:off x="6651625" y="3087688"/>
            <a:ext cx="5024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Overlooking Depth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53188" y="3309938"/>
            <a:ext cx="5214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can provide frameworks, but deeper analysis and argument development come from </a:t>
            </a:r>
            <a:pPr>
              <a:lnSpc>
                <a:spcPct val="120000"/>
              </a:lnSpc>
            </a:pPr>
            <a:r>
              <a:rPr lang="en-US" sz="875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engagement with the material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07125" y="4016375"/>
            <a:ext cx="5667375" cy="1587500"/>
          </a:xfrm>
          <a:custGeom>
            <a:avLst/>
            <a:gdLst/>
            <a:ahLst/>
            <a:cxnLst/>
            <a:rect l="l" t="t" r="r" b="b"/>
            <a:pathLst>
              <a:path w="5667375" h="1587500">
                <a:moveTo>
                  <a:pt x="31750" y="0"/>
                </a:moveTo>
                <a:lnTo>
                  <a:pt x="5603875" y="0"/>
                </a:lnTo>
                <a:cubicBezTo>
                  <a:pt x="5638922" y="0"/>
                  <a:pt x="5667375" y="28453"/>
                  <a:pt x="5667375" y="63500"/>
                </a:cubicBezTo>
                <a:lnTo>
                  <a:pt x="5667375" y="1524000"/>
                </a:lnTo>
                <a:cubicBezTo>
                  <a:pt x="5667375" y="1559047"/>
                  <a:pt x="5638922" y="1587500"/>
                  <a:pt x="5603875" y="1587500"/>
                </a:cubicBezTo>
                <a:lnTo>
                  <a:pt x="31750" y="1587500"/>
                </a:lnTo>
                <a:cubicBezTo>
                  <a:pt x="14227" y="1587500"/>
                  <a:pt x="0" y="1573273"/>
                  <a:pt x="0" y="155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5A3D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07125" y="4016375"/>
            <a:ext cx="31750" cy="1587500"/>
          </a:xfrm>
          <a:custGeom>
            <a:avLst/>
            <a:gdLst/>
            <a:ahLst/>
            <a:cxnLst/>
            <a:rect l="l" t="t" r="r" b="b"/>
            <a:pathLst>
              <a:path w="31750" h="1587500">
                <a:moveTo>
                  <a:pt x="31750" y="0"/>
                </a:moveTo>
                <a:lnTo>
                  <a:pt x="31750" y="0"/>
                </a:lnTo>
                <a:lnTo>
                  <a:pt x="31750" y="1587500"/>
                </a:lnTo>
                <a:lnTo>
                  <a:pt x="31750" y="1587500"/>
                </a:lnTo>
                <a:cubicBezTo>
                  <a:pt x="14227" y="1587500"/>
                  <a:pt x="0" y="1573273"/>
                  <a:pt x="0" y="155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43" name="Shape 41"/>
          <p:cNvSpPr/>
          <p:nvPr/>
        </p:nvSpPr>
        <p:spPr>
          <a:xfrm>
            <a:off x="6392664" y="4214813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86367" y="-5274"/>
                </a:moveTo>
                <a:cubicBezTo>
                  <a:pt x="85223" y="-7507"/>
                  <a:pt x="82907" y="-8930"/>
                  <a:pt x="80395" y="-8930"/>
                </a:cubicBezTo>
                <a:cubicBezTo>
                  <a:pt x="77884" y="-8930"/>
                  <a:pt x="75567" y="-7507"/>
                  <a:pt x="74423" y="-5274"/>
                </a:cubicBezTo>
                <a:lnTo>
                  <a:pt x="53885" y="34965"/>
                </a:lnTo>
                <a:lnTo>
                  <a:pt x="9265" y="42053"/>
                </a:lnTo>
                <a:cubicBezTo>
                  <a:pt x="6781" y="42444"/>
                  <a:pt x="4716" y="44202"/>
                  <a:pt x="3935" y="46602"/>
                </a:cubicBezTo>
                <a:cubicBezTo>
                  <a:pt x="3153" y="49002"/>
                  <a:pt x="3795" y="51625"/>
                  <a:pt x="5553" y="53411"/>
                </a:cubicBezTo>
                <a:lnTo>
                  <a:pt x="37477" y="85362"/>
                </a:lnTo>
                <a:lnTo>
                  <a:pt x="30445" y="129983"/>
                </a:lnTo>
                <a:cubicBezTo>
                  <a:pt x="30054" y="132466"/>
                  <a:pt x="31086" y="134978"/>
                  <a:pt x="33124" y="136457"/>
                </a:cubicBezTo>
                <a:cubicBezTo>
                  <a:pt x="35161" y="137936"/>
                  <a:pt x="37840" y="138159"/>
                  <a:pt x="40100" y="137015"/>
                </a:cubicBezTo>
                <a:lnTo>
                  <a:pt x="80395" y="116532"/>
                </a:lnTo>
                <a:lnTo>
                  <a:pt x="120662" y="137015"/>
                </a:lnTo>
                <a:cubicBezTo>
                  <a:pt x="122895" y="138159"/>
                  <a:pt x="125602" y="137936"/>
                  <a:pt x="127639" y="136457"/>
                </a:cubicBezTo>
                <a:cubicBezTo>
                  <a:pt x="129676" y="134978"/>
                  <a:pt x="130708" y="132494"/>
                  <a:pt x="130318" y="129983"/>
                </a:cubicBezTo>
                <a:lnTo>
                  <a:pt x="123258" y="85362"/>
                </a:lnTo>
                <a:lnTo>
                  <a:pt x="155181" y="53411"/>
                </a:lnTo>
                <a:cubicBezTo>
                  <a:pt x="156967" y="51625"/>
                  <a:pt x="157581" y="49002"/>
                  <a:pt x="156800" y="46602"/>
                </a:cubicBezTo>
                <a:cubicBezTo>
                  <a:pt x="156018" y="44202"/>
                  <a:pt x="153981" y="42444"/>
                  <a:pt x="151470" y="42053"/>
                </a:cubicBezTo>
                <a:lnTo>
                  <a:pt x="106877" y="34965"/>
                </a:lnTo>
                <a:lnTo>
                  <a:pt x="86367" y="-5274"/>
                </a:ln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44" name="Text 42"/>
          <p:cNvSpPr/>
          <p:nvPr/>
        </p:nvSpPr>
        <p:spPr>
          <a:xfrm>
            <a:off x="6604000" y="4175125"/>
            <a:ext cx="518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05563" y="452437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46" name="Text 44"/>
          <p:cNvSpPr/>
          <p:nvPr/>
        </p:nvSpPr>
        <p:spPr>
          <a:xfrm>
            <a:off x="6604000" y="4492625"/>
            <a:ext cx="227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AI outlines as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flexible starting points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05563" y="477837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48" name="Text 46"/>
          <p:cNvSpPr/>
          <p:nvPr/>
        </p:nvSpPr>
        <p:spPr>
          <a:xfrm>
            <a:off x="6604000" y="4746625"/>
            <a:ext cx="2262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Customize to match your research goals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05563" y="503237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50" name="Text 48"/>
          <p:cNvSpPr/>
          <p:nvPr/>
        </p:nvSpPr>
        <p:spPr>
          <a:xfrm>
            <a:off x="6604000" y="5000625"/>
            <a:ext cx="2738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 transitions support your overall argument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05563" y="528637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52" name="Text 50"/>
          <p:cNvSpPr/>
          <p:nvPr/>
        </p:nvSpPr>
        <p:spPr>
          <a:xfrm>
            <a:off x="6604000" y="5254625"/>
            <a:ext cx="2087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based on professor feedback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91250" y="5730875"/>
            <a:ext cx="5683250" cy="666750"/>
          </a:xfrm>
          <a:custGeom>
            <a:avLst/>
            <a:gdLst/>
            <a:ahLst/>
            <a:cxnLst/>
            <a:rect l="l" t="t" r="r" b="b"/>
            <a:pathLst>
              <a:path w="5683250" h="666750">
                <a:moveTo>
                  <a:pt x="63501" y="0"/>
                </a:moveTo>
                <a:lnTo>
                  <a:pt x="5619749" y="0"/>
                </a:lnTo>
                <a:cubicBezTo>
                  <a:pt x="5654820" y="0"/>
                  <a:pt x="5683250" y="28430"/>
                  <a:pt x="5683250" y="63501"/>
                </a:cubicBezTo>
                <a:lnTo>
                  <a:pt x="5683250" y="603249"/>
                </a:lnTo>
                <a:cubicBezTo>
                  <a:pt x="5683250" y="638320"/>
                  <a:pt x="5654820" y="666750"/>
                  <a:pt x="56197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7D9A78">
              <a:alpha val="1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318250" y="5857875"/>
            <a:ext cx="5492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Think of AI as a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structural consultant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—it can suggest frameworks, but you're the architect who must ensure the building (your paper) stands strong.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21469" y="6528594"/>
            <a:ext cx="1365250" cy="269875"/>
          </a:xfrm>
          <a:custGeom>
            <a:avLst/>
            <a:gdLst/>
            <a:ahLst/>
            <a:cxnLst/>
            <a:rect l="l" t="t" r="r" b="b"/>
            <a:pathLst>
              <a:path w="1365250" h="269875">
                <a:moveTo>
                  <a:pt x="0" y="0"/>
                </a:moveTo>
                <a:lnTo>
                  <a:pt x="1365250" y="0"/>
                </a:lnTo>
                <a:lnTo>
                  <a:pt x="1365250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90196"/>
            </a:srgbClr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7500" y="6524625"/>
            <a:ext cx="1404938" cy="261937"/>
          </a:xfrm>
          <a:prstGeom prst="rect">
            <a:avLst/>
          </a:prstGeom>
          <a:noFill/>
          <a:ln/>
        </p:spPr>
        <p:txBody>
          <a:bodyPr wrap="square" lIns="95250" tIns="63500" rIns="95250" bIns="63500" rtlCol="0" anchor="ctr"/>
          <a:lstStyle/>
          <a:p>
            <a:pPr>
              <a:lnSpc>
                <a:spcPct val="120000"/>
              </a:lnSpc>
            </a:pPr>
            <a:r>
              <a:rPr lang="en-US" sz="75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Use • Paper Structure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584532" y="6584714"/>
            <a:ext cx="134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suggests, you customize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spc="88" kern="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Use Case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Improving Clarity &amp; Style Ethically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5250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" name="Shape 3"/>
          <p:cNvSpPr/>
          <p:nvPr/>
        </p:nvSpPr>
        <p:spPr>
          <a:xfrm>
            <a:off x="321469" y="1146969"/>
            <a:ext cx="5675313" cy="3484563"/>
          </a:xfrm>
          <a:custGeom>
            <a:avLst/>
            <a:gdLst/>
            <a:ahLst/>
            <a:cxnLst/>
            <a:rect l="l" t="t" r="r" b="b"/>
            <a:pathLst>
              <a:path w="5675313" h="3484563">
                <a:moveTo>
                  <a:pt x="63489" y="0"/>
                </a:moveTo>
                <a:lnTo>
                  <a:pt x="5611824" y="0"/>
                </a:lnTo>
                <a:cubicBezTo>
                  <a:pt x="5646888" y="0"/>
                  <a:pt x="5675313" y="28425"/>
                  <a:pt x="5675313" y="63489"/>
                </a:cubicBezTo>
                <a:lnTo>
                  <a:pt x="5675313" y="3421074"/>
                </a:lnTo>
                <a:cubicBezTo>
                  <a:pt x="5675313" y="3456138"/>
                  <a:pt x="5646888" y="3484563"/>
                  <a:pt x="5611824" y="3484563"/>
                </a:cubicBezTo>
                <a:lnTo>
                  <a:pt x="63489" y="3484563"/>
                </a:lnTo>
                <a:cubicBezTo>
                  <a:pt x="28425" y="3484563"/>
                  <a:pt x="0" y="3456138"/>
                  <a:pt x="0" y="3421074"/>
                </a:cubicBezTo>
                <a:lnTo>
                  <a:pt x="0" y="63489"/>
                </a:lnTo>
                <a:cubicBezTo>
                  <a:pt x="0" y="28448"/>
                  <a:pt x="28448" y="0"/>
                  <a:pt x="63489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4031" y="1337469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46224" y="6728"/>
                </a:moveTo>
                <a:cubicBezTo>
                  <a:pt x="139433" y="-62"/>
                  <a:pt x="128457" y="-62"/>
                  <a:pt x="121667" y="6728"/>
                </a:cubicBezTo>
                <a:lnTo>
                  <a:pt x="114102" y="14294"/>
                </a:lnTo>
                <a:lnTo>
                  <a:pt x="144456" y="44648"/>
                </a:lnTo>
                <a:lnTo>
                  <a:pt x="152022" y="37083"/>
                </a:lnTo>
                <a:cubicBezTo>
                  <a:pt x="158812" y="30293"/>
                  <a:pt x="158812" y="19317"/>
                  <a:pt x="152022" y="12526"/>
                </a:cubicBezTo>
                <a:lnTo>
                  <a:pt x="146224" y="6728"/>
                </a:lnTo>
                <a:close/>
                <a:moveTo>
                  <a:pt x="53454" y="74941"/>
                </a:moveTo>
                <a:cubicBezTo>
                  <a:pt x="51563" y="76833"/>
                  <a:pt x="50105" y="79158"/>
                  <a:pt x="49268" y="81731"/>
                </a:cubicBezTo>
                <a:lnTo>
                  <a:pt x="40091" y="109265"/>
                </a:lnTo>
                <a:cubicBezTo>
                  <a:pt x="39191" y="111931"/>
                  <a:pt x="39905" y="114877"/>
                  <a:pt x="41889" y="116892"/>
                </a:cubicBezTo>
                <a:cubicBezTo>
                  <a:pt x="43873" y="118907"/>
                  <a:pt x="46819" y="119590"/>
                  <a:pt x="49516" y="118690"/>
                </a:cubicBezTo>
                <a:lnTo>
                  <a:pt x="77050" y="109513"/>
                </a:lnTo>
                <a:cubicBezTo>
                  <a:pt x="79592" y="108676"/>
                  <a:pt x="81917" y="107218"/>
                  <a:pt x="83840" y="105327"/>
                </a:cubicBezTo>
                <a:lnTo>
                  <a:pt x="133945" y="55159"/>
                </a:lnTo>
                <a:lnTo>
                  <a:pt x="103591" y="24805"/>
                </a:lnTo>
                <a:lnTo>
                  <a:pt x="53454" y="74941"/>
                </a:lnTo>
                <a:close/>
                <a:moveTo>
                  <a:pt x="29766" y="19844"/>
                </a:moveTo>
                <a:cubicBezTo>
                  <a:pt x="13333" y="19844"/>
                  <a:pt x="0" y="33176"/>
                  <a:pt x="0" y="49609"/>
                </a:cubicBezTo>
                <a:lnTo>
                  <a:pt x="0" y="128984"/>
                </a:lnTo>
                <a:cubicBezTo>
                  <a:pt x="0" y="145417"/>
                  <a:pt x="13333" y="158750"/>
                  <a:pt x="29766" y="158750"/>
                </a:cubicBezTo>
                <a:lnTo>
                  <a:pt x="109141" y="158750"/>
                </a:lnTo>
                <a:cubicBezTo>
                  <a:pt x="125574" y="158750"/>
                  <a:pt x="138906" y="145417"/>
                  <a:pt x="138906" y="128984"/>
                </a:cubicBezTo>
                <a:lnTo>
                  <a:pt x="138906" y="99219"/>
                </a:lnTo>
                <a:cubicBezTo>
                  <a:pt x="138906" y="93731"/>
                  <a:pt x="134472" y="89297"/>
                  <a:pt x="128984" y="89297"/>
                </a:cubicBezTo>
                <a:cubicBezTo>
                  <a:pt x="123496" y="89297"/>
                  <a:pt x="119062" y="93731"/>
                  <a:pt x="119062" y="99219"/>
                </a:cubicBezTo>
                <a:lnTo>
                  <a:pt x="119062" y="128984"/>
                </a:lnTo>
                <a:cubicBezTo>
                  <a:pt x="119062" y="134472"/>
                  <a:pt x="114629" y="138906"/>
                  <a:pt x="109141" y="138906"/>
                </a:cubicBezTo>
                <a:lnTo>
                  <a:pt x="29766" y="138906"/>
                </a:lnTo>
                <a:cubicBezTo>
                  <a:pt x="24278" y="138906"/>
                  <a:pt x="19844" y="134472"/>
                  <a:pt x="19844" y="128984"/>
                </a:cubicBezTo>
                <a:lnTo>
                  <a:pt x="19844" y="49609"/>
                </a:lnTo>
                <a:cubicBezTo>
                  <a:pt x="19844" y="44121"/>
                  <a:pt x="24278" y="39688"/>
                  <a:pt x="29766" y="39688"/>
                </a:cubicBezTo>
                <a:lnTo>
                  <a:pt x="59531" y="39688"/>
                </a:lnTo>
                <a:cubicBezTo>
                  <a:pt x="65019" y="39688"/>
                  <a:pt x="69453" y="35254"/>
                  <a:pt x="69453" y="29766"/>
                </a:cubicBezTo>
                <a:cubicBezTo>
                  <a:pt x="69453" y="24278"/>
                  <a:pt x="65019" y="19844"/>
                  <a:pt x="59531" y="19844"/>
                </a:cubicBezTo>
                <a:lnTo>
                  <a:pt x="29766" y="19844"/>
                </a:ln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7" name="Text 5"/>
          <p:cNvSpPr/>
          <p:nvPr/>
        </p:nvSpPr>
        <p:spPr>
          <a:xfrm>
            <a:off x="722313" y="1309688"/>
            <a:ext cx="5191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Ethical Editing Practices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187" y="1658938"/>
            <a:ext cx="5349875" cy="920750"/>
          </a:xfrm>
          <a:custGeom>
            <a:avLst/>
            <a:gdLst/>
            <a:ahLst/>
            <a:cxnLst/>
            <a:rect l="l" t="t" r="r" b="b"/>
            <a:pathLst>
              <a:path w="5349875" h="920750">
                <a:moveTo>
                  <a:pt x="63504" y="0"/>
                </a:moveTo>
                <a:lnTo>
                  <a:pt x="5286371" y="0"/>
                </a:lnTo>
                <a:cubicBezTo>
                  <a:pt x="5321443" y="0"/>
                  <a:pt x="5349875" y="28432"/>
                  <a:pt x="5349875" y="63504"/>
                </a:cubicBezTo>
                <a:lnTo>
                  <a:pt x="5349875" y="857246"/>
                </a:lnTo>
                <a:cubicBezTo>
                  <a:pt x="5349875" y="892318"/>
                  <a:pt x="5321443" y="920750"/>
                  <a:pt x="5286371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2D5A3D">
              <a:alpha val="5098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27063" y="18137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0" name="Text 8"/>
          <p:cNvSpPr/>
          <p:nvPr/>
        </p:nvSpPr>
        <p:spPr>
          <a:xfrm>
            <a:off x="809625" y="1785938"/>
            <a:ext cx="4960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Grammar &amp; Style Improvements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1188" y="2039938"/>
            <a:ext cx="5159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tools like Grammarly to enhance sentence structure, readability, and catch mechanical errors—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just like using spell-check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187" y="2706688"/>
            <a:ext cx="5349875" cy="920750"/>
          </a:xfrm>
          <a:custGeom>
            <a:avLst/>
            <a:gdLst/>
            <a:ahLst/>
            <a:cxnLst/>
            <a:rect l="l" t="t" r="r" b="b"/>
            <a:pathLst>
              <a:path w="5349875" h="920750">
                <a:moveTo>
                  <a:pt x="63504" y="0"/>
                </a:moveTo>
                <a:lnTo>
                  <a:pt x="5286371" y="0"/>
                </a:lnTo>
                <a:cubicBezTo>
                  <a:pt x="5321443" y="0"/>
                  <a:pt x="5349875" y="28432"/>
                  <a:pt x="5349875" y="63504"/>
                </a:cubicBezTo>
                <a:lnTo>
                  <a:pt x="5349875" y="857246"/>
                </a:lnTo>
                <a:cubicBezTo>
                  <a:pt x="5349875" y="892318"/>
                  <a:pt x="5321443" y="920750"/>
                  <a:pt x="5286371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7D9A78">
              <a:alpha val="5098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27063" y="28614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4" name="Text 12"/>
          <p:cNvSpPr/>
          <p:nvPr/>
        </p:nvSpPr>
        <p:spPr>
          <a:xfrm>
            <a:off x="809625" y="2833688"/>
            <a:ext cx="4960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Alternative Phrasing Suggestions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1188" y="3087688"/>
            <a:ext cx="5159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can recommend clearer, more concise wording while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preserving your original meaning and voice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4187" y="3754438"/>
            <a:ext cx="5349875" cy="714375"/>
          </a:xfrm>
          <a:custGeom>
            <a:avLst/>
            <a:gdLst/>
            <a:ahLst/>
            <a:cxnLst/>
            <a:rect l="l" t="t" r="r" b="b"/>
            <a:pathLst>
              <a:path w="5349875" h="714375">
                <a:moveTo>
                  <a:pt x="63501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50874"/>
                </a:lnTo>
                <a:cubicBezTo>
                  <a:pt x="5349875" y="685945"/>
                  <a:pt x="5321445" y="714375"/>
                  <a:pt x="5286374" y="714375"/>
                </a:cubicBezTo>
                <a:lnTo>
                  <a:pt x="63501" y="714375"/>
                </a:lnTo>
                <a:cubicBezTo>
                  <a:pt x="28430" y="714375"/>
                  <a:pt x="0" y="685945"/>
                  <a:pt x="0" y="650874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8B7355">
              <a:alpha val="5098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27063" y="39092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8" name="Text 16"/>
          <p:cNvSpPr/>
          <p:nvPr/>
        </p:nvSpPr>
        <p:spPr>
          <a:xfrm>
            <a:off x="809625" y="3881438"/>
            <a:ext cx="4960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Passive Voice &amp; Awkward Phrasing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1188" y="4135438"/>
            <a:ext cx="515937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can highlight unclear or overly complex sentences for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review and revision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1469" y="4766469"/>
            <a:ext cx="5675313" cy="3294063"/>
          </a:xfrm>
          <a:custGeom>
            <a:avLst/>
            <a:gdLst/>
            <a:ahLst/>
            <a:cxnLst/>
            <a:rect l="l" t="t" r="r" b="b"/>
            <a:pathLst>
              <a:path w="5675313" h="3294063">
                <a:moveTo>
                  <a:pt x="63510" y="0"/>
                </a:moveTo>
                <a:lnTo>
                  <a:pt x="5611803" y="0"/>
                </a:lnTo>
                <a:cubicBezTo>
                  <a:pt x="5646878" y="0"/>
                  <a:pt x="5675313" y="28434"/>
                  <a:pt x="5675313" y="63510"/>
                </a:cubicBezTo>
                <a:lnTo>
                  <a:pt x="5675313" y="3230553"/>
                </a:lnTo>
                <a:cubicBezTo>
                  <a:pt x="5675313" y="3265628"/>
                  <a:pt x="5646878" y="3294063"/>
                  <a:pt x="5611803" y="3294063"/>
                </a:cubicBezTo>
                <a:lnTo>
                  <a:pt x="63510" y="3294063"/>
                </a:lnTo>
                <a:cubicBezTo>
                  <a:pt x="28434" y="3294063"/>
                  <a:pt x="0" y="3265628"/>
                  <a:pt x="0" y="3230553"/>
                </a:cubicBezTo>
                <a:lnTo>
                  <a:pt x="0" y="63510"/>
                </a:lnTo>
                <a:cubicBezTo>
                  <a:pt x="0" y="28458"/>
                  <a:pt x="28458" y="0"/>
                  <a:pt x="63510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3953" y="4956969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74817" y="-4031"/>
                </a:moveTo>
                <a:cubicBezTo>
                  <a:pt x="71282" y="-4744"/>
                  <a:pt x="67655" y="-4744"/>
                  <a:pt x="64120" y="-4031"/>
                </a:cubicBezTo>
                <a:lnTo>
                  <a:pt x="5984" y="7596"/>
                </a:lnTo>
                <a:cubicBezTo>
                  <a:pt x="2511" y="8279"/>
                  <a:pt x="0" y="11348"/>
                  <a:pt x="0" y="14883"/>
                </a:cubicBezTo>
                <a:cubicBezTo>
                  <a:pt x="0" y="18076"/>
                  <a:pt x="2015" y="20867"/>
                  <a:pt x="4961" y="21890"/>
                </a:cubicBezTo>
                <a:lnTo>
                  <a:pt x="4961" y="44648"/>
                </a:lnTo>
                <a:lnTo>
                  <a:pt x="93" y="69019"/>
                </a:lnTo>
                <a:cubicBezTo>
                  <a:pt x="31" y="69298"/>
                  <a:pt x="0" y="69608"/>
                  <a:pt x="0" y="69918"/>
                </a:cubicBezTo>
                <a:cubicBezTo>
                  <a:pt x="0" y="72399"/>
                  <a:pt x="2015" y="74445"/>
                  <a:pt x="4527" y="74445"/>
                </a:cubicBezTo>
                <a:lnTo>
                  <a:pt x="15348" y="74445"/>
                </a:lnTo>
                <a:cubicBezTo>
                  <a:pt x="17828" y="74445"/>
                  <a:pt x="19875" y="72430"/>
                  <a:pt x="19875" y="69918"/>
                </a:cubicBezTo>
                <a:cubicBezTo>
                  <a:pt x="19875" y="69608"/>
                  <a:pt x="19844" y="69329"/>
                  <a:pt x="19782" y="69019"/>
                </a:cubicBezTo>
                <a:lnTo>
                  <a:pt x="14883" y="44648"/>
                </a:lnTo>
                <a:lnTo>
                  <a:pt x="14883" y="23968"/>
                </a:lnTo>
                <a:lnTo>
                  <a:pt x="29766" y="26944"/>
                </a:lnTo>
                <a:lnTo>
                  <a:pt x="29766" y="44648"/>
                </a:lnTo>
                <a:cubicBezTo>
                  <a:pt x="29766" y="66570"/>
                  <a:pt x="47532" y="84336"/>
                  <a:pt x="69453" y="84336"/>
                </a:cubicBezTo>
                <a:cubicBezTo>
                  <a:pt x="91374" y="84336"/>
                  <a:pt x="109141" y="66570"/>
                  <a:pt x="109141" y="44648"/>
                </a:cubicBezTo>
                <a:lnTo>
                  <a:pt x="109141" y="26944"/>
                </a:lnTo>
                <a:lnTo>
                  <a:pt x="132922" y="22200"/>
                </a:lnTo>
                <a:cubicBezTo>
                  <a:pt x="136395" y="21487"/>
                  <a:pt x="138906" y="18417"/>
                  <a:pt x="138906" y="14883"/>
                </a:cubicBezTo>
                <a:cubicBezTo>
                  <a:pt x="138906" y="11348"/>
                  <a:pt x="136395" y="8279"/>
                  <a:pt x="132922" y="7596"/>
                </a:cubicBezTo>
                <a:lnTo>
                  <a:pt x="74817" y="-4031"/>
                </a:lnTo>
                <a:close/>
                <a:moveTo>
                  <a:pt x="69453" y="69453"/>
                </a:moveTo>
                <a:cubicBezTo>
                  <a:pt x="55749" y="69453"/>
                  <a:pt x="44648" y="58353"/>
                  <a:pt x="44648" y="44648"/>
                </a:cubicBezTo>
                <a:lnTo>
                  <a:pt x="94258" y="44648"/>
                </a:lnTo>
                <a:cubicBezTo>
                  <a:pt x="94258" y="58353"/>
                  <a:pt x="83158" y="69453"/>
                  <a:pt x="69453" y="69453"/>
                </a:cubicBezTo>
                <a:close/>
                <a:moveTo>
                  <a:pt x="37238" y="99250"/>
                </a:moveTo>
                <a:cubicBezTo>
                  <a:pt x="18200" y="107993"/>
                  <a:pt x="4961" y="127217"/>
                  <a:pt x="4961" y="149541"/>
                </a:cubicBezTo>
                <a:cubicBezTo>
                  <a:pt x="4961" y="154626"/>
                  <a:pt x="9085" y="158750"/>
                  <a:pt x="14170" y="158750"/>
                </a:cubicBezTo>
                <a:lnTo>
                  <a:pt x="62012" y="158750"/>
                </a:lnTo>
                <a:lnTo>
                  <a:pt x="62012" y="113481"/>
                </a:lnTo>
                <a:lnTo>
                  <a:pt x="44214" y="100149"/>
                </a:lnTo>
                <a:cubicBezTo>
                  <a:pt x="42199" y="98630"/>
                  <a:pt x="39501" y="98227"/>
                  <a:pt x="37207" y="99281"/>
                </a:cubicBezTo>
                <a:close/>
                <a:moveTo>
                  <a:pt x="76895" y="158750"/>
                </a:moveTo>
                <a:lnTo>
                  <a:pt x="124737" y="158750"/>
                </a:lnTo>
                <a:cubicBezTo>
                  <a:pt x="129822" y="158750"/>
                  <a:pt x="133945" y="154626"/>
                  <a:pt x="133945" y="149541"/>
                </a:cubicBezTo>
                <a:cubicBezTo>
                  <a:pt x="133945" y="127217"/>
                  <a:pt x="120706" y="107993"/>
                  <a:pt x="101668" y="99281"/>
                </a:cubicBezTo>
                <a:cubicBezTo>
                  <a:pt x="99374" y="98227"/>
                  <a:pt x="96676" y="98630"/>
                  <a:pt x="94661" y="100149"/>
                </a:cubicBezTo>
                <a:lnTo>
                  <a:pt x="76864" y="113481"/>
                </a:lnTo>
                <a:lnTo>
                  <a:pt x="76864" y="158750"/>
                </a:ln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13" y="4929188"/>
            <a:ext cx="5191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Non-Native English Speaker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4187" y="5278438"/>
            <a:ext cx="5349875" cy="571500"/>
          </a:xfrm>
          <a:custGeom>
            <a:avLst/>
            <a:gdLst/>
            <a:ahLst/>
            <a:cxnLst/>
            <a:rect l="l" t="t" r="r" b="b"/>
            <a:pathLst>
              <a:path w="5349875" h="571500">
                <a:moveTo>
                  <a:pt x="63499" y="0"/>
                </a:moveTo>
                <a:lnTo>
                  <a:pt x="5286376" y="0"/>
                </a:lnTo>
                <a:cubicBezTo>
                  <a:pt x="5321445" y="0"/>
                  <a:pt x="5349875" y="28430"/>
                  <a:pt x="5349875" y="63499"/>
                </a:cubicBezTo>
                <a:lnTo>
                  <a:pt x="5349875" y="508001"/>
                </a:lnTo>
                <a:cubicBezTo>
                  <a:pt x="5349875" y="543070"/>
                  <a:pt x="5321445" y="571500"/>
                  <a:pt x="528637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8B7355">
              <a:alpha val="1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79438" y="5389563"/>
            <a:ext cx="455228" cy="123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Original: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9438" y="5564188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"It can be seen that economic instability affects employment rates."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099594" y="5945188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27" name="Shape 25"/>
          <p:cNvSpPr/>
          <p:nvPr/>
        </p:nvSpPr>
        <p:spPr>
          <a:xfrm>
            <a:off x="484187" y="6199188"/>
            <a:ext cx="5349875" cy="571500"/>
          </a:xfrm>
          <a:custGeom>
            <a:avLst/>
            <a:gdLst/>
            <a:ahLst/>
            <a:cxnLst/>
            <a:rect l="l" t="t" r="r" b="b"/>
            <a:pathLst>
              <a:path w="5349875" h="571500">
                <a:moveTo>
                  <a:pt x="63499" y="0"/>
                </a:moveTo>
                <a:lnTo>
                  <a:pt x="5286376" y="0"/>
                </a:lnTo>
                <a:cubicBezTo>
                  <a:pt x="5321445" y="0"/>
                  <a:pt x="5349875" y="28430"/>
                  <a:pt x="5349875" y="63499"/>
                </a:cubicBezTo>
                <a:lnTo>
                  <a:pt x="5349875" y="508001"/>
                </a:lnTo>
                <a:cubicBezTo>
                  <a:pt x="5349875" y="543070"/>
                  <a:pt x="5321445" y="571500"/>
                  <a:pt x="528637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D5A3D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79438" y="6310313"/>
            <a:ext cx="735211" cy="123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Suggestion: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9438" y="6484938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"Economic instability directly influences employment rates."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099594" y="6865938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31" name="Shape 29"/>
          <p:cNvSpPr/>
          <p:nvPr/>
        </p:nvSpPr>
        <p:spPr>
          <a:xfrm>
            <a:off x="488156" y="7123906"/>
            <a:ext cx="5341938" cy="769938"/>
          </a:xfrm>
          <a:custGeom>
            <a:avLst/>
            <a:gdLst/>
            <a:ahLst/>
            <a:cxnLst/>
            <a:rect l="l" t="t" r="r" b="b"/>
            <a:pathLst>
              <a:path w="5341938" h="769938">
                <a:moveTo>
                  <a:pt x="63497" y="0"/>
                </a:moveTo>
                <a:lnTo>
                  <a:pt x="5278441" y="0"/>
                </a:lnTo>
                <a:cubicBezTo>
                  <a:pt x="5313509" y="0"/>
                  <a:pt x="5341938" y="28428"/>
                  <a:pt x="5341938" y="63497"/>
                </a:cubicBezTo>
                <a:lnTo>
                  <a:pt x="5341938" y="706441"/>
                </a:lnTo>
                <a:cubicBezTo>
                  <a:pt x="5341938" y="741509"/>
                  <a:pt x="5313509" y="769938"/>
                  <a:pt x="5278441" y="769938"/>
                </a:cubicBezTo>
                <a:lnTo>
                  <a:pt x="63497" y="769938"/>
                </a:lnTo>
                <a:cubicBezTo>
                  <a:pt x="28428" y="769938"/>
                  <a:pt x="0" y="741509"/>
                  <a:pt x="0" y="706441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F0FDF4"/>
          </a:solidFill>
          <a:ln w="12700">
            <a:solidFill>
              <a:srgbClr val="7BF1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7375" y="7239000"/>
            <a:ext cx="967135" cy="123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Student's Decision: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87375" y="7413625"/>
            <a:ext cx="520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student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reviews the suggestion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decides it improves clarity, and accepts it—while ensuring the final version aligns with their writing style.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07125" y="1143000"/>
            <a:ext cx="5667375" cy="2571750"/>
          </a:xfrm>
          <a:custGeom>
            <a:avLst/>
            <a:gdLst/>
            <a:ahLst/>
            <a:cxnLst/>
            <a:rect l="l" t="t" r="r" b="b"/>
            <a:pathLst>
              <a:path w="5667375" h="2571750">
                <a:moveTo>
                  <a:pt x="31750" y="0"/>
                </a:moveTo>
                <a:lnTo>
                  <a:pt x="5603878" y="0"/>
                </a:lnTo>
                <a:cubicBezTo>
                  <a:pt x="5638947" y="0"/>
                  <a:pt x="5667375" y="28428"/>
                  <a:pt x="5667375" y="63497"/>
                </a:cubicBezTo>
                <a:lnTo>
                  <a:pt x="5667375" y="2508253"/>
                </a:lnTo>
                <a:cubicBezTo>
                  <a:pt x="5667375" y="2543322"/>
                  <a:pt x="5638947" y="2571750"/>
                  <a:pt x="5603878" y="2571750"/>
                </a:cubicBezTo>
                <a:lnTo>
                  <a:pt x="31750" y="2571750"/>
                </a:lnTo>
                <a:cubicBezTo>
                  <a:pt x="14227" y="2571750"/>
                  <a:pt x="0" y="2557523"/>
                  <a:pt x="0" y="2540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35" name="Shape 33"/>
          <p:cNvSpPr/>
          <p:nvPr/>
        </p:nvSpPr>
        <p:spPr>
          <a:xfrm>
            <a:off x="6207125" y="1143000"/>
            <a:ext cx="31750" cy="2571750"/>
          </a:xfrm>
          <a:custGeom>
            <a:avLst/>
            <a:gdLst/>
            <a:ahLst/>
            <a:cxnLst/>
            <a:rect l="l" t="t" r="r" b="b"/>
            <a:pathLst>
              <a:path w="31750" h="2571750">
                <a:moveTo>
                  <a:pt x="31750" y="0"/>
                </a:moveTo>
                <a:lnTo>
                  <a:pt x="31750" y="0"/>
                </a:lnTo>
                <a:lnTo>
                  <a:pt x="31750" y="2571750"/>
                </a:lnTo>
                <a:lnTo>
                  <a:pt x="31750" y="2571750"/>
                </a:lnTo>
                <a:cubicBezTo>
                  <a:pt x="14227" y="2571750"/>
                  <a:pt x="0" y="2557523"/>
                  <a:pt x="0" y="2540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6" name="Shape 34"/>
          <p:cNvSpPr/>
          <p:nvPr/>
        </p:nvSpPr>
        <p:spPr>
          <a:xfrm>
            <a:off x="6401594" y="132953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51780" y="51780"/>
                </a:moveTo>
                <a:cubicBezTo>
                  <a:pt x="54694" y="48865"/>
                  <a:pt x="59407" y="48865"/>
                  <a:pt x="62291" y="51780"/>
                </a:cubicBezTo>
                <a:lnTo>
                  <a:pt x="79344" y="68833"/>
                </a:lnTo>
                <a:lnTo>
                  <a:pt x="96397" y="51780"/>
                </a:lnTo>
                <a:cubicBezTo>
                  <a:pt x="99312" y="48865"/>
                  <a:pt x="104025" y="48865"/>
                  <a:pt x="106908" y="51780"/>
                </a:cubicBezTo>
                <a:cubicBezTo>
                  <a:pt x="109792" y="54694"/>
                  <a:pt x="109823" y="59407"/>
                  <a:pt x="106908" y="62291"/>
                </a:cubicBezTo>
                <a:lnTo>
                  <a:pt x="89855" y="79344"/>
                </a:lnTo>
                <a:lnTo>
                  <a:pt x="106908" y="96397"/>
                </a:lnTo>
                <a:cubicBezTo>
                  <a:pt x="109823" y="99312"/>
                  <a:pt x="109823" y="104025"/>
                  <a:pt x="106908" y="106908"/>
                </a:cubicBezTo>
                <a:cubicBezTo>
                  <a:pt x="103994" y="109792"/>
                  <a:pt x="99281" y="109823"/>
                  <a:pt x="96397" y="106908"/>
                </a:cubicBezTo>
                <a:lnTo>
                  <a:pt x="79344" y="89855"/>
                </a:lnTo>
                <a:lnTo>
                  <a:pt x="62291" y="106908"/>
                </a:lnTo>
                <a:cubicBezTo>
                  <a:pt x="59376" y="109823"/>
                  <a:pt x="54663" y="109823"/>
                  <a:pt x="51780" y="106908"/>
                </a:cubicBezTo>
                <a:cubicBezTo>
                  <a:pt x="48896" y="103994"/>
                  <a:pt x="48865" y="99281"/>
                  <a:pt x="51780" y="96397"/>
                </a:cubicBezTo>
                <a:lnTo>
                  <a:pt x="68833" y="79344"/>
                </a:lnTo>
                <a:lnTo>
                  <a:pt x="51780" y="62291"/>
                </a:lnTo>
                <a:cubicBezTo>
                  <a:pt x="48865" y="59376"/>
                  <a:pt x="48865" y="54663"/>
                  <a:pt x="51780" y="51780"/>
                </a:cubicBezTo>
                <a:close/>
              </a:path>
            </a:pathLst>
          </a:custGeom>
          <a:solidFill>
            <a:srgbClr val="C10007"/>
          </a:solidFill>
          <a:ln/>
        </p:spPr>
      </p:sp>
      <p:sp>
        <p:nvSpPr>
          <p:cNvPr id="37" name="Text 35"/>
          <p:cNvSpPr/>
          <p:nvPr/>
        </p:nvSpPr>
        <p:spPr>
          <a:xfrm>
            <a:off x="6619875" y="1301750"/>
            <a:ext cx="5175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1000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to Avoid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81750" y="1651000"/>
            <a:ext cx="5334000" cy="571500"/>
          </a:xfrm>
          <a:custGeom>
            <a:avLst/>
            <a:gdLst/>
            <a:ahLst/>
            <a:cxnLst/>
            <a:rect l="l" t="t" r="r" b="b"/>
            <a:pathLst>
              <a:path w="5334000" h="571500">
                <a:moveTo>
                  <a:pt x="63499" y="0"/>
                </a:moveTo>
                <a:lnTo>
                  <a:pt x="5270501" y="0"/>
                </a:lnTo>
                <a:cubicBezTo>
                  <a:pt x="5305570" y="0"/>
                  <a:pt x="5334000" y="28430"/>
                  <a:pt x="5334000" y="63499"/>
                </a:cubicBezTo>
                <a:lnTo>
                  <a:pt x="5334000" y="508001"/>
                </a:lnTo>
                <a:cubicBezTo>
                  <a:pt x="5334000" y="543070"/>
                  <a:pt x="5305570" y="571500"/>
                  <a:pt x="5270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6492875" y="177403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1083" y="102319"/>
                </a:moveTo>
                <a:lnTo>
                  <a:pt x="24681" y="35917"/>
                </a:lnTo>
                <a:cubicBezTo>
                  <a:pt x="19124" y="43706"/>
                  <a:pt x="15875" y="53231"/>
                  <a:pt x="15875" y="63500"/>
                </a:cubicBezTo>
                <a:cubicBezTo>
                  <a:pt x="15875" y="89793"/>
                  <a:pt x="37207" y="111125"/>
                  <a:pt x="63500" y="111125"/>
                </a:cubicBezTo>
                <a:cubicBezTo>
                  <a:pt x="73794" y="111125"/>
                  <a:pt x="83319" y="107876"/>
                  <a:pt x="91083" y="102319"/>
                </a:cubicBezTo>
                <a:close/>
                <a:moveTo>
                  <a:pt x="102319" y="91083"/>
                </a:moveTo>
                <a:cubicBezTo>
                  <a:pt x="107876" y="83294"/>
                  <a:pt x="111125" y="73769"/>
                  <a:pt x="111125" y="63500"/>
                </a:cubicBezTo>
                <a:cubicBezTo>
                  <a:pt x="111125" y="37207"/>
                  <a:pt x="89793" y="15875"/>
                  <a:pt x="63500" y="15875"/>
                </a:cubicBezTo>
                <a:cubicBezTo>
                  <a:pt x="53206" y="15875"/>
                  <a:pt x="43681" y="19124"/>
                  <a:pt x="35917" y="24681"/>
                </a:cubicBezTo>
                <a:lnTo>
                  <a:pt x="102319" y="91083"/>
                </a:lnTo>
                <a:close/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</a:path>
            </a:pathLst>
          </a:custGeom>
          <a:solidFill>
            <a:srgbClr val="C10007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438" y="1746250"/>
            <a:ext cx="5008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Over-reliance on AI for Rewriting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77000" y="196850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should enhance clarity, not replace your personal writing style.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81750" y="2317750"/>
            <a:ext cx="5334000" cy="571500"/>
          </a:xfrm>
          <a:custGeom>
            <a:avLst/>
            <a:gdLst/>
            <a:ahLst/>
            <a:cxnLst/>
            <a:rect l="l" t="t" r="r" b="b"/>
            <a:pathLst>
              <a:path w="5334000" h="571500">
                <a:moveTo>
                  <a:pt x="63499" y="0"/>
                </a:moveTo>
                <a:lnTo>
                  <a:pt x="5270501" y="0"/>
                </a:lnTo>
                <a:cubicBezTo>
                  <a:pt x="5305570" y="0"/>
                  <a:pt x="5334000" y="28430"/>
                  <a:pt x="5334000" y="63499"/>
                </a:cubicBezTo>
                <a:lnTo>
                  <a:pt x="5334000" y="508001"/>
                </a:lnTo>
                <a:cubicBezTo>
                  <a:pt x="5334000" y="543070"/>
                  <a:pt x="5305570" y="571500"/>
                  <a:pt x="5270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6492875" y="244078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1083" y="102319"/>
                </a:moveTo>
                <a:lnTo>
                  <a:pt x="24681" y="35917"/>
                </a:lnTo>
                <a:cubicBezTo>
                  <a:pt x="19124" y="43706"/>
                  <a:pt x="15875" y="53231"/>
                  <a:pt x="15875" y="63500"/>
                </a:cubicBezTo>
                <a:cubicBezTo>
                  <a:pt x="15875" y="89793"/>
                  <a:pt x="37207" y="111125"/>
                  <a:pt x="63500" y="111125"/>
                </a:cubicBezTo>
                <a:cubicBezTo>
                  <a:pt x="73794" y="111125"/>
                  <a:pt x="83319" y="107876"/>
                  <a:pt x="91083" y="102319"/>
                </a:cubicBezTo>
                <a:close/>
                <a:moveTo>
                  <a:pt x="102319" y="91083"/>
                </a:moveTo>
                <a:cubicBezTo>
                  <a:pt x="107876" y="83294"/>
                  <a:pt x="111125" y="73769"/>
                  <a:pt x="111125" y="63500"/>
                </a:cubicBezTo>
                <a:cubicBezTo>
                  <a:pt x="111125" y="37207"/>
                  <a:pt x="89793" y="15875"/>
                  <a:pt x="63500" y="15875"/>
                </a:cubicBezTo>
                <a:cubicBezTo>
                  <a:pt x="53206" y="15875"/>
                  <a:pt x="43681" y="19124"/>
                  <a:pt x="35917" y="24681"/>
                </a:cubicBezTo>
                <a:lnTo>
                  <a:pt x="102319" y="91083"/>
                </a:lnTo>
                <a:close/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</a:path>
            </a:pathLst>
          </a:custGeom>
          <a:solidFill>
            <a:srgbClr val="C10007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438" y="2413000"/>
            <a:ext cx="5008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Accepting AI Edits Without Review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77000" y="26352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suggestions may misinterpret context or introduce inaccuracies.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81750" y="2984500"/>
            <a:ext cx="5334000" cy="571500"/>
          </a:xfrm>
          <a:custGeom>
            <a:avLst/>
            <a:gdLst/>
            <a:ahLst/>
            <a:cxnLst/>
            <a:rect l="l" t="t" r="r" b="b"/>
            <a:pathLst>
              <a:path w="5334000" h="571500">
                <a:moveTo>
                  <a:pt x="63499" y="0"/>
                </a:moveTo>
                <a:lnTo>
                  <a:pt x="5270501" y="0"/>
                </a:lnTo>
                <a:cubicBezTo>
                  <a:pt x="5305570" y="0"/>
                  <a:pt x="5334000" y="28430"/>
                  <a:pt x="5334000" y="63499"/>
                </a:cubicBezTo>
                <a:lnTo>
                  <a:pt x="5334000" y="508001"/>
                </a:lnTo>
                <a:cubicBezTo>
                  <a:pt x="5334000" y="543070"/>
                  <a:pt x="5305570" y="571500"/>
                  <a:pt x="5270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6492875" y="310753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1083" y="102319"/>
                </a:moveTo>
                <a:lnTo>
                  <a:pt x="24681" y="35917"/>
                </a:lnTo>
                <a:cubicBezTo>
                  <a:pt x="19124" y="43706"/>
                  <a:pt x="15875" y="53231"/>
                  <a:pt x="15875" y="63500"/>
                </a:cubicBezTo>
                <a:cubicBezTo>
                  <a:pt x="15875" y="89793"/>
                  <a:pt x="37207" y="111125"/>
                  <a:pt x="63500" y="111125"/>
                </a:cubicBezTo>
                <a:cubicBezTo>
                  <a:pt x="73794" y="111125"/>
                  <a:pt x="83319" y="107876"/>
                  <a:pt x="91083" y="102319"/>
                </a:cubicBezTo>
                <a:close/>
                <a:moveTo>
                  <a:pt x="102319" y="91083"/>
                </a:moveTo>
                <a:cubicBezTo>
                  <a:pt x="107876" y="83294"/>
                  <a:pt x="111125" y="73769"/>
                  <a:pt x="111125" y="63500"/>
                </a:cubicBezTo>
                <a:cubicBezTo>
                  <a:pt x="111125" y="37207"/>
                  <a:pt x="89793" y="15875"/>
                  <a:pt x="63500" y="15875"/>
                </a:cubicBezTo>
                <a:cubicBezTo>
                  <a:pt x="53206" y="15875"/>
                  <a:pt x="43681" y="19124"/>
                  <a:pt x="35917" y="24681"/>
                </a:cubicBezTo>
                <a:lnTo>
                  <a:pt x="102319" y="91083"/>
                </a:lnTo>
                <a:close/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</a:path>
            </a:pathLst>
          </a:custGeom>
          <a:solidFill>
            <a:srgbClr val="C10007"/>
          </a:solidFill>
          <a:ln/>
        </p:spPr>
      </p:sp>
      <p:sp>
        <p:nvSpPr>
          <p:cNvPr id="48" name="Text 46"/>
          <p:cNvSpPr/>
          <p:nvPr/>
        </p:nvSpPr>
        <p:spPr>
          <a:xfrm>
            <a:off x="6675438" y="3079750"/>
            <a:ext cx="5008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Allowing AI to Rewrite Complex Arguments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77000" y="330200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editing tools should assist with grammar and style—not rewrite complex theoretical arguments.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91250" y="3841750"/>
            <a:ext cx="5683250" cy="1635125"/>
          </a:xfrm>
          <a:custGeom>
            <a:avLst/>
            <a:gdLst/>
            <a:ahLst/>
            <a:cxnLst/>
            <a:rect l="l" t="t" r="r" b="b"/>
            <a:pathLst>
              <a:path w="5683250" h="1635125">
                <a:moveTo>
                  <a:pt x="63492" y="0"/>
                </a:moveTo>
                <a:lnTo>
                  <a:pt x="5619758" y="0"/>
                </a:lnTo>
                <a:cubicBezTo>
                  <a:pt x="5654824" y="0"/>
                  <a:pt x="5683250" y="28426"/>
                  <a:pt x="5683250" y="63492"/>
                </a:cubicBezTo>
                <a:lnTo>
                  <a:pt x="5683250" y="1571633"/>
                </a:lnTo>
                <a:cubicBezTo>
                  <a:pt x="5683250" y="1606699"/>
                  <a:pt x="5654824" y="1635125"/>
                  <a:pt x="5619758" y="1635125"/>
                </a:cubicBezTo>
                <a:lnTo>
                  <a:pt x="63492" y="1635125"/>
                </a:lnTo>
                <a:cubicBezTo>
                  <a:pt x="28426" y="1635125"/>
                  <a:pt x="0" y="1606699"/>
                  <a:pt x="0" y="1571633"/>
                </a:cubicBezTo>
                <a:lnTo>
                  <a:pt x="0" y="63492"/>
                </a:lnTo>
                <a:cubicBezTo>
                  <a:pt x="0" y="28450"/>
                  <a:pt x="28450" y="0"/>
                  <a:pt x="63492" y="0"/>
                </a:cubicBezTo>
                <a:close/>
              </a:path>
            </a:pathLst>
          </a:custGeom>
          <a:solidFill>
            <a:srgbClr val="8B7355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369844" y="404018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75540" y="0"/>
                  <a:pt x="79307" y="2260"/>
                  <a:pt x="81260" y="5860"/>
                </a:cubicBezTo>
                <a:lnTo>
                  <a:pt x="141536" y="117481"/>
                </a:lnTo>
                <a:cubicBezTo>
                  <a:pt x="143405" y="120941"/>
                  <a:pt x="143321" y="125127"/>
                  <a:pt x="141312" y="128504"/>
                </a:cubicBezTo>
                <a:cubicBezTo>
                  <a:pt x="139303" y="131880"/>
                  <a:pt x="135648" y="133945"/>
                  <a:pt x="131713" y="133945"/>
                </a:cubicBezTo>
                <a:lnTo>
                  <a:pt x="11162" y="133945"/>
                </a:lnTo>
                <a:cubicBezTo>
                  <a:pt x="7227" y="133945"/>
                  <a:pt x="3600" y="131880"/>
                  <a:pt x="1563" y="128504"/>
                </a:cubicBezTo>
                <a:cubicBezTo>
                  <a:pt x="-474" y="125127"/>
                  <a:pt x="-530" y="120941"/>
                  <a:pt x="1339" y="117481"/>
                </a:cubicBezTo>
                <a:lnTo>
                  <a:pt x="61615" y="5860"/>
                </a:lnTo>
                <a:cubicBezTo>
                  <a:pt x="63568" y="2260"/>
                  <a:pt x="67335" y="0"/>
                  <a:pt x="71438" y="0"/>
                </a:cubicBezTo>
                <a:close/>
                <a:moveTo>
                  <a:pt x="71438" y="46881"/>
                </a:moveTo>
                <a:cubicBezTo>
                  <a:pt x="67726" y="46881"/>
                  <a:pt x="64740" y="49867"/>
                  <a:pt x="64740" y="53578"/>
                </a:cubicBezTo>
                <a:lnTo>
                  <a:pt x="64740" y="84832"/>
                </a:lnTo>
                <a:cubicBezTo>
                  <a:pt x="64740" y="88543"/>
                  <a:pt x="67726" y="91529"/>
                  <a:pt x="71438" y="91529"/>
                </a:cubicBezTo>
                <a:cubicBezTo>
                  <a:pt x="75149" y="91529"/>
                  <a:pt x="78135" y="88543"/>
                  <a:pt x="78135" y="84832"/>
                </a:cubicBezTo>
                <a:lnTo>
                  <a:pt x="78135" y="53578"/>
                </a:lnTo>
                <a:cubicBezTo>
                  <a:pt x="78135" y="49867"/>
                  <a:pt x="75149" y="46881"/>
                  <a:pt x="71438" y="46881"/>
                </a:cubicBezTo>
                <a:close/>
                <a:moveTo>
                  <a:pt x="78888" y="107156"/>
                </a:moveTo>
                <a:cubicBezTo>
                  <a:pt x="79058" y="104391"/>
                  <a:pt x="77678" y="101759"/>
                  <a:pt x="75308" y="100325"/>
                </a:cubicBezTo>
                <a:cubicBezTo>
                  <a:pt x="72937" y="98891"/>
                  <a:pt x="69966" y="98891"/>
                  <a:pt x="67595" y="100325"/>
                </a:cubicBezTo>
                <a:cubicBezTo>
                  <a:pt x="65224" y="101759"/>
                  <a:pt x="63845" y="104391"/>
                  <a:pt x="64015" y="107156"/>
                </a:cubicBezTo>
                <a:cubicBezTo>
                  <a:pt x="63845" y="109922"/>
                  <a:pt x="65224" y="112553"/>
                  <a:pt x="67595" y="113987"/>
                </a:cubicBezTo>
                <a:cubicBezTo>
                  <a:pt x="69966" y="115421"/>
                  <a:pt x="72937" y="115421"/>
                  <a:pt x="75308" y="113987"/>
                </a:cubicBezTo>
                <a:cubicBezTo>
                  <a:pt x="77678" y="112553"/>
                  <a:pt x="79058" y="109922"/>
                  <a:pt x="78888" y="107156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2" name="Text 50"/>
          <p:cNvSpPr/>
          <p:nvPr/>
        </p:nvSpPr>
        <p:spPr>
          <a:xfrm>
            <a:off x="6572250" y="4000500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8B73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Warning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50000" y="4318000"/>
            <a:ext cx="5429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Extensive reliance on AI for rewriting can: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81750" y="4651375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13667" y="18207"/>
                </a:moveTo>
                <a:cubicBezTo>
                  <a:pt x="10567" y="15106"/>
                  <a:pt x="5531" y="15106"/>
                  <a:pt x="2431" y="18207"/>
                </a:cubicBezTo>
                <a:cubicBezTo>
                  <a:pt x="-670" y="21307"/>
                  <a:pt x="-670" y="26343"/>
                  <a:pt x="2431" y="29443"/>
                </a:cubicBezTo>
                <a:lnTo>
                  <a:pt x="36513" y="63500"/>
                </a:lnTo>
                <a:lnTo>
                  <a:pt x="2456" y="97582"/>
                </a:lnTo>
                <a:cubicBezTo>
                  <a:pt x="-645" y="100682"/>
                  <a:pt x="-645" y="105718"/>
                  <a:pt x="2456" y="108818"/>
                </a:cubicBezTo>
                <a:cubicBezTo>
                  <a:pt x="5556" y="111919"/>
                  <a:pt x="10592" y="111919"/>
                  <a:pt x="13692" y="108818"/>
                </a:cubicBezTo>
                <a:lnTo>
                  <a:pt x="47749" y="74737"/>
                </a:lnTo>
                <a:lnTo>
                  <a:pt x="81831" y="108793"/>
                </a:lnTo>
                <a:cubicBezTo>
                  <a:pt x="84931" y="111894"/>
                  <a:pt x="89967" y="111894"/>
                  <a:pt x="93067" y="108793"/>
                </a:cubicBezTo>
                <a:cubicBezTo>
                  <a:pt x="96168" y="105693"/>
                  <a:pt x="96168" y="100657"/>
                  <a:pt x="93067" y="97557"/>
                </a:cubicBezTo>
                <a:lnTo>
                  <a:pt x="58986" y="63500"/>
                </a:lnTo>
                <a:lnTo>
                  <a:pt x="93042" y="29418"/>
                </a:lnTo>
                <a:cubicBezTo>
                  <a:pt x="96143" y="26318"/>
                  <a:pt x="96143" y="21282"/>
                  <a:pt x="93042" y="18182"/>
                </a:cubicBezTo>
                <a:cubicBezTo>
                  <a:pt x="89942" y="15081"/>
                  <a:pt x="84906" y="15081"/>
                  <a:pt x="81806" y="18182"/>
                </a:cubicBezTo>
                <a:lnTo>
                  <a:pt x="47749" y="52263"/>
                </a:lnTo>
                <a:lnTo>
                  <a:pt x="13667" y="18207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5" name="Text 53"/>
          <p:cNvSpPr/>
          <p:nvPr/>
        </p:nvSpPr>
        <p:spPr>
          <a:xfrm>
            <a:off x="6572250" y="4619625"/>
            <a:ext cx="1730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Distort your intended meaning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81750" y="4905375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13667" y="18207"/>
                </a:moveTo>
                <a:cubicBezTo>
                  <a:pt x="10567" y="15106"/>
                  <a:pt x="5531" y="15106"/>
                  <a:pt x="2431" y="18207"/>
                </a:cubicBezTo>
                <a:cubicBezTo>
                  <a:pt x="-670" y="21307"/>
                  <a:pt x="-670" y="26343"/>
                  <a:pt x="2431" y="29443"/>
                </a:cubicBezTo>
                <a:lnTo>
                  <a:pt x="36513" y="63500"/>
                </a:lnTo>
                <a:lnTo>
                  <a:pt x="2456" y="97582"/>
                </a:lnTo>
                <a:cubicBezTo>
                  <a:pt x="-645" y="100682"/>
                  <a:pt x="-645" y="105718"/>
                  <a:pt x="2456" y="108818"/>
                </a:cubicBezTo>
                <a:cubicBezTo>
                  <a:pt x="5556" y="111919"/>
                  <a:pt x="10592" y="111919"/>
                  <a:pt x="13692" y="108818"/>
                </a:cubicBezTo>
                <a:lnTo>
                  <a:pt x="47749" y="74737"/>
                </a:lnTo>
                <a:lnTo>
                  <a:pt x="81831" y="108793"/>
                </a:lnTo>
                <a:cubicBezTo>
                  <a:pt x="84931" y="111894"/>
                  <a:pt x="89967" y="111894"/>
                  <a:pt x="93067" y="108793"/>
                </a:cubicBezTo>
                <a:cubicBezTo>
                  <a:pt x="96168" y="105693"/>
                  <a:pt x="96168" y="100657"/>
                  <a:pt x="93067" y="97557"/>
                </a:cubicBezTo>
                <a:lnTo>
                  <a:pt x="58986" y="63500"/>
                </a:lnTo>
                <a:lnTo>
                  <a:pt x="93042" y="29418"/>
                </a:lnTo>
                <a:cubicBezTo>
                  <a:pt x="96143" y="26318"/>
                  <a:pt x="96143" y="21282"/>
                  <a:pt x="93042" y="18182"/>
                </a:cubicBezTo>
                <a:cubicBezTo>
                  <a:pt x="89942" y="15081"/>
                  <a:pt x="84906" y="15081"/>
                  <a:pt x="81806" y="18182"/>
                </a:cubicBezTo>
                <a:lnTo>
                  <a:pt x="47749" y="52263"/>
                </a:lnTo>
                <a:lnTo>
                  <a:pt x="13667" y="18207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7" name="Text 55"/>
          <p:cNvSpPr/>
          <p:nvPr/>
        </p:nvSpPr>
        <p:spPr>
          <a:xfrm>
            <a:off x="6572250" y="4873625"/>
            <a:ext cx="1928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Compromise originality and depth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81750" y="5159375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13667" y="18207"/>
                </a:moveTo>
                <a:cubicBezTo>
                  <a:pt x="10567" y="15106"/>
                  <a:pt x="5531" y="15106"/>
                  <a:pt x="2431" y="18207"/>
                </a:cubicBezTo>
                <a:cubicBezTo>
                  <a:pt x="-670" y="21307"/>
                  <a:pt x="-670" y="26343"/>
                  <a:pt x="2431" y="29443"/>
                </a:cubicBezTo>
                <a:lnTo>
                  <a:pt x="36513" y="63500"/>
                </a:lnTo>
                <a:lnTo>
                  <a:pt x="2456" y="97582"/>
                </a:lnTo>
                <a:cubicBezTo>
                  <a:pt x="-645" y="100682"/>
                  <a:pt x="-645" y="105718"/>
                  <a:pt x="2456" y="108818"/>
                </a:cubicBezTo>
                <a:cubicBezTo>
                  <a:pt x="5556" y="111919"/>
                  <a:pt x="10592" y="111919"/>
                  <a:pt x="13692" y="108818"/>
                </a:cubicBezTo>
                <a:lnTo>
                  <a:pt x="47749" y="74737"/>
                </a:lnTo>
                <a:lnTo>
                  <a:pt x="81831" y="108793"/>
                </a:lnTo>
                <a:cubicBezTo>
                  <a:pt x="84931" y="111894"/>
                  <a:pt x="89967" y="111894"/>
                  <a:pt x="93067" y="108793"/>
                </a:cubicBezTo>
                <a:cubicBezTo>
                  <a:pt x="96168" y="105693"/>
                  <a:pt x="96168" y="100657"/>
                  <a:pt x="93067" y="97557"/>
                </a:cubicBezTo>
                <a:lnTo>
                  <a:pt x="58986" y="63500"/>
                </a:lnTo>
                <a:lnTo>
                  <a:pt x="93042" y="29418"/>
                </a:lnTo>
                <a:cubicBezTo>
                  <a:pt x="96143" y="26318"/>
                  <a:pt x="96143" y="21282"/>
                  <a:pt x="93042" y="18182"/>
                </a:cubicBezTo>
                <a:cubicBezTo>
                  <a:pt x="89942" y="15081"/>
                  <a:pt x="84906" y="15081"/>
                  <a:pt x="81806" y="18182"/>
                </a:cubicBezTo>
                <a:lnTo>
                  <a:pt x="47749" y="52263"/>
                </a:lnTo>
                <a:lnTo>
                  <a:pt x="13667" y="18207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9" name="Text 57"/>
          <p:cNvSpPr/>
          <p:nvPr/>
        </p:nvSpPr>
        <p:spPr>
          <a:xfrm>
            <a:off x="6572250" y="5127625"/>
            <a:ext cx="1801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Oversimplify nuanced concepts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191250" y="5603875"/>
            <a:ext cx="5683250" cy="1047750"/>
          </a:xfrm>
          <a:custGeom>
            <a:avLst/>
            <a:gdLst/>
            <a:ahLst/>
            <a:cxnLst/>
            <a:rect l="l" t="t" r="r" b="b"/>
            <a:pathLst>
              <a:path w="5683250" h="1047750">
                <a:moveTo>
                  <a:pt x="63504" y="0"/>
                </a:moveTo>
                <a:lnTo>
                  <a:pt x="5619746" y="0"/>
                </a:lnTo>
                <a:cubicBezTo>
                  <a:pt x="5654818" y="0"/>
                  <a:pt x="5683250" y="28432"/>
                  <a:pt x="5683250" y="63504"/>
                </a:cubicBezTo>
                <a:lnTo>
                  <a:pt x="5683250" y="984246"/>
                </a:lnTo>
                <a:cubicBezTo>
                  <a:pt x="5683250" y="1019318"/>
                  <a:pt x="5654818" y="1047750"/>
                  <a:pt x="5619746" y="1047750"/>
                </a:cubicBezTo>
                <a:lnTo>
                  <a:pt x="63504" y="1047750"/>
                </a:lnTo>
                <a:cubicBezTo>
                  <a:pt x="28432" y="1047750"/>
                  <a:pt x="0" y="1019318"/>
                  <a:pt x="0" y="984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61" name="Shape 59"/>
          <p:cNvSpPr/>
          <p:nvPr/>
        </p:nvSpPr>
        <p:spPr>
          <a:xfrm>
            <a:off x="6369844" y="580231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72721" y="0"/>
                  <a:pt x="74005" y="279"/>
                  <a:pt x="75177" y="809"/>
                </a:cubicBezTo>
                <a:lnTo>
                  <a:pt x="127750" y="23106"/>
                </a:lnTo>
                <a:cubicBezTo>
                  <a:pt x="133890" y="25701"/>
                  <a:pt x="138466" y="31756"/>
                  <a:pt x="138438" y="39067"/>
                </a:cubicBezTo>
                <a:cubicBezTo>
                  <a:pt x="138299" y="66749"/>
                  <a:pt x="126913" y="117397"/>
                  <a:pt x="78832" y="140419"/>
                </a:cubicBezTo>
                <a:cubicBezTo>
                  <a:pt x="74172" y="142652"/>
                  <a:pt x="68759" y="142652"/>
                  <a:pt x="64098" y="140419"/>
                </a:cubicBezTo>
                <a:cubicBezTo>
                  <a:pt x="15990" y="117397"/>
                  <a:pt x="4632" y="66749"/>
                  <a:pt x="4493" y="39067"/>
                </a:cubicBezTo>
                <a:cubicBezTo>
                  <a:pt x="4465" y="31756"/>
                  <a:pt x="9041" y="25701"/>
                  <a:pt x="15180" y="23106"/>
                </a:cubicBezTo>
                <a:lnTo>
                  <a:pt x="67726" y="809"/>
                </a:lnTo>
                <a:cubicBezTo>
                  <a:pt x="68898" y="279"/>
                  <a:pt x="70154" y="0"/>
                  <a:pt x="71438" y="0"/>
                </a:cubicBezTo>
                <a:close/>
                <a:moveTo>
                  <a:pt x="71438" y="18641"/>
                </a:moveTo>
                <a:lnTo>
                  <a:pt x="71438" y="124151"/>
                </a:lnTo>
                <a:cubicBezTo>
                  <a:pt x="109947" y="105510"/>
                  <a:pt x="120300" y="64210"/>
                  <a:pt x="120551" y="39486"/>
                </a:cubicBezTo>
                <a:lnTo>
                  <a:pt x="71438" y="18669"/>
                </a:lnTo>
                <a:lnTo>
                  <a:pt x="71438" y="18669"/>
                </a:lnTo>
                <a:close/>
              </a:path>
            </a:pathLst>
          </a:custGeom>
          <a:solidFill>
            <a:srgbClr val="FAF8F3"/>
          </a:solidFill>
          <a:ln/>
        </p:spPr>
      </p:sp>
      <p:sp>
        <p:nvSpPr>
          <p:cNvPr id="62" name="Text 60"/>
          <p:cNvSpPr/>
          <p:nvPr/>
        </p:nvSpPr>
        <p:spPr>
          <a:xfrm>
            <a:off x="6572250" y="5762625"/>
            <a:ext cx="5214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350000" y="6080125"/>
            <a:ext cx="5429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AI for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clarity improvements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but always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retain control over final edits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Your voice, your ideas, your analysis—AI just helps you express them more clearly.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21469" y="8195469"/>
            <a:ext cx="1325563" cy="269875"/>
          </a:xfrm>
          <a:custGeom>
            <a:avLst/>
            <a:gdLst/>
            <a:ahLst/>
            <a:cxnLst/>
            <a:rect l="l" t="t" r="r" b="b"/>
            <a:pathLst>
              <a:path w="1325563" h="269875">
                <a:moveTo>
                  <a:pt x="0" y="0"/>
                </a:moveTo>
                <a:lnTo>
                  <a:pt x="1325563" y="0"/>
                </a:lnTo>
                <a:lnTo>
                  <a:pt x="1325563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90196"/>
            </a:srgbClr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17500" y="8191500"/>
            <a:ext cx="1365250" cy="261937"/>
          </a:xfrm>
          <a:prstGeom prst="rect">
            <a:avLst/>
          </a:prstGeom>
          <a:noFill/>
          <a:ln/>
        </p:spPr>
        <p:txBody>
          <a:bodyPr wrap="square" lIns="95250" tIns="63500" rIns="95250" bIns="63500" rtlCol="0" anchor="ctr"/>
          <a:lstStyle/>
          <a:p>
            <a:pPr>
              <a:lnSpc>
                <a:spcPct val="120000"/>
              </a:lnSpc>
            </a:pPr>
            <a:r>
              <a:rPr lang="en-US" sz="75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Use • Editing &amp; Style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0134389" y="8251589"/>
            <a:ext cx="1793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polishes, you preserve your voice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.etsystatic.com/95fda369d230a64fc288c62019407ab71a221436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2D5A3D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266825"/>
            <a:ext cx="1390650" cy="342900"/>
          </a:xfrm>
          <a:custGeom>
            <a:avLst/>
            <a:gdLst/>
            <a:ahLst/>
            <a:cxnLst/>
            <a:rect l="l" t="t" r="r" b="b"/>
            <a:pathLst>
              <a:path w="1390650" h="342900">
                <a:moveTo>
                  <a:pt x="0" y="0"/>
                </a:moveTo>
                <a:lnTo>
                  <a:pt x="1390650" y="0"/>
                </a:lnTo>
                <a:lnTo>
                  <a:pt x="139065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1266825"/>
            <a:ext cx="1457325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Four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838325"/>
            <a:ext cx="67437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Literature Review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AI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7814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12432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AI to enhance, not replace, your critical reading and synthesis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9575" y="53435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63088"/>
                </a:moveTo>
                <a:lnTo>
                  <a:pt x="114300" y="201186"/>
                </a:lnTo>
                <a:lnTo>
                  <a:pt x="114523" y="201097"/>
                </a:lnTo>
                <a:cubicBezTo>
                  <a:pt x="138901" y="190961"/>
                  <a:pt x="165065" y="185738"/>
                  <a:pt x="191453" y="185738"/>
                </a:cubicBezTo>
                <a:lnTo>
                  <a:pt x="200025" y="185738"/>
                </a:lnTo>
                <a:lnTo>
                  <a:pt x="200025" y="42863"/>
                </a:lnTo>
                <a:lnTo>
                  <a:pt x="191453" y="42863"/>
                </a:lnTo>
                <a:cubicBezTo>
                  <a:pt x="172611" y="42863"/>
                  <a:pt x="153903" y="46613"/>
                  <a:pt x="136490" y="53846"/>
                </a:cubicBezTo>
                <a:cubicBezTo>
                  <a:pt x="128989" y="56971"/>
                  <a:pt x="121578" y="60052"/>
                  <a:pt x="114300" y="63088"/>
                </a:cubicBezTo>
                <a:close/>
                <a:moveTo>
                  <a:pt x="103093" y="27459"/>
                </a:moveTo>
                <a:lnTo>
                  <a:pt x="114300" y="32147"/>
                </a:lnTo>
                <a:lnTo>
                  <a:pt x="125507" y="27459"/>
                </a:lnTo>
                <a:cubicBezTo>
                  <a:pt x="146402" y="18752"/>
                  <a:pt x="168816" y="14288"/>
                  <a:pt x="191453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192881"/>
                </a:lnTo>
                <a:cubicBezTo>
                  <a:pt x="228600" y="204713"/>
                  <a:pt x="219001" y="214313"/>
                  <a:pt x="207169" y="214313"/>
                </a:cubicBezTo>
                <a:lnTo>
                  <a:pt x="191453" y="214313"/>
                </a:lnTo>
                <a:cubicBezTo>
                  <a:pt x="168816" y="214313"/>
                  <a:pt x="146402" y="218777"/>
                  <a:pt x="125507" y="227484"/>
                </a:cubicBezTo>
                <a:lnTo>
                  <a:pt x="119792" y="229850"/>
                </a:lnTo>
                <a:cubicBezTo>
                  <a:pt x="116265" y="231324"/>
                  <a:pt x="112335" y="231324"/>
                  <a:pt x="108808" y="229850"/>
                </a:cubicBezTo>
                <a:lnTo>
                  <a:pt x="103093" y="227484"/>
                </a:lnTo>
                <a:cubicBezTo>
                  <a:pt x="82198" y="218777"/>
                  <a:pt x="59784" y="214313"/>
                  <a:pt x="37148" y="214313"/>
                </a:cubicBezTo>
                <a:lnTo>
                  <a:pt x="21431" y="214313"/>
                </a:lnTo>
                <a:cubicBezTo>
                  <a:pt x="9599" y="214313"/>
                  <a:pt x="0" y="204713"/>
                  <a:pt x="0" y="192881"/>
                </a:cubicBezTo>
                <a:lnTo>
                  <a:pt x="0" y="35719"/>
                </a:lnTo>
                <a:cubicBezTo>
                  <a:pt x="0" y="23887"/>
                  <a:pt x="9599" y="14288"/>
                  <a:pt x="21431" y="14288"/>
                </a:cubicBezTo>
                <a:lnTo>
                  <a:pt x="37148" y="14288"/>
                </a:lnTo>
                <a:cubicBezTo>
                  <a:pt x="59784" y="14288"/>
                  <a:pt x="82198" y="18752"/>
                  <a:pt x="103093" y="27459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10" name="Text 7"/>
          <p:cNvSpPr/>
          <p:nvPr/>
        </p:nvSpPr>
        <p:spPr>
          <a:xfrm>
            <a:off x="781050" y="5324475"/>
            <a:ext cx="2495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Reading • Synthesis Skills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spc="88" kern="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Use Case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as Your Literature Review Assistant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5250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" name="Shape 3"/>
          <p:cNvSpPr/>
          <p:nvPr/>
        </p:nvSpPr>
        <p:spPr>
          <a:xfrm>
            <a:off x="321469" y="1146969"/>
            <a:ext cx="5675313" cy="3690937"/>
          </a:xfrm>
          <a:custGeom>
            <a:avLst/>
            <a:gdLst/>
            <a:ahLst/>
            <a:cxnLst/>
            <a:rect l="l" t="t" r="r" b="b"/>
            <a:pathLst>
              <a:path w="5675313" h="3690937">
                <a:moveTo>
                  <a:pt x="63484" y="0"/>
                </a:moveTo>
                <a:lnTo>
                  <a:pt x="5611828" y="0"/>
                </a:lnTo>
                <a:cubicBezTo>
                  <a:pt x="5646890" y="0"/>
                  <a:pt x="5675313" y="28423"/>
                  <a:pt x="5675313" y="63484"/>
                </a:cubicBezTo>
                <a:lnTo>
                  <a:pt x="5675313" y="3627453"/>
                </a:lnTo>
                <a:cubicBezTo>
                  <a:pt x="5675312" y="3662515"/>
                  <a:pt x="5646890" y="3690938"/>
                  <a:pt x="5611828" y="3690937"/>
                </a:cubicBezTo>
                <a:lnTo>
                  <a:pt x="63484" y="3690937"/>
                </a:lnTo>
                <a:cubicBezTo>
                  <a:pt x="28423" y="3690937"/>
                  <a:pt x="0" y="3662515"/>
                  <a:pt x="0" y="3627453"/>
                </a:cubicBezTo>
                <a:lnTo>
                  <a:pt x="0" y="63484"/>
                </a:lnTo>
                <a:cubicBezTo>
                  <a:pt x="0" y="28446"/>
                  <a:pt x="28446" y="0"/>
                  <a:pt x="63484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187" y="1337469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09141" y="0"/>
                </a:moveTo>
                <a:cubicBezTo>
                  <a:pt x="109141" y="-5488"/>
                  <a:pt x="104707" y="-9922"/>
                  <a:pt x="99219" y="-9922"/>
                </a:cubicBezTo>
                <a:cubicBezTo>
                  <a:pt x="93731" y="-9922"/>
                  <a:pt x="89297" y="-5488"/>
                  <a:pt x="89297" y="0"/>
                </a:cubicBezTo>
                <a:lnTo>
                  <a:pt x="89297" y="19844"/>
                </a:lnTo>
                <a:lnTo>
                  <a:pt x="59531" y="19844"/>
                </a:lnTo>
                <a:cubicBezTo>
                  <a:pt x="43098" y="19844"/>
                  <a:pt x="29766" y="33176"/>
                  <a:pt x="29766" y="49609"/>
                </a:cubicBezTo>
                <a:lnTo>
                  <a:pt x="29766" y="119062"/>
                </a:lnTo>
                <a:cubicBezTo>
                  <a:pt x="29766" y="135496"/>
                  <a:pt x="43098" y="148828"/>
                  <a:pt x="59531" y="148828"/>
                </a:cubicBezTo>
                <a:lnTo>
                  <a:pt x="138906" y="148828"/>
                </a:lnTo>
                <a:cubicBezTo>
                  <a:pt x="155339" y="148828"/>
                  <a:pt x="168672" y="135496"/>
                  <a:pt x="168672" y="119062"/>
                </a:cubicBezTo>
                <a:lnTo>
                  <a:pt x="168672" y="49609"/>
                </a:lnTo>
                <a:cubicBezTo>
                  <a:pt x="168672" y="33176"/>
                  <a:pt x="155339" y="19844"/>
                  <a:pt x="138906" y="19844"/>
                </a:cubicBezTo>
                <a:lnTo>
                  <a:pt x="109141" y="19844"/>
                </a:lnTo>
                <a:lnTo>
                  <a:pt x="109141" y="0"/>
                </a:lnTo>
                <a:close/>
                <a:moveTo>
                  <a:pt x="49609" y="114102"/>
                </a:moveTo>
                <a:cubicBezTo>
                  <a:pt x="49609" y="109978"/>
                  <a:pt x="52927" y="106660"/>
                  <a:pt x="57051" y="106660"/>
                </a:cubicBezTo>
                <a:lnTo>
                  <a:pt x="66973" y="106660"/>
                </a:lnTo>
                <a:cubicBezTo>
                  <a:pt x="71096" y="106660"/>
                  <a:pt x="74414" y="109978"/>
                  <a:pt x="74414" y="114102"/>
                </a:cubicBezTo>
                <a:cubicBezTo>
                  <a:pt x="74414" y="118225"/>
                  <a:pt x="71096" y="121543"/>
                  <a:pt x="66973" y="121543"/>
                </a:cubicBezTo>
                <a:lnTo>
                  <a:pt x="57051" y="121543"/>
                </a:lnTo>
                <a:cubicBezTo>
                  <a:pt x="52927" y="121543"/>
                  <a:pt x="49609" y="118225"/>
                  <a:pt x="49609" y="114102"/>
                </a:cubicBezTo>
                <a:close/>
                <a:moveTo>
                  <a:pt x="86816" y="114102"/>
                </a:moveTo>
                <a:cubicBezTo>
                  <a:pt x="86816" y="109978"/>
                  <a:pt x="90134" y="106660"/>
                  <a:pt x="94258" y="106660"/>
                </a:cubicBezTo>
                <a:lnTo>
                  <a:pt x="104180" y="106660"/>
                </a:lnTo>
                <a:cubicBezTo>
                  <a:pt x="108303" y="106660"/>
                  <a:pt x="111621" y="109978"/>
                  <a:pt x="111621" y="114102"/>
                </a:cubicBezTo>
                <a:cubicBezTo>
                  <a:pt x="111621" y="118225"/>
                  <a:pt x="108303" y="121543"/>
                  <a:pt x="104180" y="121543"/>
                </a:cubicBezTo>
                <a:lnTo>
                  <a:pt x="94258" y="121543"/>
                </a:lnTo>
                <a:cubicBezTo>
                  <a:pt x="90134" y="121543"/>
                  <a:pt x="86816" y="118225"/>
                  <a:pt x="86816" y="114102"/>
                </a:cubicBezTo>
                <a:close/>
                <a:moveTo>
                  <a:pt x="124023" y="114102"/>
                </a:moveTo>
                <a:cubicBezTo>
                  <a:pt x="124023" y="109978"/>
                  <a:pt x="127341" y="106660"/>
                  <a:pt x="131465" y="106660"/>
                </a:cubicBezTo>
                <a:lnTo>
                  <a:pt x="141387" y="106660"/>
                </a:lnTo>
                <a:cubicBezTo>
                  <a:pt x="145510" y="106660"/>
                  <a:pt x="148828" y="109978"/>
                  <a:pt x="148828" y="114102"/>
                </a:cubicBezTo>
                <a:cubicBezTo>
                  <a:pt x="148828" y="118225"/>
                  <a:pt x="145510" y="121543"/>
                  <a:pt x="141387" y="121543"/>
                </a:cubicBezTo>
                <a:lnTo>
                  <a:pt x="131465" y="121543"/>
                </a:lnTo>
                <a:cubicBezTo>
                  <a:pt x="127341" y="121543"/>
                  <a:pt x="124023" y="118225"/>
                  <a:pt x="124023" y="114102"/>
                </a:cubicBezTo>
                <a:close/>
                <a:moveTo>
                  <a:pt x="69453" y="54570"/>
                </a:moveTo>
                <a:cubicBezTo>
                  <a:pt x="77667" y="54570"/>
                  <a:pt x="84336" y="61239"/>
                  <a:pt x="84336" y="69453"/>
                </a:cubicBezTo>
                <a:cubicBezTo>
                  <a:pt x="84336" y="77667"/>
                  <a:pt x="77667" y="84336"/>
                  <a:pt x="69453" y="84336"/>
                </a:cubicBezTo>
                <a:cubicBezTo>
                  <a:pt x="61239" y="84336"/>
                  <a:pt x="54570" y="77667"/>
                  <a:pt x="54570" y="69453"/>
                </a:cubicBezTo>
                <a:cubicBezTo>
                  <a:pt x="54570" y="61239"/>
                  <a:pt x="61239" y="54570"/>
                  <a:pt x="69453" y="54570"/>
                </a:cubicBezTo>
                <a:close/>
                <a:moveTo>
                  <a:pt x="114102" y="69453"/>
                </a:moveTo>
                <a:cubicBezTo>
                  <a:pt x="114102" y="61239"/>
                  <a:pt x="120770" y="54570"/>
                  <a:pt x="128984" y="54570"/>
                </a:cubicBezTo>
                <a:cubicBezTo>
                  <a:pt x="137198" y="54570"/>
                  <a:pt x="143867" y="61239"/>
                  <a:pt x="143867" y="69453"/>
                </a:cubicBezTo>
                <a:cubicBezTo>
                  <a:pt x="143867" y="77667"/>
                  <a:pt x="137198" y="84336"/>
                  <a:pt x="128984" y="84336"/>
                </a:cubicBezTo>
                <a:cubicBezTo>
                  <a:pt x="120770" y="84336"/>
                  <a:pt x="114102" y="77667"/>
                  <a:pt x="114102" y="69453"/>
                </a:cubicBezTo>
                <a:close/>
                <a:moveTo>
                  <a:pt x="19844" y="69453"/>
                </a:moveTo>
                <a:cubicBezTo>
                  <a:pt x="19844" y="63965"/>
                  <a:pt x="15410" y="59531"/>
                  <a:pt x="9922" y="59531"/>
                </a:cubicBezTo>
                <a:cubicBezTo>
                  <a:pt x="4434" y="59531"/>
                  <a:pt x="0" y="63965"/>
                  <a:pt x="0" y="69453"/>
                </a:cubicBezTo>
                <a:lnTo>
                  <a:pt x="0" y="99219"/>
                </a:lnTo>
                <a:cubicBezTo>
                  <a:pt x="0" y="104707"/>
                  <a:pt x="4434" y="109141"/>
                  <a:pt x="9922" y="109141"/>
                </a:cubicBezTo>
                <a:cubicBezTo>
                  <a:pt x="15410" y="109141"/>
                  <a:pt x="19844" y="104707"/>
                  <a:pt x="19844" y="99219"/>
                </a:cubicBezTo>
                <a:lnTo>
                  <a:pt x="19844" y="69453"/>
                </a:lnTo>
                <a:close/>
                <a:moveTo>
                  <a:pt x="188516" y="59531"/>
                </a:moveTo>
                <a:cubicBezTo>
                  <a:pt x="183028" y="59531"/>
                  <a:pt x="178594" y="63965"/>
                  <a:pt x="178594" y="69453"/>
                </a:cubicBezTo>
                <a:lnTo>
                  <a:pt x="178594" y="99219"/>
                </a:lnTo>
                <a:cubicBezTo>
                  <a:pt x="178594" y="104707"/>
                  <a:pt x="183028" y="109141"/>
                  <a:pt x="188516" y="109141"/>
                </a:cubicBezTo>
                <a:cubicBezTo>
                  <a:pt x="194004" y="109141"/>
                  <a:pt x="198438" y="104707"/>
                  <a:pt x="198438" y="99219"/>
                </a:cubicBezTo>
                <a:lnTo>
                  <a:pt x="198438" y="69453"/>
                </a:lnTo>
                <a:cubicBezTo>
                  <a:pt x="198438" y="63965"/>
                  <a:pt x="194004" y="59531"/>
                  <a:pt x="188516" y="59531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7" name="Text 5"/>
          <p:cNvSpPr/>
          <p:nvPr/>
        </p:nvSpPr>
        <p:spPr>
          <a:xfrm>
            <a:off x="722313" y="1309688"/>
            <a:ext cx="5191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AI Can Help With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187" y="1658938"/>
            <a:ext cx="5349875" cy="920750"/>
          </a:xfrm>
          <a:custGeom>
            <a:avLst/>
            <a:gdLst/>
            <a:ahLst/>
            <a:cxnLst/>
            <a:rect l="l" t="t" r="r" b="b"/>
            <a:pathLst>
              <a:path w="5349875" h="920750">
                <a:moveTo>
                  <a:pt x="63504" y="0"/>
                </a:moveTo>
                <a:lnTo>
                  <a:pt x="5286371" y="0"/>
                </a:lnTo>
                <a:cubicBezTo>
                  <a:pt x="5321443" y="0"/>
                  <a:pt x="5349875" y="28432"/>
                  <a:pt x="5349875" y="63504"/>
                </a:cubicBezTo>
                <a:lnTo>
                  <a:pt x="5349875" y="857246"/>
                </a:lnTo>
                <a:cubicBezTo>
                  <a:pt x="5349875" y="892318"/>
                  <a:pt x="5321443" y="920750"/>
                  <a:pt x="5286371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2D5A3D">
              <a:alpha val="5098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27063" y="181768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03188" y="51594"/>
                </a:moveTo>
                <a:cubicBezTo>
                  <a:pt x="103188" y="62979"/>
                  <a:pt x="99492" y="73496"/>
                  <a:pt x="93266" y="82029"/>
                </a:cubicBezTo>
                <a:lnTo>
                  <a:pt x="124668" y="113457"/>
                </a:lnTo>
                <a:cubicBezTo>
                  <a:pt x="127769" y="116557"/>
                  <a:pt x="127769" y="121593"/>
                  <a:pt x="124668" y="124693"/>
                </a:cubicBezTo>
                <a:cubicBezTo>
                  <a:pt x="121568" y="127794"/>
                  <a:pt x="116532" y="127794"/>
                  <a:pt x="113432" y="124693"/>
                </a:cubicBezTo>
                <a:lnTo>
                  <a:pt x="82029" y="93266"/>
                </a:lnTo>
                <a:cubicBezTo>
                  <a:pt x="73496" y="99492"/>
                  <a:pt x="62979" y="103188"/>
                  <a:pt x="51594" y="103188"/>
                </a:cubicBezTo>
                <a:cubicBezTo>
                  <a:pt x="23093" y="103188"/>
                  <a:pt x="0" y="80094"/>
                  <a:pt x="0" y="51594"/>
                </a:cubicBezTo>
                <a:cubicBezTo>
                  <a:pt x="0" y="23093"/>
                  <a:pt x="23093" y="0"/>
                  <a:pt x="51594" y="0"/>
                </a:cubicBezTo>
                <a:cubicBezTo>
                  <a:pt x="80094" y="0"/>
                  <a:pt x="103188" y="23093"/>
                  <a:pt x="103188" y="51594"/>
                </a:cubicBezTo>
                <a:close/>
                <a:moveTo>
                  <a:pt x="51594" y="87313"/>
                </a:moveTo>
                <a:cubicBezTo>
                  <a:pt x="71307" y="87313"/>
                  <a:pt x="87313" y="71307"/>
                  <a:pt x="87313" y="51594"/>
                </a:cubicBezTo>
                <a:cubicBezTo>
                  <a:pt x="87313" y="31880"/>
                  <a:pt x="71307" y="15875"/>
                  <a:pt x="51594" y="15875"/>
                </a:cubicBezTo>
                <a:cubicBezTo>
                  <a:pt x="31880" y="15875"/>
                  <a:pt x="15875" y="31880"/>
                  <a:pt x="15875" y="51594"/>
                </a:cubicBezTo>
                <a:cubicBezTo>
                  <a:pt x="15875" y="71307"/>
                  <a:pt x="31880" y="87313"/>
                  <a:pt x="51594" y="87313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10" name="Text 8"/>
          <p:cNvSpPr/>
          <p:nvPr/>
        </p:nvSpPr>
        <p:spPr>
          <a:xfrm>
            <a:off x="833438" y="1785938"/>
            <a:ext cx="1627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Identifying Relevant Studies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1188" y="2039938"/>
            <a:ext cx="5159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tools can quickly scan databases to highlight pertinent research papers, saving time in the initial stages of a literature review.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187" y="2706688"/>
            <a:ext cx="5349875" cy="920750"/>
          </a:xfrm>
          <a:custGeom>
            <a:avLst/>
            <a:gdLst/>
            <a:ahLst/>
            <a:cxnLst/>
            <a:rect l="l" t="t" r="r" b="b"/>
            <a:pathLst>
              <a:path w="5349875" h="920750">
                <a:moveTo>
                  <a:pt x="63504" y="0"/>
                </a:moveTo>
                <a:lnTo>
                  <a:pt x="5286371" y="0"/>
                </a:lnTo>
                <a:cubicBezTo>
                  <a:pt x="5321443" y="0"/>
                  <a:pt x="5349875" y="28432"/>
                  <a:pt x="5349875" y="63504"/>
                </a:cubicBezTo>
                <a:lnTo>
                  <a:pt x="5349875" y="857246"/>
                </a:lnTo>
                <a:cubicBezTo>
                  <a:pt x="5349875" y="892318"/>
                  <a:pt x="5321443" y="920750"/>
                  <a:pt x="5286371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7D9A78">
              <a:alpha val="5098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19125" y="2865438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3891" y="55959"/>
                </a:moveTo>
                <a:lnTo>
                  <a:pt x="8037" y="73471"/>
                </a:lnTo>
                <a:lnTo>
                  <a:pt x="8037" y="23812"/>
                </a:lnTo>
                <a:cubicBezTo>
                  <a:pt x="8037" y="15056"/>
                  <a:pt x="15156" y="7938"/>
                  <a:pt x="23912" y="7938"/>
                </a:cubicBezTo>
                <a:lnTo>
                  <a:pt x="58316" y="7938"/>
                </a:lnTo>
                <a:cubicBezTo>
                  <a:pt x="61739" y="7938"/>
                  <a:pt x="65088" y="9054"/>
                  <a:pt x="67841" y="11113"/>
                </a:cubicBezTo>
                <a:lnTo>
                  <a:pt x="77366" y="18256"/>
                </a:lnTo>
                <a:cubicBezTo>
                  <a:pt x="78730" y="19298"/>
                  <a:pt x="80417" y="19844"/>
                  <a:pt x="82128" y="19844"/>
                </a:cubicBezTo>
                <a:lnTo>
                  <a:pt x="111224" y="19844"/>
                </a:lnTo>
                <a:cubicBezTo>
                  <a:pt x="119980" y="19844"/>
                  <a:pt x="127099" y="26963"/>
                  <a:pt x="127099" y="35719"/>
                </a:cubicBezTo>
                <a:lnTo>
                  <a:pt x="127099" y="39688"/>
                </a:lnTo>
                <a:lnTo>
                  <a:pt x="36463" y="39688"/>
                </a:lnTo>
                <a:cubicBezTo>
                  <a:pt x="26219" y="39688"/>
                  <a:pt x="17115" y="46236"/>
                  <a:pt x="13866" y="55959"/>
                </a:cubicBezTo>
                <a:close/>
                <a:moveTo>
                  <a:pt x="118517" y="111125"/>
                </a:moveTo>
                <a:lnTo>
                  <a:pt x="24557" y="111125"/>
                </a:lnTo>
                <a:cubicBezTo>
                  <a:pt x="16421" y="111125"/>
                  <a:pt x="10691" y="103163"/>
                  <a:pt x="13271" y="95448"/>
                </a:cubicBezTo>
                <a:lnTo>
                  <a:pt x="25177" y="59730"/>
                </a:lnTo>
                <a:cubicBezTo>
                  <a:pt x="26789" y="54868"/>
                  <a:pt x="31353" y="51594"/>
                  <a:pt x="36463" y="51594"/>
                </a:cubicBezTo>
                <a:lnTo>
                  <a:pt x="130423" y="51594"/>
                </a:lnTo>
                <a:cubicBezTo>
                  <a:pt x="138559" y="51594"/>
                  <a:pt x="144289" y="59556"/>
                  <a:pt x="141709" y="67270"/>
                </a:cubicBezTo>
                <a:lnTo>
                  <a:pt x="129803" y="102989"/>
                </a:lnTo>
                <a:cubicBezTo>
                  <a:pt x="128191" y="107851"/>
                  <a:pt x="123627" y="111125"/>
                  <a:pt x="118517" y="111125"/>
                </a:cubicBez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14" name="Text 12"/>
          <p:cNvSpPr/>
          <p:nvPr/>
        </p:nvSpPr>
        <p:spPr>
          <a:xfrm>
            <a:off x="833438" y="2833688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Organizing References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1188" y="3087688"/>
            <a:ext cx="5159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citation managers can help categorize and format references according to various academic styles (APA, MLA, Chicago).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4187" y="3754438"/>
            <a:ext cx="5349875" cy="920750"/>
          </a:xfrm>
          <a:custGeom>
            <a:avLst/>
            <a:gdLst/>
            <a:ahLst/>
            <a:cxnLst/>
            <a:rect l="l" t="t" r="r" b="b"/>
            <a:pathLst>
              <a:path w="5349875" h="920750">
                <a:moveTo>
                  <a:pt x="63504" y="0"/>
                </a:moveTo>
                <a:lnTo>
                  <a:pt x="5286371" y="0"/>
                </a:lnTo>
                <a:cubicBezTo>
                  <a:pt x="5321443" y="0"/>
                  <a:pt x="5349875" y="28432"/>
                  <a:pt x="5349875" y="63504"/>
                </a:cubicBezTo>
                <a:lnTo>
                  <a:pt x="5349875" y="857246"/>
                </a:lnTo>
                <a:cubicBezTo>
                  <a:pt x="5349875" y="892318"/>
                  <a:pt x="5321443" y="920750"/>
                  <a:pt x="5286371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8B7355">
              <a:alpha val="5098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42938" y="3913188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18" name="Text 16"/>
          <p:cNvSpPr/>
          <p:nvPr/>
        </p:nvSpPr>
        <p:spPr>
          <a:xfrm>
            <a:off x="833438" y="3881438"/>
            <a:ext cx="1611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Recognizing Research Gaps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1188" y="4135438"/>
            <a:ext cx="5159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can highlight underexplored areas, but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critical analysis ensures meaningful contribution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5219" y="1146969"/>
            <a:ext cx="5675313" cy="3865563"/>
          </a:xfrm>
          <a:custGeom>
            <a:avLst/>
            <a:gdLst/>
            <a:ahLst/>
            <a:cxnLst/>
            <a:rect l="l" t="t" r="r" b="b"/>
            <a:pathLst>
              <a:path w="5675313" h="3865563">
                <a:moveTo>
                  <a:pt x="63511" y="0"/>
                </a:moveTo>
                <a:lnTo>
                  <a:pt x="5611801" y="0"/>
                </a:lnTo>
                <a:cubicBezTo>
                  <a:pt x="5646878" y="0"/>
                  <a:pt x="5675313" y="28435"/>
                  <a:pt x="5675313" y="63511"/>
                </a:cubicBezTo>
                <a:lnTo>
                  <a:pt x="5675313" y="3802051"/>
                </a:lnTo>
                <a:cubicBezTo>
                  <a:pt x="5675313" y="3837128"/>
                  <a:pt x="5646878" y="3865562"/>
                  <a:pt x="5611801" y="3865563"/>
                </a:cubicBezTo>
                <a:lnTo>
                  <a:pt x="63511" y="3865563"/>
                </a:lnTo>
                <a:cubicBezTo>
                  <a:pt x="28435" y="3865563"/>
                  <a:pt x="0" y="3837128"/>
                  <a:pt x="0" y="3802051"/>
                </a:cubicBezTo>
                <a:lnTo>
                  <a:pt x="0" y="63511"/>
                </a:lnTo>
                <a:cubicBezTo>
                  <a:pt x="0" y="28458"/>
                  <a:pt x="28458" y="0"/>
                  <a:pt x="63511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67859" y="1337469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4883" y="60709"/>
                </a:moveTo>
                <a:lnTo>
                  <a:pt x="79747" y="87406"/>
                </a:lnTo>
                <a:cubicBezTo>
                  <a:pt x="82786" y="88646"/>
                  <a:pt x="86010" y="89297"/>
                  <a:pt x="89297" y="89297"/>
                </a:cubicBezTo>
                <a:cubicBezTo>
                  <a:pt x="92583" y="89297"/>
                  <a:pt x="95808" y="88646"/>
                  <a:pt x="98847" y="87406"/>
                </a:cubicBezTo>
                <a:lnTo>
                  <a:pt x="174005" y="56462"/>
                </a:lnTo>
                <a:cubicBezTo>
                  <a:pt x="176795" y="55314"/>
                  <a:pt x="178594" y="52617"/>
                  <a:pt x="178594" y="49609"/>
                </a:cubicBezTo>
                <a:cubicBezTo>
                  <a:pt x="178594" y="46602"/>
                  <a:pt x="176795" y="43904"/>
                  <a:pt x="174005" y="42757"/>
                </a:cubicBezTo>
                <a:lnTo>
                  <a:pt x="98847" y="11813"/>
                </a:lnTo>
                <a:cubicBezTo>
                  <a:pt x="95808" y="10573"/>
                  <a:pt x="92583" y="9922"/>
                  <a:pt x="89297" y="9922"/>
                </a:cubicBezTo>
                <a:cubicBezTo>
                  <a:pt x="86010" y="9922"/>
                  <a:pt x="82786" y="10573"/>
                  <a:pt x="79747" y="11813"/>
                </a:cubicBezTo>
                <a:lnTo>
                  <a:pt x="4589" y="42757"/>
                </a:lnTo>
                <a:cubicBezTo>
                  <a:pt x="1798" y="43904"/>
                  <a:pt x="0" y="46602"/>
                  <a:pt x="0" y="49609"/>
                </a:cubicBezTo>
                <a:lnTo>
                  <a:pt x="0" y="141387"/>
                </a:lnTo>
                <a:cubicBezTo>
                  <a:pt x="0" y="145510"/>
                  <a:pt x="3318" y="148828"/>
                  <a:pt x="7441" y="148828"/>
                </a:cubicBezTo>
                <a:cubicBezTo>
                  <a:pt x="11565" y="148828"/>
                  <a:pt x="14883" y="145510"/>
                  <a:pt x="14883" y="141387"/>
                </a:cubicBezTo>
                <a:lnTo>
                  <a:pt x="14883" y="60709"/>
                </a:lnTo>
                <a:close/>
                <a:moveTo>
                  <a:pt x="29766" y="82941"/>
                </a:moveTo>
                <a:lnTo>
                  <a:pt x="29766" y="119062"/>
                </a:lnTo>
                <a:cubicBezTo>
                  <a:pt x="29766" y="135496"/>
                  <a:pt x="56431" y="148828"/>
                  <a:pt x="89297" y="148828"/>
                </a:cubicBezTo>
                <a:cubicBezTo>
                  <a:pt x="122163" y="148828"/>
                  <a:pt x="148828" y="135496"/>
                  <a:pt x="148828" y="119062"/>
                </a:cubicBezTo>
                <a:lnTo>
                  <a:pt x="148828" y="82910"/>
                </a:lnTo>
                <a:lnTo>
                  <a:pt x="104521" y="101172"/>
                </a:lnTo>
                <a:cubicBezTo>
                  <a:pt x="99684" y="103156"/>
                  <a:pt x="94537" y="104180"/>
                  <a:pt x="89297" y="104180"/>
                </a:cubicBezTo>
                <a:cubicBezTo>
                  <a:pt x="84057" y="104180"/>
                  <a:pt x="78910" y="103156"/>
                  <a:pt x="74073" y="101172"/>
                </a:cubicBezTo>
                <a:lnTo>
                  <a:pt x="29766" y="82910"/>
                </a:ln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22" name="Text 20"/>
          <p:cNvSpPr/>
          <p:nvPr/>
        </p:nvSpPr>
        <p:spPr>
          <a:xfrm>
            <a:off x="6596063" y="1309688"/>
            <a:ext cx="5191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Ethical Example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57938" y="1658938"/>
            <a:ext cx="5349875" cy="682625"/>
          </a:xfrm>
          <a:custGeom>
            <a:avLst/>
            <a:gdLst/>
            <a:ahLst/>
            <a:cxnLst/>
            <a:rect l="l" t="t" r="r" b="b"/>
            <a:pathLst>
              <a:path w="5349875" h="682625">
                <a:moveTo>
                  <a:pt x="63498" y="0"/>
                </a:moveTo>
                <a:lnTo>
                  <a:pt x="5286377" y="0"/>
                </a:lnTo>
                <a:cubicBezTo>
                  <a:pt x="5321446" y="0"/>
                  <a:pt x="5349875" y="28429"/>
                  <a:pt x="5349875" y="63498"/>
                </a:cubicBezTo>
                <a:lnTo>
                  <a:pt x="5349875" y="619127"/>
                </a:lnTo>
                <a:cubicBezTo>
                  <a:pt x="5349875" y="654196"/>
                  <a:pt x="5321446" y="682625"/>
                  <a:pt x="5286377" y="682625"/>
                </a:cubicBezTo>
                <a:lnTo>
                  <a:pt x="63498" y="682625"/>
                </a:lnTo>
                <a:cubicBezTo>
                  <a:pt x="28429" y="682625"/>
                  <a:pt x="0" y="654196"/>
                  <a:pt x="0" y="619127"/>
                </a:cubicBezTo>
                <a:lnTo>
                  <a:pt x="0" y="63498"/>
                </a:lnTo>
                <a:cubicBezTo>
                  <a:pt x="0" y="28452"/>
                  <a:pt x="28452" y="0"/>
                  <a:pt x="63498" y="0"/>
                </a:cubicBezTo>
                <a:close/>
              </a:path>
            </a:pathLst>
          </a:custGeom>
          <a:solidFill>
            <a:srgbClr val="2D5A3D">
              <a:alpha val="5098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84938" y="1801813"/>
            <a:ext cx="499752" cy="123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Scenario: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84938" y="2008187"/>
            <a:ext cx="515937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PhD candidate is refining their literature review on AI ethics.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7938" y="2468563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1: AI Provides Overview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57938" y="2722563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tool shows: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84938" y="2976563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Overview of dominant themes in AI ethics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84938" y="3198813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Comparative analysis of existing methodologies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84938" y="3421063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Open questions and gaps in the literature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57938" y="3706813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2: Student Takes Action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57938" y="3960813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these insights, the student: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84938" y="4214813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Integrates newer studies into their review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84938" y="4437063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Addresses theoretical gaps identified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84938" y="4659313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Refines research focus based on gaps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07125" y="5143500"/>
            <a:ext cx="5667375" cy="666750"/>
          </a:xfrm>
          <a:custGeom>
            <a:avLst/>
            <a:gdLst/>
            <a:ahLst/>
            <a:cxnLst/>
            <a:rect l="l" t="t" r="r" b="b"/>
            <a:pathLst>
              <a:path w="5667375" h="666750">
                <a:moveTo>
                  <a:pt x="31750" y="0"/>
                </a:moveTo>
                <a:lnTo>
                  <a:pt x="5603874" y="0"/>
                </a:lnTo>
                <a:cubicBezTo>
                  <a:pt x="5638945" y="0"/>
                  <a:pt x="5667375" y="28430"/>
                  <a:pt x="5667375" y="63501"/>
                </a:cubicBezTo>
                <a:lnTo>
                  <a:pt x="5667375" y="603249"/>
                </a:lnTo>
                <a:cubicBezTo>
                  <a:pt x="5667375" y="638320"/>
                  <a:pt x="5638945" y="666750"/>
                  <a:pt x="560387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37" name="Shape 35"/>
          <p:cNvSpPr/>
          <p:nvPr/>
        </p:nvSpPr>
        <p:spPr>
          <a:xfrm>
            <a:off x="6207125" y="5143500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8" name="Text 36"/>
          <p:cNvSpPr/>
          <p:nvPr/>
        </p:nvSpPr>
        <p:spPr>
          <a:xfrm>
            <a:off x="6350000" y="5270500"/>
            <a:ext cx="5461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This Is Ethical: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 provides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structural guidance and initial mapping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but the student performs the actual synthesis, critical evaluation, and integration of sources.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33375" y="5937250"/>
            <a:ext cx="11541125" cy="666750"/>
          </a:xfrm>
          <a:custGeom>
            <a:avLst/>
            <a:gdLst/>
            <a:ahLst/>
            <a:cxnLst/>
            <a:rect l="l" t="t" r="r" b="b"/>
            <a:pathLst>
              <a:path w="11541125" h="666750">
                <a:moveTo>
                  <a:pt x="31750" y="0"/>
                </a:moveTo>
                <a:lnTo>
                  <a:pt x="11477624" y="0"/>
                </a:lnTo>
                <a:cubicBezTo>
                  <a:pt x="11512695" y="0"/>
                  <a:pt x="11541125" y="28430"/>
                  <a:pt x="11541125" y="63501"/>
                </a:cubicBezTo>
                <a:lnTo>
                  <a:pt x="11541125" y="603249"/>
                </a:lnTo>
                <a:cubicBezTo>
                  <a:pt x="11541125" y="638320"/>
                  <a:pt x="11512695" y="666750"/>
                  <a:pt x="1147762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5A3D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33375" y="5937250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41" name="Shape 39"/>
          <p:cNvSpPr/>
          <p:nvPr/>
        </p:nvSpPr>
        <p:spPr>
          <a:xfrm>
            <a:off x="508000" y="6096000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42" name="Text 40"/>
          <p:cNvSpPr/>
          <p:nvPr/>
        </p:nvSpPr>
        <p:spPr>
          <a:xfrm>
            <a:off x="756853" y="6064250"/>
            <a:ext cx="1105693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Principle: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 can help you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organize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literature, but it cannot replace your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reading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synthesis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Think of AI as a research librarian, not a substitute for your own scholarly engagement.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21469" y="6734969"/>
            <a:ext cx="1444625" cy="269875"/>
          </a:xfrm>
          <a:custGeom>
            <a:avLst/>
            <a:gdLst/>
            <a:ahLst/>
            <a:cxnLst/>
            <a:rect l="l" t="t" r="r" b="b"/>
            <a:pathLst>
              <a:path w="1444625" h="269875">
                <a:moveTo>
                  <a:pt x="0" y="0"/>
                </a:moveTo>
                <a:lnTo>
                  <a:pt x="1444625" y="0"/>
                </a:lnTo>
                <a:lnTo>
                  <a:pt x="144462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90196"/>
            </a:srgbClr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7500" y="6731000"/>
            <a:ext cx="1484313" cy="261937"/>
          </a:xfrm>
          <a:prstGeom prst="rect">
            <a:avLst/>
          </a:prstGeom>
          <a:noFill/>
          <a:ln/>
        </p:spPr>
        <p:txBody>
          <a:bodyPr wrap="square" lIns="95250" tIns="63500" rIns="95250" bIns="63500" rtlCol="0" anchor="ctr"/>
          <a:lstStyle/>
          <a:p>
            <a:pPr>
              <a:lnSpc>
                <a:spcPct val="120000"/>
              </a:lnSpc>
            </a:pPr>
            <a:r>
              <a:rPr lang="en-US" sz="75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Use • Literature Review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525745" y="6791089"/>
            <a:ext cx="140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discovers, you synthesize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625" y="328625"/>
            <a:ext cx="11592259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spc="91" kern="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Limitations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8625" y="558663"/>
            <a:ext cx="11682631" cy="3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29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AI CANNOT Do for Literature Reviews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8625" y="985876"/>
            <a:ext cx="657251" cy="32863"/>
          </a:xfrm>
          <a:custGeom>
            <a:avLst/>
            <a:gdLst/>
            <a:ahLst/>
            <a:cxnLst/>
            <a:rect l="l" t="t" r="r" b="b"/>
            <a:pathLst>
              <a:path w="657251" h="32863">
                <a:moveTo>
                  <a:pt x="0" y="0"/>
                </a:moveTo>
                <a:lnTo>
                  <a:pt x="657251" y="0"/>
                </a:lnTo>
                <a:lnTo>
                  <a:pt x="657251" y="32863"/>
                </a:lnTo>
                <a:lnTo>
                  <a:pt x="0" y="32863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" name="Shape 3"/>
          <p:cNvSpPr/>
          <p:nvPr/>
        </p:nvSpPr>
        <p:spPr>
          <a:xfrm>
            <a:off x="345057" y="1183051"/>
            <a:ext cx="5652356" cy="1084464"/>
          </a:xfrm>
          <a:custGeom>
            <a:avLst/>
            <a:gdLst/>
            <a:ahLst/>
            <a:cxnLst/>
            <a:rect l="l" t="t" r="r" b="b"/>
            <a:pathLst>
              <a:path w="5652356" h="1084464">
                <a:moveTo>
                  <a:pt x="32863" y="0"/>
                </a:moveTo>
                <a:lnTo>
                  <a:pt x="5586626" y="0"/>
                </a:lnTo>
                <a:cubicBezTo>
                  <a:pt x="5622928" y="0"/>
                  <a:pt x="5652356" y="29428"/>
                  <a:pt x="5652356" y="65729"/>
                </a:cubicBezTo>
                <a:lnTo>
                  <a:pt x="5652356" y="1018734"/>
                </a:lnTo>
                <a:cubicBezTo>
                  <a:pt x="5652356" y="1055036"/>
                  <a:pt x="5622928" y="1084464"/>
                  <a:pt x="5586626" y="1084464"/>
                </a:cubicBezTo>
                <a:lnTo>
                  <a:pt x="32863" y="1084464"/>
                </a:lnTo>
                <a:cubicBezTo>
                  <a:pt x="14713" y="1084464"/>
                  <a:pt x="0" y="1069751"/>
                  <a:pt x="0" y="1051601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6" name="Shape 4"/>
          <p:cNvSpPr/>
          <p:nvPr/>
        </p:nvSpPr>
        <p:spPr>
          <a:xfrm>
            <a:off x="345057" y="1183051"/>
            <a:ext cx="32863" cy="1084464"/>
          </a:xfrm>
          <a:custGeom>
            <a:avLst/>
            <a:gdLst/>
            <a:ahLst/>
            <a:cxnLst/>
            <a:rect l="l" t="t" r="r" b="b"/>
            <a:pathLst>
              <a:path w="32863" h="1084464">
                <a:moveTo>
                  <a:pt x="32863" y="0"/>
                </a:moveTo>
                <a:lnTo>
                  <a:pt x="32863" y="0"/>
                </a:lnTo>
                <a:lnTo>
                  <a:pt x="32863" y="1084464"/>
                </a:lnTo>
                <a:lnTo>
                  <a:pt x="32863" y="1084464"/>
                </a:lnTo>
                <a:cubicBezTo>
                  <a:pt x="14713" y="1084464"/>
                  <a:pt x="0" y="1069751"/>
                  <a:pt x="0" y="1051601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7" name="Shape 5"/>
          <p:cNvSpPr/>
          <p:nvPr/>
        </p:nvSpPr>
        <p:spPr>
          <a:xfrm>
            <a:off x="550447" y="1363795"/>
            <a:ext cx="197175" cy="197175"/>
          </a:xfrm>
          <a:custGeom>
            <a:avLst/>
            <a:gdLst/>
            <a:ahLst/>
            <a:cxnLst/>
            <a:rect l="l" t="t" r="r" b="b"/>
            <a:pathLst>
              <a:path w="197175" h="197175">
                <a:moveTo>
                  <a:pt x="98588" y="197175"/>
                </a:moveTo>
                <a:cubicBezTo>
                  <a:pt x="153000" y="197175"/>
                  <a:pt x="197175" y="153000"/>
                  <a:pt x="197175" y="98588"/>
                </a:cubicBezTo>
                <a:cubicBezTo>
                  <a:pt x="197175" y="44176"/>
                  <a:pt x="153000" y="0"/>
                  <a:pt x="98588" y="0"/>
                </a:cubicBezTo>
                <a:cubicBezTo>
                  <a:pt x="44176" y="0"/>
                  <a:pt x="0" y="44176"/>
                  <a:pt x="0" y="98588"/>
                </a:cubicBezTo>
                <a:cubicBezTo>
                  <a:pt x="0" y="153000"/>
                  <a:pt x="44176" y="197175"/>
                  <a:pt x="98588" y="197175"/>
                </a:cubicBezTo>
                <a:close/>
                <a:moveTo>
                  <a:pt x="64313" y="64313"/>
                </a:moveTo>
                <a:cubicBezTo>
                  <a:pt x="67933" y="60693"/>
                  <a:pt x="73787" y="60693"/>
                  <a:pt x="77368" y="64313"/>
                </a:cubicBezTo>
                <a:lnTo>
                  <a:pt x="98549" y="85494"/>
                </a:lnTo>
                <a:lnTo>
                  <a:pt x="119730" y="64313"/>
                </a:lnTo>
                <a:cubicBezTo>
                  <a:pt x="123350" y="60693"/>
                  <a:pt x="129204" y="60693"/>
                  <a:pt x="132785" y="64313"/>
                </a:cubicBezTo>
                <a:cubicBezTo>
                  <a:pt x="136367" y="67933"/>
                  <a:pt x="136405" y="73787"/>
                  <a:pt x="132785" y="77368"/>
                </a:cubicBezTo>
                <a:lnTo>
                  <a:pt x="111604" y="98549"/>
                </a:lnTo>
                <a:lnTo>
                  <a:pt x="132785" y="119730"/>
                </a:lnTo>
                <a:cubicBezTo>
                  <a:pt x="136405" y="123350"/>
                  <a:pt x="136405" y="129204"/>
                  <a:pt x="132785" y="132785"/>
                </a:cubicBezTo>
                <a:cubicBezTo>
                  <a:pt x="129165" y="136367"/>
                  <a:pt x="123312" y="136405"/>
                  <a:pt x="119730" y="132785"/>
                </a:cubicBezTo>
                <a:lnTo>
                  <a:pt x="98549" y="111604"/>
                </a:lnTo>
                <a:lnTo>
                  <a:pt x="77368" y="132785"/>
                </a:lnTo>
                <a:cubicBezTo>
                  <a:pt x="73748" y="136405"/>
                  <a:pt x="67895" y="136405"/>
                  <a:pt x="64313" y="132785"/>
                </a:cubicBezTo>
                <a:cubicBezTo>
                  <a:pt x="60732" y="129165"/>
                  <a:pt x="60693" y="123312"/>
                  <a:pt x="64313" y="119730"/>
                </a:cubicBezTo>
                <a:lnTo>
                  <a:pt x="85494" y="98549"/>
                </a:lnTo>
                <a:lnTo>
                  <a:pt x="64313" y="77368"/>
                </a:lnTo>
                <a:cubicBezTo>
                  <a:pt x="60693" y="73748"/>
                  <a:pt x="60693" y="67895"/>
                  <a:pt x="64313" y="64313"/>
                </a:cubicBez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8" name="Text 6"/>
          <p:cNvSpPr/>
          <p:nvPr/>
        </p:nvSpPr>
        <p:spPr>
          <a:xfrm>
            <a:off x="870857" y="1347364"/>
            <a:ext cx="2021046" cy="23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4" b="1" dirty="0">
                <a:solidFill>
                  <a:srgbClr val="C1000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Replace Reading Full Texts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5801" y="1675989"/>
            <a:ext cx="5373024" cy="42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Relying solely on AI-generated summaries without engaging with the full texts can lead to </a:t>
            </a:r>
            <a:pPr>
              <a:lnSpc>
                <a:spcPct val="140000"/>
              </a:lnSpc>
            </a:pPr>
            <a:r>
              <a:rPr lang="en-US" sz="1035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superficial understanding</a:t>
            </a:r>
            <a:pPr>
              <a:lnSpc>
                <a:spcPct val="140000"/>
              </a:lnSpc>
            </a:pPr>
            <a:r>
              <a:rPr lang="en-US" sz="103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missed nuances.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5057" y="2398965"/>
            <a:ext cx="5652356" cy="1084464"/>
          </a:xfrm>
          <a:custGeom>
            <a:avLst/>
            <a:gdLst/>
            <a:ahLst/>
            <a:cxnLst/>
            <a:rect l="l" t="t" r="r" b="b"/>
            <a:pathLst>
              <a:path w="5652356" h="1084464">
                <a:moveTo>
                  <a:pt x="32863" y="0"/>
                </a:moveTo>
                <a:lnTo>
                  <a:pt x="5586626" y="0"/>
                </a:lnTo>
                <a:cubicBezTo>
                  <a:pt x="5622928" y="0"/>
                  <a:pt x="5652356" y="29428"/>
                  <a:pt x="5652356" y="65729"/>
                </a:cubicBezTo>
                <a:lnTo>
                  <a:pt x="5652356" y="1018734"/>
                </a:lnTo>
                <a:cubicBezTo>
                  <a:pt x="5652356" y="1055036"/>
                  <a:pt x="5622928" y="1084464"/>
                  <a:pt x="5586626" y="1084464"/>
                </a:cubicBezTo>
                <a:lnTo>
                  <a:pt x="32863" y="1084464"/>
                </a:lnTo>
                <a:cubicBezTo>
                  <a:pt x="14713" y="1084464"/>
                  <a:pt x="0" y="1069751"/>
                  <a:pt x="0" y="1051601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345057" y="2398965"/>
            <a:ext cx="32863" cy="1084464"/>
          </a:xfrm>
          <a:custGeom>
            <a:avLst/>
            <a:gdLst/>
            <a:ahLst/>
            <a:cxnLst/>
            <a:rect l="l" t="t" r="r" b="b"/>
            <a:pathLst>
              <a:path w="32863" h="1084464">
                <a:moveTo>
                  <a:pt x="32863" y="0"/>
                </a:moveTo>
                <a:lnTo>
                  <a:pt x="32863" y="0"/>
                </a:lnTo>
                <a:lnTo>
                  <a:pt x="32863" y="1084464"/>
                </a:lnTo>
                <a:lnTo>
                  <a:pt x="32863" y="1084464"/>
                </a:lnTo>
                <a:cubicBezTo>
                  <a:pt x="14713" y="1084464"/>
                  <a:pt x="0" y="1069751"/>
                  <a:pt x="0" y="1051601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2" name="Shape 10"/>
          <p:cNvSpPr/>
          <p:nvPr/>
        </p:nvSpPr>
        <p:spPr>
          <a:xfrm>
            <a:off x="550447" y="2579709"/>
            <a:ext cx="197175" cy="197175"/>
          </a:xfrm>
          <a:custGeom>
            <a:avLst/>
            <a:gdLst/>
            <a:ahLst/>
            <a:cxnLst/>
            <a:rect l="l" t="t" r="r" b="b"/>
            <a:pathLst>
              <a:path w="197175" h="197175">
                <a:moveTo>
                  <a:pt x="98588" y="197175"/>
                </a:moveTo>
                <a:cubicBezTo>
                  <a:pt x="153000" y="197175"/>
                  <a:pt x="197175" y="153000"/>
                  <a:pt x="197175" y="98588"/>
                </a:cubicBezTo>
                <a:cubicBezTo>
                  <a:pt x="197175" y="44176"/>
                  <a:pt x="153000" y="0"/>
                  <a:pt x="98588" y="0"/>
                </a:cubicBezTo>
                <a:cubicBezTo>
                  <a:pt x="44176" y="0"/>
                  <a:pt x="0" y="44176"/>
                  <a:pt x="0" y="98588"/>
                </a:cubicBezTo>
                <a:cubicBezTo>
                  <a:pt x="0" y="153000"/>
                  <a:pt x="44176" y="197175"/>
                  <a:pt x="98588" y="197175"/>
                </a:cubicBezTo>
                <a:close/>
                <a:moveTo>
                  <a:pt x="64313" y="64313"/>
                </a:moveTo>
                <a:cubicBezTo>
                  <a:pt x="67933" y="60693"/>
                  <a:pt x="73787" y="60693"/>
                  <a:pt x="77368" y="64313"/>
                </a:cubicBezTo>
                <a:lnTo>
                  <a:pt x="98549" y="85494"/>
                </a:lnTo>
                <a:lnTo>
                  <a:pt x="119730" y="64313"/>
                </a:lnTo>
                <a:cubicBezTo>
                  <a:pt x="123350" y="60693"/>
                  <a:pt x="129204" y="60693"/>
                  <a:pt x="132785" y="64313"/>
                </a:cubicBezTo>
                <a:cubicBezTo>
                  <a:pt x="136367" y="67933"/>
                  <a:pt x="136405" y="73787"/>
                  <a:pt x="132785" y="77368"/>
                </a:cubicBezTo>
                <a:lnTo>
                  <a:pt x="111604" y="98549"/>
                </a:lnTo>
                <a:lnTo>
                  <a:pt x="132785" y="119730"/>
                </a:lnTo>
                <a:cubicBezTo>
                  <a:pt x="136405" y="123350"/>
                  <a:pt x="136405" y="129204"/>
                  <a:pt x="132785" y="132785"/>
                </a:cubicBezTo>
                <a:cubicBezTo>
                  <a:pt x="129165" y="136367"/>
                  <a:pt x="123312" y="136405"/>
                  <a:pt x="119730" y="132785"/>
                </a:cubicBezTo>
                <a:lnTo>
                  <a:pt x="98549" y="111604"/>
                </a:lnTo>
                <a:lnTo>
                  <a:pt x="77368" y="132785"/>
                </a:lnTo>
                <a:cubicBezTo>
                  <a:pt x="73748" y="136405"/>
                  <a:pt x="67895" y="136405"/>
                  <a:pt x="64313" y="132785"/>
                </a:cubicBezTo>
                <a:cubicBezTo>
                  <a:pt x="60732" y="129165"/>
                  <a:pt x="60693" y="123312"/>
                  <a:pt x="64313" y="119730"/>
                </a:cubicBezTo>
                <a:lnTo>
                  <a:pt x="85494" y="98549"/>
                </a:lnTo>
                <a:lnTo>
                  <a:pt x="64313" y="77368"/>
                </a:lnTo>
                <a:cubicBezTo>
                  <a:pt x="60693" y="73748"/>
                  <a:pt x="60693" y="67895"/>
                  <a:pt x="64313" y="64313"/>
                </a:cubicBez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13" name="Text 11"/>
          <p:cNvSpPr/>
          <p:nvPr/>
        </p:nvSpPr>
        <p:spPr>
          <a:xfrm>
            <a:off x="870857" y="2563278"/>
            <a:ext cx="1774577" cy="23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4" b="1" dirty="0">
                <a:solidFill>
                  <a:srgbClr val="C1000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 Real Citations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5801" y="2891903"/>
            <a:ext cx="5373024" cy="42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can sometimes generate </a:t>
            </a:r>
            <a:pPr>
              <a:lnSpc>
                <a:spcPct val="140000"/>
              </a:lnSpc>
            </a:pPr>
            <a:r>
              <a:rPr lang="en-US" sz="1035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fabricated citations</a:t>
            </a:r>
            <a:pPr>
              <a:lnSpc>
                <a:spcPct val="140000"/>
              </a:lnSpc>
            </a:pPr>
            <a:r>
              <a:rPr lang="en-US" sz="103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—references to papers that don't exist. Always verify the authenticity of suggested sources.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5057" y="3614879"/>
            <a:ext cx="5652356" cy="1084464"/>
          </a:xfrm>
          <a:custGeom>
            <a:avLst/>
            <a:gdLst/>
            <a:ahLst/>
            <a:cxnLst/>
            <a:rect l="l" t="t" r="r" b="b"/>
            <a:pathLst>
              <a:path w="5652356" h="1084464">
                <a:moveTo>
                  <a:pt x="32863" y="0"/>
                </a:moveTo>
                <a:lnTo>
                  <a:pt x="5586626" y="0"/>
                </a:lnTo>
                <a:cubicBezTo>
                  <a:pt x="5622928" y="0"/>
                  <a:pt x="5652356" y="29428"/>
                  <a:pt x="5652356" y="65729"/>
                </a:cubicBezTo>
                <a:lnTo>
                  <a:pt x="5652356" y="1018734"/>
                </a:lnTo>
                <a:cubicBezTo>
                  <a:pt x="5652356" y="1055036"/>
                  <a:pt x="5622928" y="1084464"/>
                  <a:pt x="5586626" y="1084464"/>
                </a:cubicBezTo>
                <a:lnTo>
                  <a:pt x="32863" y="1084464"/>
                </a:lnTo>
                <a:cubicBezTo>
                  <a:pt x="14713" y="1084464"/>
                  <a:pt x="0" y="1069751"/>
                  <a:pt x="0" y="1051601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345057" y="3614879"/>
            <a:ext cx="32863" cy="1084464"/>
          </a:xfrm>
          <a:custGeom>
            <a:avLst/>
            <a:gdLst/>
            <a:ahLst/>
            <a:cxnLst/>
            <a:rect l="l" t="t" r="r" b="b"/>
            <a:pathLst>
              <a:path w="32863" h="1084464">
                <a:moveTo>
                  <a:pt x="32863" y="0"/>
                </a:moveTo>
                <a:lnTo>
                  <a:pt x="32863" y="0"/>
                </a:lnTo>
                <a:lnTo>
                  <a:pt x="32863" y="1084464"/>
                </a:lnTo>
                <a:lnTo>
                  <a:pt x="32863" y="1084464"/>
                </a:lnTo>
                <a:cubicBezTo>
                  <a:pt x="14713" y="1084464"/>
                  <a:pt x="0" y="1069751"/>
                  <a:pt x="0" y="1051601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7" name="Shape 15"/>
          <p:cNvSpPr/>
          <p:nvPr/>
        </p:nvSpPr>
        <p:spPr>
          <a:xfrm>
            <a:off x="550447" y="3795623"/>
            <a:ext cx="197175" cy="197175"/>
          </a:xfrm>
          <a:custGeom>
            <a:avLst/>
            <a:gdLst/>
            <a:ahLst/>
            <a:cxnLst/>
            <a:rect l="l" t="t" r="r" b="b"/>
            <a:pathLst>
              <a:path w="197175" h="197175">
                <a:moveTo>
                  <a:pt x="98588" y="197175"/>
                </a:moveTo>
                <a:cubicBezTo>
                  <a:pt x="153000" y="197175"/>
                  <a:pt x="197175" y="153000"/>
                  <a:pt x="197175" y="98588"/>
                </a:cubicBezTo>
                <a:cubicBezTo>
                  <a:pt x="197175" y="44176"/>
                  <a:pt x="153000" y="0"/>
                  <a:pt x="98588" y="0"/>
                </a:cubicBezTo>
                <a:cubicBezTo>
                  <a:pt x="44176" y="0"/>
                  <a:pt x="0" y="44176"/>
                  <a:pt x="0" y="98588"/>
                </a:cubicBezTo>
                <a:cubicBezTo>
                  <a:pt x="0" y="153000"/>
                  <a:pt x="44176" y="197175"/>
                  <a:pt x="98588" y="197175"/>
                </a:cubicBezTo>
                <a:close/>
                <a:moveTo>
                  <a:pt x="64313" y="64313"/>
                </a:moveTo>
                <a:cubicBezTo>
                  <a:pt x="67933" y="60693"/>
                  <a:pt x="73787" y="60693"/>
                  <a:pt x="77368" y="64313"/>
                </a:cubicBezTo>
                <a:lnTo>
                  <a:pt x="98549" y="85494"/>
                </a:lnTo>
                <a:lnTo>
                  <a:pt x="119730" y="64313"/>
                </a:lnTo>
                <a:cubicBezTo>
                  <a:pt x="123350" y="60693"/>
                  <a:pt x="129204" y="60693"/>
                  <a:pt x="132785" y="64313"/>
                </a:cubicBezTo>
                <a:cubicBezTo>
                  <a:pt x="136367" y="67933"/>
                  <a:pt x="136405" y="73787"/>
                  <a:pt x="132785" y="77368"/>
                </a:cubicBezTo>
                <a:lnTo>
                  <a:pt x="111604" y="98549"/>
                </a:lnTo>
                <a:lnTo>
                  <a:pt x="132785" y="119730"/>
                </a:lnTo>
                <a:cubicBezTo>
                  <a:pt x="136405" y="123350"/>
                  <a:pt x="136405" y="129204"/>
                  <a:pt x="132785" y="132785"/>
                </a:cubicBezTo>
                <a:cubicBezTo>
                  <a:pt x="129165" y="136367"/>
                  <a:pt x="123312" y="136405"/>
                  <a:pt x="119730" y="132785"/>
                </a:cubicBezTo>
                <a:lnTo>
                  <a:pt x="98549" y="111604"/>
                </a:lnTo>
                <a:lnTo>
                  <a:pt x="77368" y="132785"/>
                </a:lnTo>
                <a:cubicBezTo>
                  <a:pt x="73748" y="136405"/>
                  <a:pt x="67895" y="136405"/>
                  <a:pt x="64313" y="132785"/>
                </a:cubicBezTo>
                <a:cubicBezTo>
                  <a:pt x="60732" y="129165"/>
                  <a:pt x="60693" y="123312"/>
                  <a:pt x="64313" y="119730"/>
                </a:cubicBezTo>
                <a:lnTo>
                  <a:pt x="85494" y="98549"/>
                </a:lnTo>
                <a:lnTo>
                  <a:pt x="64313" y="77368"/>
                </a:lnTo>
                <a:cubicBezTo>
                  <a:pt x="60693" y="73748"/>
                  <a:pt x="60693" y="67895"/>
                  <a:pt x="64313" y="64313"/>
                </a:cubicBez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18" name="Text 16"/>
          <p:cNvSpPr/>
          <p:nvPr/>
        </p:nvSpPr>
        <p:spPr>
          <a:xfrm>
            <a:off x="870857" y="3779191"/>
            <a:ext cx="2275730" cy="23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4" b="1" dirty="0">
                <a:solidFill>
                  <a:srgbClr val="C1000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 Deep Critical Analysis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5801" y="4107817"/>
            <a:ext cx="5373024" cy="42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cannot evaluate the </a:t>
            </a:r>
            <a:pPr>
              <a:lnSpc>
                <a:spcPct val="140000"/>
              </a:lnSpc>
            </a:pPr>
            <a:r>
              <a:rPr lang="en-US" sz="1035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quality, validity, or relevance</a:t>
            </a:r>
            <a:pPr>
              <a:lnSpc>
                <a:spcPct val="140000"/>
              </a:lnSpc>
            </a:pPr>
            <a:r>
              <a:rPr lang="en-US" sz="103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research findings. Critical analysis requires human expertise and judgment.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2816" y="1183051"/>
            <a:ext cx="5652356" cy="1084464"/>
          </a:xfrm>
          <a:custGeom>
            <a:avLst/>
            <a:gdLst/>
            <a:ahLst/>
            <a:cxnLst/>
            <a:rect l="l" t="t" r="r" b="b"/>
            <a:pathLst>
              <a:path w="5652356" h="1084464">
                <a:moveTo>
                  <a:pt x="32863" y="0"/>
                </a:moveTo>
                <a:lnTo>
                  <a:pt x="5586626" y="0"/>
                </a:lnTo>
                <a:cubicBezTo>
                  <a:pt x="5622928" y="0"/>
                  <a:pt x="5652356" y="29428"/>
                  <a:pt x="5652356" y="65729"/>
                </a:cubicBezTo>
                <a:lnTo>
                  <a:pt x="5652356" y="1018734"/>
                </a:lnTo>
                <a:cubicBezTo>
                  <a:pt x="5652356" y="1055036"/>
                  <a:pt x="5622928" y="1084464"/>
                  <a:pt x="5586626" y="1084464"/>
                </a:cubicBezTo>
                <a:lnTo>
                  <a:pt x="32863" y="1084464"/>
                </a:lnTo>
                <a:cubicBezTo>
                  <a:pt x="14713" y="1084464"/>
                  <a:pt x="0" y="1069751"/>
                  <a:pt x="0" y="1051601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2816" y="1183051"/>
            <a:ext cx="32863" cy="1084464"/>
          </a:xfrm>
          <a:custGeom>
            <a:avLst/>
            <a:gdLst/>
            <a:ahLst/>
            <a:cxnLst/>
            <a:rect l="l" t="t" r="r" b="b"/>
            <a:pathLst>
              <a:path w="32863" h="1084464">
                <a:moveTo>
                  <a:pt x="32863" y="0"/>
                </a:moveTo>
                <a:lnTo>
                  <a:pt x="32863" y="0"/>
                </a:lnTo>
                <a:lnTo>
                  <a:pt x="32863" y="1084464"/>
                </a:lnTo>
                <a:lnTo>
                  <a:pt x="32863" y="1084464"/>
                </a:lnTo>
                <a:cubicBezTo>
                  <a:pt x="14713" y="1084464"/>
                  <a:pt x="0" y="1069751"/>
                  <a:pt x="0" y="1051601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2" name="Shape 20"/>
          <p:cNvSpPr/>
          <p:nvPr/>
        </p:nvSpPr>
        <p:spPr>
          <a:xfrm>
            <a:off x="6418207" y="1363795"/>
            <a:ext cx="197175" cy="197175"/>
          </a:xfrm>
          <a:custGeom>
            <a:avLst/>
            <a:gdLst/>
            <a:ahLst/>
            <a:cxnLst/>
            <a:rect l="l" t="t" r="r" b="b"/>
            <a:pathLst>
              <a:path w="197175" h="197175">
                <a:moveTo>
                  <a:pt x="98588" y="197175"/>
                </a:moveTo>
                <a:cubicBezTo>
                  <a:pt x="153000" y="197175"/>
                  <a:pt x="197175" y="153000"/>
                  <a:pt x="197175" y="98588"/>
                </a:cubicBezTo>
                <a:cubicBezTo>
                  <a:pt x="197175" y="44176"/>
                  <a:pt x="153000" y="0"/>
                  <a:pt x="98588" y="0"/>
                </a:cubicBezTo>
                <a:cubicBezTo>
                  <a:pt x="44176" y="0"/>
                  <a:pt x="0" y="44176"/>
                  <a:pt x="0" y="98588"/>
                </a:cubicBezTo>
                <a:cubicBezTo>
                  <a:pt x="0" y="153000"/>
                  <a:pt x="44176" y="197175"/>
                  <a:pt x="98588" y="197175"/>
                </a:cubicBezTo>
                <a:close/>
                <a:moveTo>
                  <a:pt x="64313" y="64313"/>
                </a:moveTo>
                <a:cubicBezTo>
                  <a:pt x="67933" y="60693"/>
                  <a:pt x="73787" y="60693"/>
                  <a:pt x="77368" y="64313"/>
                </a:cubicBezTo>
                <a:lnTo>
                  <a:pt x="98549" y="85494"/>
                </a:lnTo>
                <a:lnTo>
                  <a:pt x="119730" y="64313"/>
                </a:lnTo>
                <a:cubicBezTo>
                  <a:pt x="123350" y="60693"/>
                  <a:pt x="129204" y="60693"/>
                  <a:pt x="132785" y="64313"/>
                </a:cubicBezTo>
                <a:cubicBezTo>
                  <a:pt x="136367" y="67933"/>
                  <a:pt x="136405" y="73787"/>
                  <a:pt x="132785" y="77368"/>
                </a:cubicBezTo>
                <a:lnTo>
                  <a:pt x="111604" y="98549"/>
                </a:lnTo>
                <a:lnTo>
                  <a:pt x="132785" y="119730"/>
                </a:lnTo>
                <a:cubicBezTo>
                  <a:pt x="136405" y="123350"/>
                  <a:pt x="136405" y="129204"/>
                  <a:pt x="132785" y="132785"/>
                </a:cubicBezTo>
                <a:cubicBezTo>
                  <a:pt x="129165" y="136367"/>
                  <a:pt x="123312" y="136405"/>
                  <a:pt x="119730" y="132785"/>
                </a:cubicBezTo>
                <a:lnTo>
                  <a:pt x="98549" y="111604"/>
                </a:lnTo>
                <a:lnTo>
                  <a:pt x="77368" y="132785"/>
                </a:lnTo>
                <a:cubicBezTo>
                  <a:pt x="73748" y="136405"/>
                  <a:pt x="67895" y="136405"/>
                  <a:pt x="64313" y="132785"/>
                </a:cubicBezTo>
                <a:cubicBezTo>
                  <a:pt x="60732" y="129165"/>
                  <a:pt x="60693" y="123312"/>
                  <a:pt x="64313" y="119730"/>
                </a:cubicBezTo>
                <a:lnTo>
                  <a:pt x="85494" y="98549"/>
                </a:lnTo>
                <a:lnTo>
                  <a:pt x="64313" y="77368"/>
                </a:lnTo>
                <a:cubicBezTo>
                  <a:pt x="60693" y="73748"/>
                  <a:pt x="60693" y="67895"/>
                  <a:pt x="64313" y="64313"/>
                </a:cubicBez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23" name="Text 21"/>
          <p:cNvSpPr/>
          <p:nvPr/>
        </p:nvSpPr>
        <p:spPr>
          <a:xfrm>
            <a:off x="6738617" y="1347364"/>
            <a:ext cx="2193574" cy="23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4" b="1" dirty="0">
                <a:solidFill>
                  <a:srgbClr val="C1000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Capture Nuanced Arguments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93560" y="1675989"/>
            <a:ext cx="5373024" cy="42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may miss </a:t>
            </a:r>
            <a:pPr>
              <a:lnSpc>
                <a:spcPct val="140000"/>
              </a:lnSpc>
            </a:pPr>
            <a:r>
              <a:rPr lang="en-US" sz="1035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subtle distinctions, theoretical debates, or methodological criticisms</a:t>
            </a:r>
            <a:pPr>
              <a:lnSpc>
                <a:spcPct val="140000"/>
              </a:lnSpc>
            </a:pPr>
            <a:r>
              <a:rPr lang="en-US" sz="103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present in scholarly work.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2816" y="2398965"/>
            <a:ext cx="5652356" cy="1084464"/>
          </a:xfrm>
          <a:custGeom>
            <a:avLst/>
            <a:gdLst/>
            <a:ahLst/>
            <a:cxnLst/>
            <a:rect l="l" t="t" r="r" b="b"/>
            <a:pathLst>
              <a:path w="5652356" h="1084464">
                <a:moveTo>
                  <a:pt x="32863" y="0"/>
                </a:moveTo>
                <a:lnTo>
                  <a:pt x="5586626" y="0"/>
                </a:lnTo>
                <a:cubicBezTo>
                  <a:pt x="5622928" y="0"/>
                  <a:pt x="5652356" y="29428"/>
                  <a:pt x="5652356" y="65729"/>
                </a:cubicBezTo>
                <a:lnTo>
                  <a:pt x="5652356" y="1018734"/>
                </a:lnTo>
                <a:cubicBezTo>
                  <a:pt x="5652356" y="1055036"/>
                  <a:pt x="5622928" y="1084464"/>
                  <a:pt x="5586626" y="1084464"/>
                </a:cubicBezTo>
                <a:lnTo>
                  <a:pt x="32863" y="1084464"/>
                </a:lnTo>
                <a:cubicBezTo>
                  <a:pt x="14713" y="1084464"/>
                  <a:pt x="0" y="1069751"/>
                  <a:pt x="0" y="1051601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2816" y="2398965"/>
            <a:ext cx="32863" cy="1084464"/>
          </a:xfrm>
          <a:custGeom>
            <a:avLst/>
            <a:gdLst/>
            <a:ahLst/>
            <a:cxnLst/>
            <a:rect l="l" t="t" r="r" b="b"/>
            <a:pathLst>
              <a:path w="32863" h="1084464">
                <a:moveTo>
                  <a:pt x="32863" y="0"/>
                </a:moveTo>
                <a:lnTo>
                  <a:pt x="32863" y="0"/>
                </a:lnTo>
                <a:lnTo>
                  <a:pt x="32863" y="1084464"/>
                </a:lnTo>
                <a:lnTo>
                  <a:pt x="32863" y="1084464"/>
                </a:lnTo>
                <a:cubicBezTo>
                  <a:pt x="14713" y="1084464"/>
                  <a:pt x="0" y="1069751"/>
                  <a:pt x="0" y="1051601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7" name="Shape 25"/>
          <p:cNvSpPr/>
          <p:nvPr/>
        </p:nvSpPr>
        <p:spPr>
          <a:xfrm>
            <a:off x="6418207" y="2579709"/>
            <a:ext cx="197175" cy="197175"/>
          </a:xfrm>
          <a:custGeom>
            <a:avLst/>
            <a:gdLst/>
            <a:ahLst/>
            <a:cxnLst/>
            <a:rect l="l" t="t" r="r" b="b"/>
            <a:pathLst>
              <a:path w="197175" h="197175">
                <a:moveTo>
                  <a:pt x="98588" y="197175"/>
                </a:moveTo>
                <a:cubicBezTo>
                  <a:pt x="153000" y="197175"/>
                  <a:pt x="197175" y="153000"/>
                  <a:pt x="197175" y="98588"/>
                </a:cubicBezTo>
                <a:cubicBezTo>
                  <a:pt x="197175" y="44176"/>
                  <a:pt x="153000" y="0"/>
                  <a:pt x="98588" y="0"/>
                </a:cubicBezTo>
                <a:cubicBezTo>
                  <a:pt x="44176" y="0"/>
                  <a:pt x="0" y="44176"/>
                  <a:pt x="0" y="98588"/>
                </a:cubicBezTo>
                <a:cubicBezTo>
                  <a:pt x="0" y="153000"/>
                  <a:pt x="44176" y="197175"/>
                  <a:pt x="98588" y="197175"/>
                </a:cubicBezTo>
                <a:close/>
                <a:moveTo>
                  <a:pt x="64313" y="64313"/>
                </a:moveTo>
                <a:cubicBezTo>
                  <a:pt x="67933" y="60693"/>
                  <a:pt x="73787" y="60693"/>
                  <a:pt x="77368" y="64313"/>
                </a:cubicBezTo>
                <a:lnTo>
                  <a:pt x="98549" y="85494"/>
                </a:lnTo>
                <a:lnTo>
                  <a:pt x="119730" y="64313"/>
                </a:lnTo>
                <a:cubicBezTo>
                  <a:pt x="123350" y="60693"/>
                  <a:pt x="129204" y="60693"/>
                  <a:pt x="132785" y="64313"/>
                </a:cubicBezTo>
                <a:cubicBezTo>
                  <a:pt x="136367" y="67933"/>
                  <a:pt x="136405" y="73787"/>
                  <a:pt x="132785" y="77368"/>
                </a:cubicBezTo>
                <a:lnTo>
                  <a:pt x="111604" y="98549"/>
                </a:lnTo>
                <a:lnTo>
                  <a:pt x="132785" y="119730"/>
                </a:lnTo>
                <a:cubicBezTo>
                  <a:pt x="136405" y="123350"/>
                  <a:pt x="136405" y="129204"/>
                  <a:pt x="132785" y="132785"/>
                </a:cubicBezTo>
                <a:cubicBezTo>
                  <a:pt x="129165" y="136367"/>
                  <a:pt x="123312" y="136405"/>
                  <a:pt x="119730" y="132785"/>
                </a:cubicBezTo>
                <a:lnTo>
                  <a:pt x="98549" y="111604"/>
                </a:lnTo>
                <a:lnTo>
                  <a:pt x="77368" y="132785"/>
                </a:lnTo>
                <a:cubicBezTo>
                  <a:pt x="73748" y="136405"/>
                  <a:pt x="67895" y="136405"/>
                  <a:pt x="64313" y="132785"/>
                </a:cubicBezTo>
                <a:cubicBezTo>
                  <a:pt x="60732" y="129165"/>
                  <a:pt x="60693" y="123312"/>
                  <a:pt x="64313" y="119730"/>
                </a:cubicBezTo>
                <a:lnTo>
                  <a:pt x="85494" y="98549"/>
                </a:lnTo>
                <a:lnTo>
                  <a:pt x="64313" y="77368"/>
                </a:lnTo>
                <a:cubicBezTo>
                  <a:pt x="60693" y="73748"/>
                  <a:pt x="60693" y="67895"/>
                  <a:pt x="64313" y="64313"/>
                </a:cubicBez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28" name="Text 26"/>
          <p:cNvSpPr/>
          <p:nvPr/>
        </p:nvSpPr>
        <p:spPr>
          <a:xfrm>
            <a:off x="6738617" y="2563278"/>
            <a:ext cx="1544539" cy="23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4" b="1" dirty="0">
                <a:solidFill>
                  <a:srgbClr val="C1000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 Context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93560" y="2891903"/>
            <a:ext cx="5373024" cy="42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lacks the </a:t>
            </a:r>
            <a:pPr>
              <a:lnSpc>
                <a:spcPct val="140000"/>
              </a:lnSpc>
            </a:pPr>
            <a:r>
              <a:rPr lang="en-US" sz="1035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disciplinary knowledge</a:t>
            </a:r>
            <a:pPr>
              <a:lnSpc>
                <a:spcPct val="140000"/>
              </a:lnSpc>
            </a:pPr>
            <a:r>
              <a:rPr lang="en-US" sz="103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understand how a study fits within broader scholarly conversations or historical developments.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6385" y="3614879"/>
            <a:ext cx="5668787" cy="1643127"/>
          </a:xfrm>
          <a:custGeom>
            <a:avLst/>
            <a:gdLst/>
            <a:ahLst/>
            <a:cxnLst/>
            <a:rect l="l" t="t" r="r" b="b"/>
            <a:pathLst>
              <a:path w="5668787" h="1643127">
                <a:moveTo>
                  <a:pt x="65725" y="0"/>
                </a:moveTo>
                <a:lnTo>
                  <a:pt x="5603062" y="0"/>
                </a:lnTo>
                <a:cubicBezTo>
                  <a:pt x="5639361" y="0"/>
                  <a:pt x="5668787" y="29426"/>
                  <a:pt x="5668787" y="65725"/>
                </a:cubicBezTo>
                <a:lnTo>
                  <a:pt x="5668787" y="1577402"/>
                </a:lnTo>
                <a:cubicBezTo>
                  <a:pt x="5668787" y="1613701"/>
                  <a:pt x="5639361" y="1643127"/>
                  <a:pt x="5603062" y="1643127"/>
                </a:cubicBezTo>
                <a:lnTo>
                  <a:pt x="65725" y="1643127"/>
                </a:lnTo>
                <a:cubicBezTo>
                  <a:pt x="29426" y="1643127"/>
                  <a:pt x="0" y="1613701"/>
                  <a:pt x="0" y="1577402"/>
                </a:cubicBezTo>
                <a:lnTo>
                  <a:pt x="0" y="65725"/>
                </a:lnTo>
                <a:cubicBezTo>
                  <a:pt x="0" y="29450"/>
                  <a:pt x="29450" y="0"/>
                  <a:pt x="65725" y="0"/>
                </a:cubicBezTo>
                <a:close/>
              </a:path>
            </a:pathLst>
          </a:custGeom>
          <a:solidFill>
            <a:srgbClr val="8B7355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381237" y="3820270"/>
            <a:ext cx="147881" cy="147881"/>
          </a:xfrm>
          <a:custGeom>
            <a:avLst/>
            <a:gdLst/>
            <a:ahLst/>
            <a:cxnLst/>
            <a:rect l="l" t="t" r="r" b="b"/>
            <a:pathLst>
              <a:path w="147881" h="147881">
                <a:moveTo>
                  <a:pt x="73941" y="0"/>
                </a:moveTo>
                <a:cubicBezTo>
                  <a:pt x="78187" y="0"/>
                  <a:pt x="82086" y="2340"/>
                  <a:pt x="84108" y="6065"/>
                </a:cubicBezTo>
                <a:lnTo>
                  <a:pt x="146495" y="121598"/>
                </a:lnTo>
                <a:cubicBezTo>
                  <a:pt x="148430" y="125179"/>
                  <a:pt x="148344" y="129512"/>
                  <a:pt x="146264" y="133007"/>
                </a:cubicBezTo>
                <a:cubicBezTo>
                  <a:pt x="144184" y="136501"/>
                  <a:pt x="140401" y="138639"/>
                  <a:pt x="136328" y="138639"/>
                </a:cubicBezTo>
                <a:lnTo>
                  <a:pt x="11553" y="138639"/>
                </a:lnTo>
                <a:cubicBezTo>
                  <a:pt x="7481" y="138639"/>
                  <a:pt x="3726" y="136501"/>
                  <a:pt x="1617" y="133007"/>
                </a:cubicBezTo>
                <a:cubicBezTo>
                  <a:pt x="-491" y="129512"/>
                  <a:pt x="-549" y="125179"/>
                  <a:pt x="1386" y="121598"/>
                </a:cubicBezTo>
                <a:lnTo>
                  <a:pt x="63774" y="6065"/>
                </a:lnTo>
                <a:cubicBezTo>
                  <a:pt x="65796" y="2340"/>
                  <a:pt x="69695" y="0"/>
                  <a:pt x="73941" y="0"/>
                </a:cubicBezTo>
                <a:close/>
                <a:moveTo>
                  <a:pt x="73941" y="48524"/>
                </a:moveTo>
                <a:cubicBezTo>
                  <a:pt x="70099" y="48524"/>
                  <a:pt x="67009" y="51614"/>
                  <a:pt x="67009" y="55456"/>
                </a:cubicBezTo>
                <a:lnTo>
                  <a:pt x="67009" y="87805"/>
                </a:lnTo>
                <a:cubicBezTo>
                  <a:pt x="67009" y="91646"/>
                  <a:pt x="70099" y="94737"/>
                  <a:pt x="73941" y="94737"/>
                </a:cubicBezTo>
                <a:cubicBezTo>
                  <a:pt x="77782" y="94737"/>
                  <a:pt x="80873" y="91646"/>
                  <a:pt x="80873" y="87805"/>
                </a:cubicBezTo>
                <a:lnTo>
                  <a:pt x="80873" y="55456"/>
                </a:lnTo>
                <a:cubicBezTo>
                  <a:pt x="80873" y="51614"/>
                  <a:pt x="77782" y="48524"/>
                  <a:pt x="73941" y="48524"/>
                </a:cubicBezTo>
                <a:close/>
                <a:moveTo>
                  <a:pt x="81652" y="110911"/>
                </a:moveTo>
                <a:cubicBezTo>
                  <a:pt x="81828" y="108049"/>
                  <a:pt x="80400" y="105325"/>
                  <a:pt x="77946" y="103841"/>
                </a:cubicBezTo>
                <a:cubicBezTo>
                  <a:pt x="75493" y="102356"/>
                  <a:pt x="72418" y="102356"/>
                  <a:pt x="69964" y="103841"/>
                </a:cubicBezTo>
                <a:cubicBezTo>
                  <a:pt x="67510" y="105325"/>
                  <a:pt x="66082" y="108049"/>
                  <a:pt x="66258" y="110911"/>
                </a:cubicBezTo>
                <a:cubicBezTo>
                  <a:pt x="66082" y="113774"/>
                  <a:pt x="67510" y="116497"/>
                  <a:pt x="69964" y="117981"/>
                </a:cubicBezTo>
                <a:cubicBezTo>
                  <a:pt x="72418" y="119466"/>
                  <a:pt x="75493" y="119466"/>
                  <a:pt x="77946" y="117981"/>
                </a:cubicBezTo>
                <a:cubicBezTo>
                  <a:pt x="80400" y="116497"/>
                  <a:pt x="81828" y="113774"/>
                  <a:pt x="81652" y="110911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32" name="Text 30"/>
          <p:cNvSpPr/>
          <p:nvPr/>
        </p:nvSpPr>
        <p:spPr>
          <a:xfrm>
            <a:off x="6592175" y="3779191"/>
            <a:ext cx="5182625" cy="23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4" b="1" dirty="0">
                <a:solidFill>
                  <a:srgbClr val="8B73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Warning Signs of Over-Reliance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85344" y="4140679"/>
            <a:ext cx="115019" cy="131450"/>
          </a:xfrm>
          <a:custGeom>
            <a:avLst/>
            <a:gdLst/>
            <a:ahLst/>
            <a:cxnLst/>
            <a:rect l="l" t="t" r="r" b="b"/>
            <a:pathLst>
              <a:path w="115019" h="131450">
                <a:moveTo>
                  <a:pt x="16431" y="8216"/>
                </a:moveTo>
                <a:cubicBezTo>
                  <a:pt x="16431" y="3671"/>
                  <a:pt x="12760" y="0"/>
                  <a:pt x="8216" y="0"/>
                </a:cubicBezTo>
                <a:cubicBezTo>
                  <a:pt x="3671" y="0"/>
                  <a:pt x="0" y="3671"/>
                  <a:pt x="0" y="8216"/>
                </a:cubicBezTo>
                <a:lnTo>
                  <a:pt x="0" y="123235"/>
                </a:lnTo>
                <a:cubicBezTo>
                  <a:pt x="0" y="127779"/>
                  <a:pt x="3671" y="131450"/>
                  <a:pt x="8216" y="131450"/>
                </a:cubicBezTo>
                <a:cubicBezTo>
                  <a:pt x="12760" y="131450"/>
                  <a:pt x="16431" y="127779"/>
                  <a:pt x="16431" y="123235"/>
                </a:cubicBezTo>
                <a:lnTo>
                  <a:pt x="16431" y="92015"/>
                </a:lnTo>
                <a:lnTo>
                  <a:pt x="32529" y="87188"/>
                </a:lnTo>
                <a:cubicBezTo>
                  <a:pt x="43286" y="83954"/>
                  <a:pt x="54891" y="84955"/>
                  <a:pt x="64929" y="89987"/>
                </a:cubicBezTo>
                <a:cubicBezTo>
                  <a:pt x="75892" y="95481"/>
                  <a:pt x="88677" y="96149"/>
                  <a:pt x="100154" y="91835"/>
                </a:cubicBezTo>
                <a:lnTo>
                  <a:pt x="109679" y="88267"/>
                </a:lnTo>
                <a:cubicBezTo>
                  <a:pt x="112888" y="87060"/>
                  <a:pt x="115019" y="84005"/>
                  <a:pt x="115019" y="80565"/>
                </a:cubicBezTo>
                <a:lnTo>
                  <a:pt x="115019" y="16970"/>
                </a:lnTo>
                <a:cubicBezTo>
                  <a:pt x="115019" y="11065"/>
                  <a:pt x="108806" y="7214"/>
                  <a:pt x="103517" y="9859"/>
                </a:cubicBezTo>
                <a:lnTo>
                  <a:pt x="100487" y="11374"/>
                </a:lnTo>
                <a:cubicBezTo>
                  <a:pt x="88960" y="17150"/>
                  <a:pt x="75378" y="17150"/>
                  <a:pt x="63825" y="11374"/>
                </a:cubicBezTo>
                <a:cubicBezTo>
                  <a:pt x="54480" y="6701"/>
                  <a:pt x="43723" y="5777"/>
                  <a:pt x="33735" y="8780"/>
                </a:cubicBezTo>
                <a:lnTo>
                  <a:pt x="16431" y="13967"/>
                </a:lnTo>
                <a:lnTo>
                  <a:pt x="16431" y="8216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34" name="Text 32"/>
          <p:cNvSpPr/>
          <p:nvPr/>
        </p:nvSpPr>
        <p:spPr>
          <a:xfrm>
            <a:off x="6590735" y="4107817"/>
            <a:ext cx="2366102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can't explain a paper's methodology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85344" y="4403580"/>
            <a:ext cx="115019" cy="131450"/>
          </a:xfrm>
          <a:custGeom>
            <a:avLst/>
            <a:gdLst/>
            <a:ahLst/>
            <a:cxnLst/>
            <a:rect l="l" t="t" r="r" b="b"/>
            <a:pathLst>
              <a:path w="115019" h="131450">
                <a:moveTo>
                  <a:pt x="16431" y="8216"/>
                </a:moveTo>
                <a:cubicBezTo>
                  <a:pt x="16431" y="3671"/>
                  <a:pt x="12760" y="0"/>
                  <a:pt x="8216" y="0"/>
                </a:cubicBezTo>
                <a:cubicBezTo>
                  <a:pt x="3671" y="0"/>
                  <a:pt x="0" y="3671"/>
                  <a:pt x="0" y="8216"/>
                </a:cubicBezTo>
                <a:lnTo>
                  <a:pt x="0" y="123235"/>
                </a:lnTo>
                <a:cubicBezTo>
                  <a:pt x="0" y="127779"/>
                  <a:pt x="3671" y="131450"/>
                  <a:pt x="8216" y="131450"/>
                </a:cubicBezTo>
                <a:cubicBezTo>
                  <a:pt x="12760" y="131450"/>
                  <a:pt x="16431" y="127779"/>
                  <a:pt x="16431" y="123235"/>
                </a:cubicBezTo>
                <a:lnTo>
                  <a:pt x="16431" y="92015"/>
                </a:lnTo>
                <a:lnTo>
                  <a:pt x="32529" y="87188"/>
                </a:lnTo>
                <a:cubicBezTo>
                  <a:pt x="43286" y="83954"/>
                  <a:pt x="54891" y="84955"/>
                  <a:pt x="64929" y="89987"/>
                </a:cubicBezTo>
                <a:cubicBezTo>
                  <a:pt x="75892" y="95481"/>
                  <a:pt x="88677" y="96149"/>
                  <a:pt x="100154" y="91835"/>
                </a:cubicBezTo>
                <a:lnTo>
                  <a:pt x="109679" y="88267"/>
                </a:lnTo>
                <a:cubicBezTo>
                  <a:pt x="112888" y="87060"/>
                  <a:pt x="115019" y="84005"/>
                  <a:pt x="115019" y="80565"/>
                </a:cubicBezTo>
                <a:lnTo>
                  <a:pt x="115019" y="16970"/>
                </a:lnTo>
                <a:cubicBezTo>
                  <a:pt x="115019" y="11065"/>
                  <a:pt x="108806" y="7214"/>
                  <a:pt x="103517" y="9859"/>
                </a:cubicBezTo>
                <a:lnTo>
                  <a:pt x="100487" y="11374"/>
                </a:lnTo>
                <a:cubicBezTo>
                  <a:pt x="88960" y="17150"/>
                  <a:pt x="75378" y="17150"/>
                  <a:pt x="63825" y="11374"/>
                </a:cubicBezTo>
                <a:cubicBezTo>
                  <a:pt x="54480" y="6701"/>
                  <a:pt x="43723" y="5777"/>
                  <a:pt x="33735" y="8780"/>
                </a:cubicBezTo>
                <a:lnTo>
                  <a:pt x="16431" y="13967"/>
                </a:lnTo>
                <a:lnTo>
                  <a:pt x="16431" y="8216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36" name="Text 34"/>
          <p:cNvSpPr/>
          <p:nvPr/>
        </p:nvSpPr>
        <p:spPr>
          <a:xfrm>
            <a:off x="6590735" y="4370717"/>
            <a:ext cx="2094987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review lacks critical evaluation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85344" y="4666480"/>
            <a:ext cx="115019" cy="131450"/>
          </a:xfrm>
          <a:custGeom>
            <a:avLst/>
            <a:gdLst/>
            <a:ahLst/>
            <a:cxnLst/>
            <a:rect l="l" t="t" r="r" b="b"/>
            <a:pathLst>
              <a:path w="115019" h="131450">
                <a:moveTo>
                  <a:pt x="16431" y="8216"/>
                </a:moveTo>
                <a:cubicBezTo>
                  <a:pt x="16431" y="3671"/>
                  <a:pt x="12760" y="0"/>
                  <a:pt x="8216" y="0"/>
                </a:cubicBezTo>
                <a:cubicBezTo>
                  <a:pt x="3671" y="0"/>
                  <a:pt x="0" y="3671"/>
                  <a:pt x="0" y="8216"/>
                </a:cubicBezTo>
                <a:lnTo>
                  <a:pt x="0" y="123235"/>
                </a:lnTo>
                <a:cubicBezTo>
                  <a:pt x="0" y="127779"/>
                  <a:pt x="3671" y="131450"/>
                  <a:pt x="8216" y="131450"/>
                </a:cubicBezTo>
                <a:cubicBezTo>
                  <a:pt x="12760" y="131450"/>
                  <a:pt x="16431" y="127779"/>
                  <a:pt x="16431" y="123235"/>
                </a:cubicBezTo>
                <a:lnTo>
                  <a:pt x="16431" y="92015"/>
                </a:lnTo>
                <a:lnTo>
                  <a:pt x="32529" y="87188"/>
                </a:lnTo>
                <a:cubicBezTo>
                  <a:pt x="43286" y="83954"/>
                  <a:pt x="54891" y="84955"/>
                  <a:pt x="64929" y="89987"/>
                </a:cubicBezTo>
                <a:cubicBezTo>
                  <a:pt x="75892" y="95481"/>
                  <a:pt x="88677" y="96149"/>
                  <a:pt x="100154" y="91835"/>
                </a:cubicBezTo>
                <a:lnTo>
                  <a:pt x="109679" y="88267"/>
                </a:lnTo>
                <a:cubicBezTo>
                  <a:pt x="112888" y="87060"/>
                  <a:pt x="115019" y="84005"/>
                  <a:pt x="115019" y="80565"/>
                </a:cubicBezTo>
                <a:lnTo>
                  <a:pt x="115019" y="16970"/>
                </a:lnTo>
                <a:cubicBezTo>
                  <a:pt x="115019" y="11065"/>
                  <a:pt x="108806" y="7214"/>
                  <a:pt x="103517" y="9859"/>
                </a:cubicBezTo>
                <a:lnTo>
                  <a:pt x="100487" y="11374"/>
                </a:lnTo>
                <a:cubicBezTo>
                  <a:pt x="88960" y="17150"/>
                  <a:pt x="75378" y="17150"/>
                  <a:pt x="63825" y="11374"/>
                </a:cubicBezTo>
                <a:cubicBezTo>
                  <a:pt x="54480" y="6701"/>
                  <a:pt x="43723" y="5777"/>
                  <a:pt x="33735" y="8780"/>
                </a:cubicBezTo>
                <a:lnTo>
                  <a:pt x="16431" y="13967"/>
                </a:lnTo>
                <a:lnTo>
                  <a:pt x="16431" y="8216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38" name="Text 36"/>
          <p:cNvSpPr/>
          <p:nvPr/>
        </p:nvSpPr>
        <p:spPr>
          <a:xfrm>
            <a:off x="6590735" y="4633617"/>
            <a:ext cx="2522199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haven't read the full text of cited works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85344" y="4929380"/>
            <a:ext cx="115019" cy="131450"/>
          </a:xfrm>
          <a:custGeom>
            <a:avLst/>
            <a:gdLst/>
            <a:ahLst/>
            <a:cxnLst/>
            <a:rect l="l" t="t" r="r" b="b"/>
            <a:pathLst>
              <a:path w="115019" h="131450">
                <a:moveTo>
                  <a:pt x="16431" y="8216"/>
                </a:moveTo>
                <a:cubicBezTo>
                  <a:pt x="16431" y="3671"/>
                  <a:pt x="12760" y="0"/>
                  <a:pt x="8216" y="0"/>
                </a:cubicBezTo>
                <a:cubicBezTo>
                  <a:pt x="3671" y="0"/>
                  <a:pt x="0" y="3671"/>
                  <a:pt x="0" y="8216"/>
                </a:cubicBezTo>
                <a:lnTo>
                  <a:pt x="0" y="123235"/>
                </a:lnTo>
                <a:cubicBezTo>
                  <a:pt x="0" y="127779"/>
                  <a:pt x="3671" y="131450"/>
                  <a:pt x="8216" y="131450"/>
                </a:cubicBezTo>
                <a:cubicBezTo>
                  <a:pt x="12760" y="131450"/>
                  <a:pt x="16431" y="127779"/>
                  <a:pt x="16431" y="123235"/>
                </a:cubicBezTo>
                <a:lnTo>
                  <a:pt x="16431" y="92015"/>
                </a:lnTo>
                <a:lnTo>
                  <a:pt x="32529" y="87188"/>
                </a:lnTo>
                <a:cubicBezTo>
                  <a:pt x="43286" y="83954"/>
                  <a:pt x="54891" y="84955"/>
                  <a:pt x="64929" y="89987"/>
                </a:cubicBezTo>
                <a:cubicBezTo>
                  <a:pt x="75892" y="95481"/>
                  <a:pt x="88677" y="96149"/>
                  <a:pt x="100154" y="91835"/>
                </a:cubicBezTo>
                <a:lnTo>
                  <a:pt x="109679" y="88267"/>
                </a:lnTo>
                <a:cubicBezTo>
                  <a:pt x="112888" y="87060"/>
                  <a:pt x="115019" y="84005"/>
                  <a:pt x="115019" y="80565"/>
                </a:cubicBezTo>
                <a:lnTo>
                  <a:pt x="115019" y="16970"/>
                </a:lnTo>
                <a:cubicBezTo>
                  <a:pt x="115019" y="11065"/>
                  <a:pt x="108806" y="7214"/>
                  <a:pt x="103517" y="9859"/>
                </a:cubicBezTo>
                <a:lnTo>
                  <a:pt x="100487" y="11374"/>
                </a:lnTo>
                <a:cubicBezTo>
                  <a:pt x="88960" y="17150"/>
                  <a:pt x="75378" y="17150"/>
                  <a:pt x="63825" y="11374"/>
                </a:cubicBezTo>
                <a:cubicBezTo>
                  <a:pt x="54480" y="6701"/>
                  <a:pt x="43723" y="5777"/>
                  <a:pt x="33735" y="8780"/>
                </a:cubicBezTo>
                <a:lnTo>
                  <a:pt x="16431" y="13967"/>
                </a:lnTo>
                <a:lnTo>
                  <a:pt x="16431" y="8216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40" name="Text 38"/>
          <p:cNvSpPr/>
          <p:nvPr/>
        </p:nvSpPr>
        <p:spPr>
          <a:xfrm>
            <a:off x="6590735" y="4896518"/>
            <a:ext cx="2563278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synthesis feels generic or surface-level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28625" y="5389456"/>
            <a:ext cx="11534749" cy="1051601"/>
          </a:xfrm>
          <a:custGeom>
            <a:avLst/>
            <a:gdLst/>
            <a:ahLst/>
            <a:cxnLst/>
            <a:rect l="l" t="t" r="r" b="b"/>
            <a:pathLst>
              <a:path w="11534749" h="1051601">
                <a:moveTo>
                  <a:pt x="65725" y="0"/>
                </a:moveTo>
                <a:lnTo>
                  <a:pt x="11469024" y="0"/>
                </a:lnTo>
                <a:cubicBezTo>
                  <a:pt x="11505323" y="0"/>
                  <a:pt x="11534749" y="29426"/>
                  <a:pt x="11534749" y="65725"/>
                </a:cubicBezTo>
                <a:lnTo>
                  <a:pt x="11534749" y="985876"/>
                </a:lnTo>
                <a:cubicBezTo>
                  <a:pt x="11534749" y="1022175"/>
                  <a:pt x="11505323" y="1051601"/>
                  <a:pt x="11469024" y="1051601"/>
                </a:cubicBezTo>
                <a:lnTo>
                  <a:pt x="65725" y="1051601"/>
                </a:lnTo>
                <a:cubicBezTo>
                  <a:pt x="29426" y="1051601"/>
                  <a:pt x="0" y="1022175"/>
                  <a:pt x="0" y="985876"/>
                </a:cubicBezTo>
                <a:lnTo>
                  <a:pt x="0" y="65725"/>
                </a:lnTo>
                <a:cubicBezTo>
                  <a:pt x="0" y="29450"/>
                  <a:pt x="29450" y="0"/>
                  <a:pt x="65725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42" name="Shape 40"/>
          <p:cNvSpPr/>
          <p:nvPr/>
        </p:nvSpPr>
        <p:spPr>
          <a:xfrm>
            <a:off x="517585" y="5586631"/>
            <a:ext cx="197175" cy="197175"/>
          </a:xfrm>
          <a:custGeom>
            <a:avLst/>
            <a:gdLst/>
            <a:ahLst/>
            <a:cxnLst/>
            <a:rect l="l" t="t" r="r" b="b"/>
            <a:pathLst>
              <a:path w="197175" h="197175">
                <a:moveTo>
                  <a:pt x="98588" y="0"/>
                </a:moveTo>
                <a:cubicBezTo>
                  <a:pt x="100359" y="0"/>
                  <a:pt x="102131" y="385"/>
                  <a:pt x="103748" y="1117"/>
                </a:cubicBezTo>
                <a:lnTo>
                  <a:pt x="176302" y="31887"/>
                </a:lnTo>
                <a:cubicBezTo>
                  <a:pt x="184775" y="35468"/>
                  <a:pt x="191090" y="43825"/>
                  <a:pt x="191052" y="53915"/>
                </a:cubicBezTo>
                <a:cubicBezTo>
                  <a:pt x="190859" y="92118"/>
                  <a:pt x="175147" y="162015"/>
                  <a:pt x="108793" y="193786"/>
                </a:cubicBezTo>
                <a:cubicBezTo>
                  <a:pt x="102362" y="196867"/>
                  <a:pt x="94891" y="196867"/>
                  <a:pt x="88459" y="193786"/>
                </a:cubicBezTo>
                <a:cubicBezTo>
                  <a:pt x="22067" y="162015"/>
                  <a:pt x="6393" y="92118"/>
                  <a:pt x="6200" y="53915"/>
                </a:cubicBezTo>
                <a:cubicBezTo>
                  <a:pt x="6162" y="43825"/>
                  <a:pt x="12477" y="35468"/>
                  <a:pt x="20950" y="31887"/>
                </a:cubicBezTo>
                <a:lnTo>
                  <a:pt x="93466" y="1117"/>
                </a:lnTo>
                <a:cubicBezTo>
                  <a:pt x="95083" y="385"/>
                  <a:pt x="96816" y="0"/>
                  <a:pt x="98588" y="0"/>
                </a:cubicBezTo>
                <a:close/>
                <a:moveTo>
                  <a:pt x="98588" y="25725"/>
                </a:moveTo>
                <a:lnTo>
                  <a:pt x="98588" y="171334"/>
                </a:lnTo>
                <a:cubicBezTo>
                  <a:pt x="151732" y="145609"/>
                  <a:pt x="166020" y="88613"/>
                  <a:pt x="166367" y="54493"/>
                </a:cubicBezTo>
                <a:lnTo>
                  <a:pt x="98588" y="25764"/>
                </a:lnTo>
                <a:lnTo>
                  <a:pt x="98588" y="25764"/>
                </a:lnTo>
                <a:close/>
              </a:path>
            </a:pathLst>
          </a:custGeom>
          <a:solidFill>
            <a:srgbClr val="FAF8F3"/>
          </a:solidFill>
          <a:ln/>
        </p:spPr>
      </p:sp>
      <p:sp>
        <p:nvSpPr>
          <p:cNvPr id="43" name="Text 41"/>
          <p:cNvSpPr/>
          <p:nvPr/>
        </p:nvSpPr>
        <p:spPr>
          <a:xfrm>
            <a:off x="834721" y="5553768"/>
            <a:ext cx="10943224" cy="23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4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Bottom Line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4721" y="5849531"/>
            <a:ext cx="10935008" cy="42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5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reading and synthesis </a:t>
            </a:r>
            <a:pPr>
              <a:lnSpc>
                <a:spcPct val="140000"/>
              </a:lnSpc>
            </a:pPr>
            <a:r>
              <a:rPr lang="en-US" sz="1035" b="1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must remain human-led</a:t>
            </a:r>
            <a:pPr>
              <a:lnSpc>
                <a:spcPct val="140000"/>
              </a:lnSpc>
            </a:pPr>
            <a:r>
              <a:rPr lang="en-US" sz="1035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AI can assist with discovery and organization, but the intellectual work of understanding, evaluating, and connecting research is yours to do.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32733" y="6576615"/>
            <a:ext cx="1659558" cy="279332"/>
          </a:xfrm>
          <a:custGeom>
            <a:avLst/>
            <a:gdLst/>
            <a:ahLst/>
            <a:cxnLst/>
            <a:rect l="l" t="t" r="r" b="b"/>
            <a:pathLst>
              <a:path w="1659558" h="279332">
                <a:moveTo>
                  <a:pt x="0" y="0"/>
                </a:moveTo>
                <a:lnTo>
                  <a:pt x="1659558" y="0"/>
                </a:lnTo>
                <a:lnTo>
                  <a:pt x="1659558" y="279332"/>
                </a:lnTo>
                <a:lnTo>
                  <a:pt x="0" y="279332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90196"/>
            </a:srgbClr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8625" y="6572507"/>
            <a:ext cx="1700636" cy="271116"/>
          </a:xfrm>
          <a:prstGeom prst="rect">
            <a:avLst/>
          </a:prstGeom>
          <a:noFill/>
          <a:ln/>
        </p:spPr>
        <p:txBody>
          <a:bodyPr wrap="square" lIns="98588" tIns="65725" rIns="98588" bIns="65725" rtlCol="0" anchor="ctr"/>
          <a:lstStyle/>
          <a:p>
            <a:pPr>
              <a:lnSpc>
                <a:spcPct val="120000"/>
              </a:lnSpc>
            </a:pPr>
            <a:r>
              <a:rPr lang="en-US" sz="776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Limitations • AI Boundaries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240017" y="6634702"/>
            <a:ext cx="1684205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expertise is irreplaceable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spc="88" kern="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Finding &amp; Verifying Sources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5250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" name="Shape 3"/>
          <p:cNvSpPr/>
          <p:nvPr/>
        </p:nvSpPr>
        <p:spPr>
          <a:xfrm>
            <a:off x="321469" y="1146969"/>
            <a:ext cx="5675313" cy="4738688"/>
          </a:xfrm>
          <a:custGeom>
            <a:avLst/>
            <a:gdLst/>
            <a:ahLst/>
            <a:cxnLst/>
            <a:rect l="l" t="t" r="r" b="b"/>
            <a:pathLst>
              <a:path w="5675313" h="4738688">
                <a:moveTo>
                  <a:pt x="63498" y="0"/>
                </a:moveTo>
                <a:lnTo>
                  <a:pt x="5611814" y="0"/>
                </a:lnTo>
                <a:cubicBezTo>
                  <a:pt x="5646883" y="0"/>
                  <a:pt x="5675313" y="28429"/>
                  <a:pt x="5675313" y="63498"/>
                </a:cubicBezTo>
                <a:lnTo>
                  <a:pt x="5675313" y="4675189"/>
                </a:lnTo>
                <a:cubicBezTo>
                  <a:pt x="5675312" y="4710258"/>
                  <a:pt x="5646883" y="4738688"/>
                  <a:pt x="5611814" y="4738688"/>
                </a:cubicBezTo>
                <a:lnTo>
                  <a:pt x="63498" y="4738688"/>
                </a:lnTo>
                <a:cubicBezTo>
                  <a:pt x="28429" y="4738688"/>
                  <a:pt x="0" y="4710258"/>
                  <a:pt x="0" y="4675189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4031" y="1337469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28984" y="64492"/>
                </a:moveTo>
                <a:cubicBezTo>
                  <a:pt x="128984" y="78724"/>
                  <a:pt x="124365" y="91870"/>
                  <a:pt x="116582" y="102536"/>
                </a:cubicBezTo>
                <a:lnTo>
                  <a:pt x="155835" y="141821"/>
                </a:lnTo>
                <a:cubicBezTo>
                  <a:pt x="159711" y="145697"/>
                  <a:pt x="159711" y="151991"/>
                  <a:pt x="155835" y="155866"/>
                </a:cubicBezTo>
                <a:cubicBezTo>
                  <a:pt x="151960" y="159742"/>
                  <a:pt x="145666" y="159742"/>
                  <a:pt x="141790" y="155866"/>
                </a:cubicBezTo>
                <a:lnTo>
                  <a:pt x="102536" y="116582"/>
                </a:lnTo>
                <a:cubicBezTo>
                  <a:pt x="91870" y="124365"/>
                  <a:pt x="78724" y="128984"/>
                  <a:pt x="64492" y="128984"/>
                </a:cubicBezTo>
                <a:cubicBezTo>
                  <a:pt x="28866" y="128984"/>
                  <a:pt x="0" y="100118"/>
                  <a:pt x="0" y="64492"/>
                </a:cubicBezTo>
                <a:cubicBezTo>
                  <a:pt x="0" y="28866"/>
                  <a:pt x="28866" y="0"/>
                  <a:pt x="64492" y="0"/>
                </a:cubicBezTo>
                <a:cubicBezTo>
                  <a:pt x="100118" y="0"/>
                  <a:pt x="128984" y="28866"/>
                  <a:pt x="128984" y="64492"/>
                </a:cubicBezTo>
                <a:close/>
                <a:moveTo>
                  <a:pt x="64492" y="109141"/>
                </a:moveTo>
                <a:cubicBezTo>
                  <a:pt x="89134" y="109141"/>
                  <a:pt x="109141" y="89134"/>
                  <a:pt x="109141" y="64492"/>
                </a:cubicBezTo>
                <a:cubicBezTo>
                  <a:pt x="109141" y="39850"/>
                  <a:pt x="89134" y="19844"/>
                  <a:pt x="64492" y="19844"/>
                </a:cubicBezTo>
                <a:cubicBezTo>
                  <a:pt x="39850" y="19844"/>
                  <a:pt x="19844" y="39850"/>
                  <a:pt x="19844" y="64492"/>
                </a:cubicBezTo>
                <a:cubicBezTo>
                  <a:pt x="19844" y="89134"/>
                  <a:pt x="39850" y="109141"/>
                  <a:pt x="64492" y="109141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7" name="Text 5"/>
          <p:cNvSpPr/>
          <p:nvPr/>
        </p:nvSpPr>
        <p:spPr>
          <a:xfrm>
            <a:off x="722313" y="1309688"/>
            <a:ext cx="5191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AI to Discover Sources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187" y="1658938"/>
            <a:ext cx="5349875" cy="920750"/>
          </a:xfrm>
          <a:custGeom>
            <a:avLst/>
            <a:gdLst/>
            <a:ahLst/>
            <a:cxnLst/>
            <a:rect l="l" t="t" r="r" b="b"/>
            <a:pathLst>
              <a:path w="5349875" h="920750">
                <a:moveTo>
                  <a:pt x="63504" y="0"/>
                </a:moveTo>
                <a:lnTo>
                  <a:pt x="5286371" y="0"/>
                </a:lnTo>
                <a:cubicBezTo>
                  <a:pt x="5321443" y="0"/>
                  <a:pt x="5349875" y="28432"/>
                  <a:pt x="5349875" y="63504"/>
                </a:cubicBezTo>
                <a:lnTo>
                  <a:pt x="5349875" y="857246"/>
                </a:lnTo>
                <a:cubicBezTo>
                  <a:pt x="5349875" y="892318"/>
                  <a:pt x="5321443" y="920750"/>
                  <a:pt x="5286371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2D5A3D">
              <a:alpha val="5098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11188" y="1785938"/>
            <a:ext cx="515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1: AI Suggests Papers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1188" y="2039938"/>
            <a:ext cx="5159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tools like Consensus or Semantic Scholar to get initial recommendations based on your research question.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187" y="2706688"/>
            <a:ext cx="5349875" cy="920750"/>
          </a:xfrm>
          <a:custGeom>
            <a:avLst/>
            <a:gdLst/>
            <a:ahLst/>
            <a:cxnLst/>
            <a:rect l="l" t="t" r="r" b="b"/>
            <a:pathLst>
              <a:path w="5349875" h="920750">
                <a:moveTo>
                  <a:pt x="63504" y="0"/>
                </a:moveTo>
                <a:lnTo>
                  <a:pt x="5286371" y="0"/>
                </a:lnTo>
                <a:cubicBezTo>
                  <a:pt x="5321443" y="0"/>
                  <a:pt x="5349875" y="28432"/>
                  <a:pt x="5349875" y="63504"/>
                </a:cubicBezTo>
                <a:lnTo>
                  <a:pt x="5349875" y="857246"/>
                </a:lnTo>
                <a:cubicBezTo>
                  <a:pt x="5349875" y="892318"/>
                  <a:pt x="5321443" y="920750"/>
                  <a:pt x="5286371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7D9A78">
              <a:alpha val="5098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11188" y="2833688"/>
            <a:ext cx="515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2: Verify Through Databases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1188" y="3087688"/>
            <a:ext cx="5159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verify AI suggestions through peer-reviewed databases: Google Scholar, PubMed, JSTOR, IEEE Xplore.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4187" y="3754438"/>
            <a:ext cx="5349875" cy="920750"/>
          </a:xfrm>
          <a:custGeom>
            <a:avLst/>
            <a:gdLst/>
            <a:ahLst/>
            <a:cxnLst/>
            <a:rect l="l" t="t" r="r" b="b"/>
            <a:pathLst>
              <a:path w="5349875" h="920750">
                <a:moveTo>
                  <a:pt x="63504" y="0"/>
                </a:moveTo>
                <a:lnTo>
                  <a:pt x="5286371" y="0"/>
                </a:lnTo>
                <a:cubicBezTo>
                  <a:pt x="5321443" y="0"/>
                  <a:pt x="5349875" y="28432"/>
                  <a:pt x="5349875" y="63504"/>
                </a:cubicBezTo>
                <a:lnTo>
                  <a:pt x="5349875" y="857246"/>
                </a:lnTo>
                <a:cubicBezTo>
                  <a:pt x="5349875" y="892318"/>
                  <a:pt x="5321443" y="920750"/>
                  <a:pt x="5286371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8B7355">
              <a:alpha val="5098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11188" y="3881438"/>
            <a:ext cx="515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3: Check Citations Are Real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1188" y="4135438"/>
            <a:ext cx="5159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 that cited papers actually exist and are relevant to your topic. AI can hallucinate references!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187" y="4802188"/>
            <a:ext cx="5349875" cy="920750"/>
          </a:xfrm>
          <a:custGeom>
            <a:avLst/>
            <a:gdLst/>
            <a:ahLst/>
            <a:cxnLst/>
            <a:rect l="l" t="t" r="r" b="b"/>
            <a:pathLst>
              <a:path w="5349875" h="920750">
                <a:moveTo>
                  <a:pt x="63504" y="0"/>
                </a:moveTo>
                <a:lnTo>
                  <a:pt x="5286371" y="0"/>
                </a:lnTo>
                <a:cubicBezTo>
                  <a:pt x="5321443" y="0"/>
                  <a:pt x="5349875" y="28432"/>
                  <a:pt x="5349875" y="63504"/>
                </a:cubicBezTo>
                <a:lnTo>
                  <a:pt x="5349875" y="857246"/>
                </a:lnTo>
                <a:cubicBezTo>
                  <a:pt x="5349875" y="892318"/>
                  <a:pt x="5321443" y="920750"/>
                  <a:pt x="5286371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2D5A3D">
              <a:alpha val="5098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11188" y="4929188"/>
            <a:ext cx="515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4: Read Full Texts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1188" y="5183188"/>
            <a:ext cx="5159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Don't rely on AI summaries. Read the complete papers to understand methodology, findings, and limitations.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5219" y="1146969"/>
            <a:ext cx="5675313" cy="3754438"/>
          </a:xfrm>
          <a:custGeom>
            <a:avLst/>
            <a:gdLst/>
            <a:ahLst/>
            <a:cxnLst/>
            <a:rect l="l" t="t" r="r" b="b"/>
            <a:pathLst>
              <a:path w="5675313" h="3754438">
                <a:moveTo>
                  <a:pt x="63488" y="0"/>
                </a:moveTo>
                <a:lnTo>
                  <a:pt x="5611825" y="0"/>
                </a:lnTo>
                <a:cubicBezTo>
                  <a:pt x="5646888" y="0"/>
                  <a:pt x="5675313" y="28424"/>
                  <a:pt x="5675313" y="63488"/>
                </a:cubicBezTo>
                <a:lnTo>
                  <a:pt x="5675313" y="3690950"/>
                </a:lnTo>
                <a:cubicBezTo>
                  <a:pt x="5675313" y="3726013"/>
                  <a:pt x="5646888" y="3754438"/>
                  <a:pt x="5611825" y="3754438"/>
                </a:cubicBezTo>
                <a:lnTo>
                  <a:pt x="63488" y="3754438"/>
                </a:lnTo>
                <a:cubicBezTo>
                  <a:pt x="28424" y="3754438"/>
                  <a:pt x="0" y="3726013"/>
                  <a:pt x="0" y="3690950"/>
                </a:cubicBezTo>
                <a:lnTo>
                  <a:pt x="0" y="63488"/>
                </a:lnTo>
                <a:cubicBezTo>
                  <a:pt x="0" y="28448"/>
                  <a:pt x="28448" y="0"/>
                  <a:pt x="63488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97625" y="1337469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6552" y="9922"/>
                </a:moveTo>
                <a:lnTo>
                  <a:pt x="99219" y="9922"/>
                </a:lnTo>
                <a:cubicBezTo>
                  <a:pt x="110164" y="9922"/>
                  <a:pt x="119062" y="18821"/>
                  <a:pt x="119062" y="29766"/>
                </a:cubicBezTo>
                <a:lnTo>
                  <a:pt x="119062" y="138906"/>
                </a:lnTo>
                <a:cubicBezTo>
                  <a:pt x="119062" y="149851"/>
                  <a:pt x="110164" y="158750"/>
                  <a:pt x="99219" y="158750"/>
                </a:cubicBezTo>
                <a:lnTo>
                  <a:pt x="19844" y="158750"/>
                </a:lnTo>
                <a:cubicBezTo>
                  <a:pt x="8899" y="158750"/>
                  <a:pt x="0" y="149851"/>
                  <a:pt x="0" y="138906"/>
                </a:cubicBezTo>
                <a:lnTo>
                  <a:pt x="0" y="29766"/>
                </a:lnTo>
                <a:cubicBezTo>
                  <a:pt x="0" y="18821"/>
                  <a:pt x="8899" y="9922"/>
                  <a:pt x="19844" y="9922"/>
                </a:cubicBezTo>
                <a:lnTo>
                  <a:pt x="22510" y="9922"/>
                </a:lnTo>
                <a:cubicBezTo>
                  <a:pt x="25921" y="4000"/>
                  <a:pt x="32339" y="0"/>
                  <a:pt x="39688" y="0"/>
                </a:cubicBezTo>
                <a:lnTo>
                  <a:pt x="79375" y="0"/>
                </a:lnTo>
                <a:cubicBezTo>
                  <a:pt x="86723" y="0"/>
                  <a:pt x="93142" y="4000"/>
                  <a:pt x="96552" y="9922"/>
                </a:cubicBezTo>
                <a:close/>
                <a:moveTo>
                  <a:pt x="76895" y="34727"/>
                </a:moveTo>
                <a:cubicBezTo>
                  <a:pt x="81018" y="34727"/>
                  <a:pt x="84336" y="31409"/>
                  <a:pt x="84336" y="27285"/>
                </a:cubicBezTo>
                <a:cubicBezTo>
                  <a:pt x="84336" y="23161"/>
                  <a:pt x="81018" y="19844"/>
                  <a:pt x="76895" y="19844"/>
                </a:cubicBezTo>
                <a:lnTo>
                  <a:pt x="42168" y="19844"/>
                </a:lnTo>
                <a:cubicBezTo>
                  <a:pt x="38044" y="19844"/>
                  <a:pt x="34727" y="23161"/>
                  <a:pt x="34727" y="27285"/>
                </a:cubicBezTo>
                <a:cubicBezTo>
                  <a:pt x="34727" y="31409"/>
                  <a:pt x="38044" y="34727"/>
                  <a:pt x="42168" y="34727"/>
                </a:cubicBezTo>
                <a:lnTo>
                  <a:pt x="76895" y="34727"/>
                </a:lnTo>
                <a:close/>
                <a:moveTo>
                  <a:pt x="85700" y="80832"/>
                </a:moveTo>
                <a:cubicBezTo>
                  <a:pt x="87871" y="77360"/>
                  <a:pt x="86816" y="72771"/>
                  <a:pt x="83344" y="70569"/>
                </a:cubicBezTo>
                <a:cubicBezTo>
                  <a:pt x="79871" y="68368"/>
                  <a:pt x="75282" y="69453"/>
                  <a:pt x="73081" y="72926"/>
                </a:cubicBezTo>
                <a:lnTo>
                  <a:pt x="54043" y="103405"/>
                </a:lnTo>
                <a:lnTo>
                  <a:pt x="45672" y="92242"/>
                </a:lnTo>
                <a:cubicBezTo>
                  <a:pt x="43191" y="88956"/>
                  <a:pt x="38540" y="88274"/>
                  <a:pt x="35254" y="90754"/>
                </a:cubicBezTo>
                <a:cubicBezTo>
                  <a:pt x="31967" y="93235"/>
                  <a:pt x="31285" y="97885"/>
                  <a:pt x="33765" y="101172"/>
                </a:cubicBezTo>
                <a:lnTo>
                  <a:pt x="48648" y="121016"/>
                </a:lnTo>
                <a:cubicBezTo>
                  <a:pt x="50105" y="122969"/>
                  <a:pt x="52462" y="124085"/>
                  <a:pt x="54911" y="123992"/>
                </a:cubicBezTo>
                <a:cubicBezTo>
                  <a:pt x="57361" y="123899"/>
                  <a:pt x="59593" y="122597"/>
                  <a:pt x="60896" y="120489"/>
                </a:cubicBezTo>
                <a:lnTo>
                  <a:pt x="85700" y="80801"/>
                </a:ln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22" name="Text 20"/>
          <p:cNvSpPr/>
          <p:nvPr/>
        </p:nvSpPr>
        <p:spPr>
          <a:xfrm>
            <a:off x="6596063" y="1309688"/>
            <a:ext cx="5191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Verification Checklist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57938" y="1658938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63502" y="0"/>
                </a:moveTo>
                <a:lnTo>
                  <a:pt x="5286373" y="0"/>
                </a:lnTo>
                <a:cubicBezTo>
                  <a:pt x="5321444" y="0"/>
                  <a:pt x="5349875" y="28431"/>
                  <a:pt x="5349875" y="63502"/>
                </a:cubicBezTo>
                <a:lnTo>
                  <a:pt x="5349875" y="476248"/>
                </a:lnTo>
                <a:cubicBezTo>
                  <a:pt x="5349875" y="511319"/>
                  <a:pt x="5321444" y="539750"/>
                  <a:pt x="52863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2D5A3D">
              <a:alpha val="5098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453188" y="175418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25" name="Text 23"/>
          <p:cNvSpPr/>
          <p:nvPr/>
        </p:nvSpPr>
        <p:spPr>
          <a:xfrm>
            <a:off x="6421438" y="1754188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02438" y="1754188"/>
            <a:ext cx="2055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Does the paper exist?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02438" y="1944688"/>
            <a:ext cx="2047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 for the title in academic databases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57938" y="2293938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63502" y="0"/>
                </a:moveTo>
                <a:lnTo>
                  <a:pt x="5286373" y="0"/>
                </a:lnTo>
                <a:cubicBezTo>
                  <a:pt x="5321444" y="0"/>
                  <a:pt x="5349875" y="28431"/>
                  <a:pt x="5349875" y="63502"/>
                </a:cubicBezTo>
                <a:lnTo>
                  <a:pt x="5349875" y="476248"/>
                </a:lnTo>
                <a:cubicBezTo>
                  <a:pt x="5349875" y="511319"/>
                  <a:pt x="5321444" y="539750"/>
                  <a:pt x="52863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7D9A78">
              <a:alpha val="5098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453188" y="238918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30" name="Text 28"/>
          <p:cNvSpPr/>
          <p:nvPr/>
        </p:nvSpPr>
        <p:spPr>
          <a:xfrm>
            <a:off x="6421438" y="2389188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02438" y="2389188"/>
            <a:ext cx="220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it from a credible source?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02438" y="2579688"/>
            <a:ext cx="2198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 journal reputation, peer-review status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57938" y="2928938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63502" y="0"/>
                </a:moveTo>
                <a:lnTo>
                  <a:pt x="5286373" y="0"/>
                </a:lnTo>
                <a:cubicBezTo>
                  <a:pt x="5321444" y="0"/>
                  <a:pt x="5349875" y="28431"/>
                  <a:pt x="5349875" y="63502"/>
                </a:cubicBezTo>
                <a:lnTo>
                  <a:pt x="5349875" y="476248"/>
                </a:lnTo>
                <a:cubicBezTo>
                  <a:pt x="5349875" y="511319"/>
                  <a:pt x="5321444" y="539750"/>
                  <a:pt x="52863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8B7355">
              <a:alpha val="5098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453188" y="302418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35" name="Text 33"/>
          <p:cNvSpPr/>
          <p:nvPr/>
        </p:nvSpPr>
        <p:spPr>
          <a:xfrm>
            <a:off x="6421438" y="3024188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02438" y="3024188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it relevant to your topic?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02438" y="3214688"/>
            <a:ext cx="199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 abstract and conclusion to confirm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57938" y="3563938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63502" y="0"/>
                </a:moveTo>
                <a:lnTo>
                  <a:pt x="5286373" y="0"/>
                </a:lnTo>
                <a:cubicBezTo>
                  <a:pt x="5321444" y="0"/>
                  <a:pt x="5349875" y="28431"/>
                  <a:pt x="5349875" y="63502"/>
                </a:cubicBezTo>
                <a:lnTo>
                  <a:pt x="5349875" y="476248"/>
                </a:lnTo>
                <a:cubicBezTo>
                  <a:pt x="5349875" y="511319"/>
                  <a:pt x="5321444" y="539750"/>
                  <a:pt x="52863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2D5A3D">
              <a:alpha val="5098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53188" y="365918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40" name="Text 38"/>
          <p:cNvSpPr/>
          <p:nvPr/>
        </p:nvSpPr>
        <p:spPr>
          <a:xfrm>
            <a:off x="6421438" y="3659187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02438" y="3659187"/>
            <a:ext cx="1960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Have you read the full text?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02438" y="3849688"/>
            <a:ext cx="1952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Don't cite based on AI summaries alone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57938" y="4198938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63502" y="0"/>
                </a:moveTo>
                <a:lnTo>
                  <a:pt x="5286373" y="0"/>
                </a:lnTo>
                <a:cubicBezTo>
                  <a:pt x="5321444" y="0"/>
                  <a:pt x="5349875" y="28431"/>
                  <a:pt x="5349875" y="63502"/>
                </a:cubicBezTo>
                <a:lnTo>
                  <a:pt x="5349875" y="476248"/>
                </a:lnTo>
                <a:cubicBezTo>
                  <a:pt x="5349875" y="511319"/>
                  <a:pt x="5321444" y="539750"/>
                  <a:pt x="52863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7D9A78">
              <a:alpha val="5098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53188" y="429418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45" name="Text 43"/>
          <p:cNvSpPr/>
          <p:nvPr/>
        </p:nvSpPr>
        <p:spPr>
          <a:xfrm>
            <a:off x="6421438" y="4294188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02438" y="4294188"/>
            <a:ext cx="2547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Did you cross-reference?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02438" y="4484688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 AI suggestions with independent searches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91250" y="5032375"/>
            <a:ext cx="5683250" cy="952500"/>
          </a:xfrm>
          <a:custGeom>
            <a:avLst/>
            <a:gdLst/>
            <a:ahLst/>
            <a:cxnLst/>
            <a:rect l="l" t="t" r="r" b="b"/>
            <a:pathLst>
              <a:path w="5683250" h="952500">
                <a:moveTo>
                  <a:pt x="63503" y="0"/>
                </a:moveTo>
                <a:lnTo>
                  <a:pt x="5619747" y="0"/>
                </a:lnTo>
                <a:cubicBezTo>
                  <a:pt x="5654819" y="0"/>
                  <a:pt x="5683250" y="28431"/>
                  <a:pt x="5683250" y="63503"/>
                </a:cubicBezTo>
                <a:lnTo>
                  <a:pt x="5683250" y="888997"/>
                </a:lnTo>
                <a:cubicBezTo>
                  <a:pt x="5683250" y="924069"/>
                  <a:pt x="5654819" y="952500"/>
                  <a:pt x="5619747" y="952500"/>
                </a:cubicBezTo>
                <a:lnTo>
                  <a:pt x="63503" y="952500"/>
                </a:lnTo>
                <a:cubicBezTo>
                  <a:pt x="28431" y="952500"/>
                  <a:pt x="0" y="924069"/>
                  <a:pt x="0" y="888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8B7355">
              <a:alpha val="1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338094" y="519906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71438" y="37951"/>
                </a:moveTo>
                <a:cubicBezTo>
                  <a:pt x="75149" y="37951"/>
                  <a:pt x="78135" y="40937"/>
                  <a:pt x="78135" y="44648"/>
                </a:cubicBezTo>
                <a:lnTo>
                  <a:pt x="78135" y="75902"/>
                </a:lnTo>
                <a:cubicBezTo>
                  <a:pt x="78135" y="79614"/>
                  <a:pt x="75149" y="82600"/>
                  <a:pt x="71438" y="82600"/>
                </a:cubicBezTo>
                <a:cubicBezTo>
                  <a:pt x="67726" y="82600"/>
                  <a:pt x="64740" y="79614"/>
                  <a:pt x="64740" y="75902"/>
                </a:cubicBezTo>
                <a:lnTo>
                  <a:pt x="64740" y="44648"/>
                </a:lnTo>
                <a:cubicBezTo>
                  <a:pt x="64740" y="40937"/>
                  <a:pt x="67726" y="37951"/>
                  <a:pt x="71438" y="37951"/>
                </a:cubicBezTo>
                <a:close/>
                <a:moveTo>
                  <a:pt x="63987" y="98227"/>
                </a:moveTo>
                <a:cubicBezTo>
                  <a:pt x="63817" y="95461"/>
                  <a:pt x="65197" y="92830"/>
                  <a:pt x="67567" y="91396"/>
                </a:cubicBezTo>
                <a:cubicBezTo>
                  <a:pt x="69938" y="89962"/>
                  <a:pt x="72909" y="89962"/>
                  <a:pt x="75280" y="91396"/>
                </a:cubicBezTo>
                <a:cubicBezTo>
                  <a:pt x="77651" y="92830"/>
                  <a:pt x="79030" y="95461"/>
                  <a:pt x="78860" y="98227"/>
                </a:cubicBezTo>
                <a:cubicBezTo>
                  <a:pt x="79030" y="100992"/>
                  <a:pt x="77651" y="103623"/>
                  <a:pt x="75280" y="105057"/>
                </a:cubicBezTo>
                <a:cubicBezTo>
                  <a:pt x="72909" y="106492"/>
                  <a:pt x="69938" y="106492"/>
                  <a:pt x="67567" y="105057"/>
                </a:cubicBezTo>
                <a:cubicBezTo>
                  <a:pt x="65197" y="103623"/>
                  <a:pt x="63817" y="100992"/>
                  <a:pt x="63987" y="98227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0" name="Text 48"/>
          <p:cNvSpPr/>
          <p:nvPr/>
        </p:nvSpPr>
        <p:spPr>
          <a:xfrm>
            <a:off x="6540500" y="5159375"/>
            <a:ext cx="527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8B73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 Flag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18250" y="5445125"/>
            <a:ext cx="5492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AI provides a citation you can't find in any database,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treat it as suspicious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AI tools are known to "hallucinate" references that sound plausible but don't exist.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33375" y="6111875"/>
            <a:ext cx="11541125" cy="666750"/>
          </a:xfrm>
          <a:custGeom>
            <a:avLst/>
            <a:gdLst/>
            <a:ahLst/>
            <a:cxnLst/>
            <a:rect l="l" t="t" r="r" b="b"/>
            <a:pathLst>
              <a:path w="11541125" h="666750">
                <a:moveTo>
                  <a:pt x="31750" y="0"/>
                </a:moveTo>
                <a:lnTo>
                  <a:pt x="11477624" y="0"/>
                </a:lnTo>
                <a:cubicBezTo>
                  <a:pt x="11512695" y="0"/>
                  <a:pt x="11541125" y="28430"/>
                  <a:pt x="11541125" y="63501"/>
                </a:cubicBezTo>
                <a:lnTo>
                  <a:pt x="11541125" y="603249"/>
                </a:lnTo>
                <a:cubicBezTo>
                  <a:pt x="11541125" y="638320"/>
                  <a:pt x="11512695" y="666750"/>
                  <a:pt x="1147762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5A3D">
              <a:alpha val="1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333375" y="6111875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54" name="Shape 52"/>
          <p:cNvSpPr/>
          <p:nvPr/>
        </p:nvSpPr>
        <p:spPr>
          <a:xfrm>
            <a:off x="488156" y="6270625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55" name="Text 53"/>
          <p:cNvSpPr/>
          <p:nvPr/>
        </p:nvSpPr>
        <p:spPr>
          <a:xfrm>
            <a:off x="713693" y="6238875"/>
            <a:ext cx="110966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Practice: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AI to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 efficiency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finding sources, but verify everything through peer-reviewed databases.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Regularly update your literature review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reflect the latest research, and critically evaluate AI-generated insights to ensure they align with your research objectives.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21469" y="6909594"/>
            <a:ext cx="1627188" cy="269875"/>
          </a:xfrm>
          <a:custGeom>
            <a:avLst/>
            <a:gdLst/>
            <a:ahLst/>
            <a:cxnLst/>
            <a:rect l="l" t="t" r="r" b="b"/>
            <a:pathLst>
              <a:path w="1627188" h="269875">
                <a:moveTo>
                  <a:pt x="0" y="0"/>
                </a:moveTo>
                <a:lnTo>
                  <a:pt x="1627188" y="0"/>
                </a:lnTo>
                <a:lnTo>
                  <a:pt x="1627188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90196"/>
            </a:srgbClr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7500" y="6905625"/>
            <a:ext cx="1666875" cy="261937"/>
          </a:xfrm>
          <a:prstGeom prst="rect">
            <a:avLst/>
          </a:prstGeom>
          <a:noFill/>
          <a:ln/>
        </p:spPr>
        <p:txBody>
          <a:bodyPr wrap="square" lIns="95250" tIns="63500" rIns="95250" bIns="63500" rtlCol="0" anchor="ctr"/>
          <a:lstStyle/>
          <a:p>
            <a:pPr>
              <a:lnSpc>
                <a:spcPct val="120000"/>
              </a:lnSpc>
            </a:pPr>
            <a:r>
              <a:rPr lang="en-US" sz="75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Practices • Source Verification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146792" y="6965714"/>
            <a:ext cx="785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Trust but verify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agnolia.com/b619b0e96b1ee6d89cf1af04fceec670a6a2d045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7D9A78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452563"/>
            <a:ext cx="1304925" cy="342900"/>
          </a:xfrm>
          <a:custGeom>
            <a:avLst/>
            <a:gdLst/>
            <a:ahLst/>
            <a:cxnLst/>
            <a:rect l="l" t="t" r="r" b="b"/>
            <a:pathLst>
              <a:path w="1304925" h="342900">
                <a:moveTo>
                  <a:pt x="0" y="0"/>
                </a:moveTo>
                <a:lnTo>
                  <a:pt x="1304925" y="0"/>
                </a:lnTo>
                <a:lnTo>
                  <a:pt x="130492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1452563"/>
            <a:ext cx="1371600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Five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24062"/>
            <a:ext cx="59817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Citation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Transparency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96716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310063"/>
            <a:ext cx="5753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to properly acknowledge AI assistance in your work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3863" y="515778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132159"/>
                </a:moveTo>
                <a:cubicBezTo>
                  <a:pt x="200025" y="161761"/>
                  <a:pt x="176049" y="185738"/>
                  <a:pt x="146447" y="185738"/>
                </a:cubicBezTo>
                <a:lnTo>
                  <a:pt x="142875" y="185738"/>
                </a:lnTo>
                <a:cubicBezTo>
                  <a:pt x="134972" y="185738"/>
                  <a:pt x="128588" y="179353"/>
                  <a:pt x="128588" y="171450"/>
                </a:cubicBezTo>
                <a:cubicBezTo>
                  <a:pt x="128588" y="163547"/>
                  <a:pt x="134972" y="157163"/>
                  <a:pt x="142875" y="157163"/>
                </a:cubicBezTo>
                <a:lnTo>
                  <a:pt x="146447" y="157163"/>
                </a:lnTo>
                <a:cubicBezTo>
                  <a:pt x="160243" y="157163"/>
                  <a:pt x="171450" y="145956"/>
                  <a:pt x="171450" y="132159"/>
                </a:cubicBezTo>
                <a:lnTo>
                  <a:pt x="171450" y="128588"/>
                </a:lnTo>
                <a:lnTo>
                  <a:pt x="142875" y="128588"/>
                </a:lnTo>
                <a:cubicBezTo>
                  <a:pt x="127114" y="128588"/>
                  <a:pt x="114300" y="115773"/>
                  <a:pt x="114300" y="100013"/>
                </a:cubicBezTo>
                <a:lnTo>
                  <a:pt x="114300" y="71438"/>
                </a:lnTo>
                <a:cubicBezTo>
                  <a:pt x="114300" y="55677"/>
                  <a:pt x="127114" y="42863"/>
                  <a:pt x="142875" y="42863"/>
                </a:cubicBezTo>
                <a:lnTo>
                  <a:pt x="171450" y="42863"/>
                </a:lnTo>
                <a:cubicBezTo>
                  <a:pt x="187211" y="42863"/>
                  <a:pt x="200025" y="55677"/>
                  <a:pt x="200025" y="71438"/>
                </a:cubicBezTo>
                <a:lnTo>
                  <a:pt x="200025" y="132159"/>
                </a:lnTo>
                <a:close/>
                <a:moveTo>
                  <a:pt x="85725" y="132159"/>
                </a:moveTo>
                <a:cubicBezTo>
                  <a:pt x="85725" y="161761"/>
                  <a:pt x="61749" y="185738"/>
                  <a:pt x="32147" y="185738"/>
                </a:cubicBezTo>
                <a:lnTo>
                  <a:pt x="28575" y="185738"/>
                </a:lnTo>
                <a:cubicBezTo>
                  <a:pt x="20672" y="185738"/>
                  <a:pt x="14288" y="179353"/>
                  <a:pt x="14288" y="171450"/>
                </a:cubicBezTo>
                <a:cubicBezTo>
                  <a:pt x="14288" y="163547"/>
                  <a:pt x="20672" y="157163"/>
                  <a:pt x="28575" y="157163"/>
                </a:cubicBezTo>
                <a:lnTo>
                  <a:pt x="32147" y="157163"/>
                </a:lnTo>
                <a:cubicBezTo>
                  <a:pt x="45943" y="157163"/>
                  <a:pt x="57150" y="145956"/>
                  <a:pt x="57150" y="132159"/>
                </a:cubicBezTo>
                <a:lnTo>
                  <a:pt x="57150" y="128588"/>
                </a:lnTo>
                <a:lnTo>
                  <a:pt x="28575" y="128588"/>
                </a:lnTo>
                <a:cubicBezTo>
                  <a:pt x="12814" y="128588"/>
                  <a:pt x="0" y="115773"/>
                  <a:pt x="0" y="100013"/>
                </a:cubicBezTo>
                <a:lnTo>
                  <a:pt x="0" y="71438"/>
                </a:lnTo>
                <a:cubicBezTo>
                  <a:pt x="0" y="55677"/>
                  <a:pt x="12814" y="42863"/>
                  <a:pt x="28575" y="42863"/>
                </a:cubicBezTo>
                <a:lnTo>
                  <a:pt x="57150" y="42863"/>
                </a:lnTo>
                <a:cubicBezTo>
                  <a:pt x="72911" y="42863"/>
                  <a:pt x="85725" y="55677"/>
                  <a:pt x="85725" y="71438"/>
                </a:cubicBezTo>
                <a:lnTo>
                  <a:pt x="85725" y="132159"/>
                </a:ln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10" name="Text 7"/>
          <p:cNvSpPr/>
          <p:nvPr/>
        </p:nvSpPr>
        <p:spPr>
          <a:xfrm>
            <a:off x="781050" y="5138738"/>
            <a:ext cx="295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Honesty • Proper Attribution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4687" y="324687"/>
            <a:ext cx="11599446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spc="89" kern="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Transparency Principles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4687" y="551968"/>
            <a:ext cx="11688735" cy="324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01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Disclosure Matters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4687" y="974061"/>
            <a:ext cx="649374" cy="32469"/>
          </a:xfrm>
          <a:custGeom>
            <a:avLst/>
            <a:gdLst/>
            <a:ahLst/>
            <a:cxnLst/>
            <a:rect l="l" t="t" r="r" b="b"/>
            <a:pathLst>
              <a:path w="649374" h="32469">
                <a:moveTo>
                  <a:pt x="0" y="0"/>
                </a:moveTo>
                <a:lnTo>
                  <a:pt x="649374" y="0"/>
                </a:lnTo>
                <a:lnTo>
                  <a:pt x="649374" y="32469"/>
                </a:lnTo>
                <a:lnTo>
                  <a:pt x="0" y="32469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" name="Shape 3"/>
          <p:cNvSpPr/>
          <p:nvPr/>
        </p:nvSpPr>
        <p:spPr>
          <a:xfrm>
            <a:off x="328746" y="1172932"/>
            <a:ext cx="5665790" cy="3774487"/>
          </a:xfrm>
          <a:custGeom>
            <a:avLst/>
            <a:gdLst/>
            <a:ahLst/>
            <a:cxnLst/>
            <a:rect l="l" t="t" r="r" b="b"/>
            <a:pathLst>
              <a:path w="5665790" h="3774487">
                <a:moveTo>
                  <a:pt x="64921" y="0"/>
                </a:moveTo>
                <a:lnTo>
                  <a:pt x="5600868" y="0"/>
                </a:lnTo>
                <a:cubicBezTo>
                  <a:pt x="5636723" y="0"/>
                  <a:pt x="5665790" y="29066"/>
                  <a:pt x="5665790" y="64921"/>
                </a:cubicBezTo>
                <a:lnTo>
                  <a:pt x="5665790" y="3709566"/>
                </a:lnTo>
                <a:cubicBezTo>
                  <a:pt x="5665790" y="3745421"/>
                  <a:pt x="5636723" y="3774487"/>
                  <a:pt x="5600868" y="3774487"/>
                </a:cubicBezTo>
                <a:lnTo>
                  <a:pt x="64921" y="3774487"/>
                </a:lnTo>
                <a:cubicBezTo>
                  <a:pt x="29066" y="3774487"/>
                  <a:pt x="0" y="3745421"/>
                  <a:pt x="0" y="3709566"/>
                </a:cubicBezTo>
                <a:lnTo>
                  <a:pt x="0" y="64921"/>
                </a:lnTo>
                <a:cubicBezTo>
                  <a:pt x="0" y="29090"/>
                  <a:pt x="29090" y="0"/>
                  <a:pt x="64921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5441" y="1367744"/>
            <a:ext cx="162344" cy="162344"/>
          </a:xfrm>
          <a:custGeom>
            <a:avLst/>
            <a:gdLst/>
            <a:ahLst/>
            <a:cxnLst/>
            <a:rect l="l" t="t" r="r" b="b"/>
            <a:pathLst>
              <a:path w="162344" h="162344">
                <a:moveTo>
                  <a:pt x="81172" y="0"/>
                </a:moveTo>
                <a:cubicBezTo>
                  <a:pt x="82630" y="0"/>
                  <a:pt x="84089" y="317"/>
                  <a:pt x="85421" y="920"/>
                </a:cubicBezTo>
                <a:lnTo>
                  <a:pt x="145158" y="26254"/>
                </a:lnTo>
                <a:cubicBezTo>
                  <a:pt x="152134" y="29203"/>
                  <a:pt x="157334" y="36083"/>
                  <a:pt x="157302" y="44391"/>
                </a:cubicBezTo>
                <a:cubicBezTo>
                  <a:pt x="157143" y="75845"/>
                  <a:pt x="144207" y="133394"/>
                  <a:pt x="89574" y="159553"/>
                </a:cubicBezTo>
                <a:cubicBezTo>
                  <a:pt x="84279" y="162090"/>
                  <a:pt x="78128" y="162090"/>
                  <a:pt x="72833" y="159553"/>
                </a:cubicBezTo>
                <a:cubicBezTo>
                  <a:pt x="18169" y="133394"/>
                  <a:pt x="5263" y="75845"/>
                  <a:pt x="5105" y="44391"/>
                </a:cubicBezTo>
                <a:cubicBezTo>
                  <a:pt x="5073" y="36083"/>
                  <a:pt x="10273" y="29203"/>
                  <a:pt x="17249" y="26254"/>
                </a:cubicBezTo>
                <a:lnTo>
                  <a:pt x="76955" y="920"/>
                </a:lnTo>
                <a:cubicBezTo>
                  <a:pt x="78286" y="317"/>
                  <a:pt x="79713" y="0"/>
                  <a:pt x="81172" y="0"/>
                </a:cubicBezTo>
                <a:close/>
                <a:moveTo>
                  <a:pt x="81172" y="21181"/>
                </a:moveTo>
                <a:lnTo>
                  <a:pt x="81172" y="141068"/>
                </a:lnTo>
                <a:cubicBezTo>
                  <a:pt x="124928" y="119887"/>
                  <a:pt x="136692" y="72959"/>
                  <a:pt x="136977" y="44866"/>
                </a:cubicBezTo>
                <a:lnTo>
                  <a:pt x="81172" y="21212"/>
                </a:lnTo>
                <a:lnTo>
                  <a:pt x="81172" y="21212"/>
                </a:ln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7" name="Text 5"/>
          <p:cNvSpPr/>
          <p:nvPr/>
        </p:nvSpPr>
        <p:spPr>
          <a:xfrm>
            <a:off x="739582" y="1339334"/>
            <a:ext cx="5169723" cy="22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8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Reasons for Transparency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5148" y="1696490"/>
            <a:ext cx="5332985" cy="941593"/>
          </a:xfrm>
          <a:custGeom>
            <a:avLst/>
            <a:gdLst/>
            <a:ahLst/>
            <a:cxnLst/>
            <a:rect l="l" t="t" r="r" b="b"/>
            <a:pathLst>
              <a:path w="5332985" h="941593">
                <a:moveTo>
                  <a:pt x="64942" y="0"/>
                </a:moveTo>
                <a:lnTo>
                  <a:pt x="5268044" y="0"/>
                </a:lnTo>
                <a:cubicBezTo>
                  <a:pt x="5303910" y="0"/>
                  <a:pt x="5332985" y="29075"/>
                  <a:pt x="5332985" y="64942"/>
                </a:cubicBezTo>
                <a:lnTo>
                  <a:pt x="5332985" y="876651"/>
                </a:lnTo>
                <a:cubicBezTo>
                  <a:pt x="5332985" y="912517"/>
                  <a:pt x="5303910" y="941593"/>
                  <a:pt x="5268044" y="941593"/>
                </a:cubicBezTo>
                <a:lnTo>
                  <a:pt x="64942" y="941593"/>
                </a:lnTo>
                <a:cubicBezTo>
                  <a:pt x="29075" y="941593"/>
                  <a:pt x="0" y="912517"/>
                  <a:pt x="0" y="876651"/>
                </a:cubicBezTo>
                <a:lnTo>
                  <a:pt x="0" y="64942"/>
                </a:lnTo>
                <a:cubicBezTo>
                  <a:pt x="0" y="29099"/>
                  <a:pt x="29099" y="0"/>
                  <a:pt x="64942" y="0"/>
                </a:cubicBezTo>
                <a:close/>
              </a:path>
            </a:pathLst>
          </a:custGeom>
          <a:solidFill>
            <a:srgbClr val="2D5A3D">
              <a:alpha val="5098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25023" y="1842599"/>
            <a:ext cx="202929" cy="162344"/>
          </a:xfrm>
          <a:custGeom>
            <a:avLst/>
            <a:gdLst/>
            <a:ahLst/>
            <a:cxnLst/>
            <a:rect l="l" t="t" r="r" b="b"/>
            <a:pathLst>
              <a:path w="202929" h="162344">
                <a:moveTo>
                  <a:pt x="121758" y="10146"/>
                </a:moveTo>
                <a:lnTo>
                  <a:pt x="162344" y="10146"/>
                </a:lnTo>
                <a:cubicBezTo>
                  <a:pt x="167956" y="10146"/>
                  <a:pt x="172490" y="14681"/>
                  <a:pt x="172490" y="20293"/>
                </a:cubicBezTo>
                <a:cubicBezTo>
                  <a:pt x="172490" y="25905"/>
                  <a:pt x="167956" y="30439"/>
                  <a:pt x="162344" y="30439"/>
                </a:cubicBezTo>
                <a:lnTo>
                  <a:pt x="126324" y="30439"/>
                </a:lnTo>
                <a:cubicBezTo>
                  <a:pt x="124675" y="38620"/>
                  <a:pt x="119062" y="45374"/>
                  <a:pt x="111611" y="48608"/>
                </a:cubicBezTo>
                <a:lnTo>
                  <a:pt x="111611" y="142051"/>
                </a:lnTo>
                <a:lnTo>
                  <a:pt x="162344" y="142051"/>
                </a:lnTo>
                <a:cubicBezTo>
                  <a:pt x="167956" y="142051"/>
                  <a:pt x="172490" y="146585"/>
                  <a:pt x="172490" y="152197"/>
                </a:cubicBezTo>
                <a:cubicBezTo>
                  <a:pt x="172490" y="157809"/>
                  <a:pt x="167956" y="162344"/>
                  <a:pt x="162344" y="162344"/>
                </a:cubicBezTo>
                <a:lnTo>
                  <a:pt x="40586" y="162344"/>
                </a:lnTo>
                <a:cubicBezTo>
                  <a:pt x="34974" y="162344"/>
                  <a:pt x="30439" y="157809"/>
                  <a:pt x="30439" y="152197"/>
                </a:cubicBezTo>
                <a:cubicBezTo>
                  <a:pt x="30439" y="146585"/>
                  <a:pt x="34974" y="142051"/>
                  <a:pt x="40586" y="142051"/>
                </a:cubicBezTo>
                <a:lnTo>
                  <a:pt x="91318" y="142051"/>
                </a:lnTo>
                <a:lnTo>
                  <a:pt x="91318" y="48608"/>
                </a:lnTo>
                <a:cubicBezTo>
                  <a:pt x="83867" y="45342"/>
                  <a:pt x="78255" y="38588"/>
                  <a:pt x="76606" y="30439"/>
                </a:cubicBezTo>
                <a:lnTo>
                  <a:pt x="40586" y="30439"/>
                </a:lnTo>
                <a:cubicBezTo>
                  <a:pt x="34974" y="30439"/>
                  <a:pt x="30439" y="25905"/>
                  <a:pt x="30439" y="20293"/>
                </a:cubicBezTo>
                <a:cubicBezTo>
                  <a:pt x="30439" y="14681"/>
                  <a:pt x="34974" y="10146"/>
                  <a:pt x="40586" y="10146"/>
                </a:cubicBezTo>
                <a:lnTo>
                  <a:pt x="81172" y="10146"/>
                </a:lnTo>
                <a:cubicBezTo>
                  <a:pt x="85801" y="3995"/>
                  <a:pt x="93157" y="0"/>
                  <a:pt x="101465" y="0"/>
                </a:cubicBezTo>
                <a:cubicBezTo>
                  <a:pt x="109772" y="0"/>
                  <a:pt x="117128" y="3995"/>
                  <a:pt x="121758" y="10146"/>
                </a:cubicBezTo>
                <a:close/>
                <a:moveTo>
                  <a:pt x="139387" y="101465"/>
                </a:moveTo>
                <a:lnTo>
                  <a:pt x="185300" y="101465"/>
                </a:lnTo>
                <a:lnTo>
                  <a:pt x="162344" y="62084"/>
                </a:lnTo>
                <a:lnTo>
                  <a:pt x="139387" y="101465"/>
                </a:lnTo>
                <a:close/>
                <a:moveTo>
                  <a:pt x="162344" y="131904"/>
                </a:moveTo>
                <a:cubicBezTo>
                  <a:pt x="142399" y="131904"/>
                  <a:pt x="125816" y="121124"/>
                  <a:pt x="122392" y="106887"/>
                </a:cubicBezTo>
                <a:cubicBezTo>
                  <a:pt x="121567" y="103399"/>
                  <a:pt x="122709" y="99816"/>
                  <a:pt x="124516" y="96709"/>
                </a:cubicBezTo>
                <a:lnTo>
                  <a:pt x="154702" y="44962"/>
                </a:lnTo>
                <a:cubicBezTo>
                  <a:pt x="156287" y="42235"/>
                  <a:pt x="159204" y="40586"/>
                  <a:pt x="162344" y="40586"/>
                </a:cubicBezTo>
                <a:cubicBezTo>
                  <a:pt x="165483" y="40586"/>
                  <a:pt x="168400" y="42266"/>
                  <a:pt x="169985" y="44962"/>
                </a:cubicBezTo>
                <a:lnTo>
                  <a:pt x="200171" y="96709"/>
                </a:lnTo>
                <a:cubicBezTo>
                  <a:pt x="201978" y="99816"/>
                  <a:pt x="203120" y="103399"/>
                  <a:pt x="202295" y="106887"/>
                </a:cubicBezTo>
                <a:cubicBezTo>
                  <a:pt x="198871" y="121092"/>
                  <a:pt x="182288" y="131904"/>
                  <a:pt x="162344" y="131904"/>
                </a:cubicBezTo>
                <a:close/>
                <a:moveTo>
                  <a:pt x="40205" y="62084"/>
                </a:moveTo>
                <a:lnTo>
                  <a:pt x="17249" y="101465"/>
                </a:lnTo>
                <a:lnTo>
                  <a:pt x="63193" y="101465"/>
                </a:lnTo>
                <a:lnTo>
                  <a:pt x="40205" y="62084"/>
                </a:lnTo>
                <a:close/>
                <a:moveTo>
                  <a:pt x="285" y="106887"/>
                </a:moveTo>
                <a:cubicBezTo>
                  <a:pt x="-539" y="103399"/>
                  <a:pt x="602" y="99816"/>
                  <a:pt x="2410" y="96709"/>
                </a:cubicBezTo>
                <a:lnTo>
                  <a:pt x="32596" y="44962"/>
                </a:lnTo>
                <a:cubicBezTo>
                  <a:pt x="34181" y="42235"/>
                  <a:pt x="37098" y="40586"/>
                  <a:pt x="40237" y="40586"/>
                </a:cubicBezTo>
                <a:cubicBezTo>
                  <a:pt x="43376" y="40586"/>
                  <a:pt x="46293" y="42266"/>
                  <a:pt x="47879" y="44962"/>
                </a:cubicBezTo>
                <a:lnTo>
                  <a:pt x="78064" y="96709"/>
                </a:lnTo>
                <a:cubicBezTo>
                  <a:pt x="79872" y="99816"/>
                  <a:pt x="81013" y="103399"/>
                  <a:pt x="80189" y="106887"/>
                </a:cubicBezTo>
                <a:cubicBezTo>
                  <a:pt x="76764" y="121092"/>
                  <a:pt x="60181" y="131904"/>
                  <a:pt x="40237" y="131904"/>
                </a:cubicBezTo>
                <a:cubicBezTo>
                  <a:pt x="20293" y="131904"/>
                  <a:pt x="3710" y="121124"/>
                  <a:pt x="285" y="106887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10" name="Text 8"/>
          <p:cNvSpPr/>
          <p:nvPr/>
        </p:nvSpPr>
        <p:spPr>
          <a:xfrm>
            <a:off x="892889" y="1826365"/>
            <a:ext cx="1672138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Maintain Academic Integrity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5023" y="2086115"/>
            <a:ext cx="5138173" cy="422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3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Transparency is the foundation of scholarly work. Disclosing AI use demonstrates honesty and ethical conduct.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5148" y="2767957"/>
            <a:ext cx="5332985" cy="941593"/>
          </a:xfrm>
          <a:custGeom>
            <a:avLst/>
            <a:gdLst/>
            <a:ahLst/>
            <a:cxnLst/>
            <a:rect l="l" t="t" r="r" b="b"/>
            <a:pathLst>
              <a:path w="5332985" h="941593">
                <a:moveTo>
                  <a:pt x="64942" y="0"/>
                </a:moveTo>
                <a:lnTo>
                  <a:pt x="5268044" y="0"/>
                </a:lnTo>
                <a:cubicBezTo>
                  <a:pt x="5303910" y="0"/>
                  <a:pt x="5332985" y="29075"/>
                  <a:pt x="5332985" y="64942"/>
                </a:cubicBezTo>
                <a:lnTo>
                  <a:pt x="5332985" y="876651"/>
                </a:lnTo>
                <a:cubicBezTo>
                  <a:pt x="5332985" y="912517"/>
                  <a:pt x="5303910" y="941593"/>
                  <a:pt x="5268044" y="941593"/>
                </a:cubicBezTo>
                <a:lnTo>
                  <a:pt x="64942" y="941593"/>
                </a:lnTo>
                <a:cubicBezTo>
                  <a:pt x="29075" y="941593"/>
                  <a:pt x="0" y="912517"/>
                  <a:pt x="0" y="876651"/>
                </a:cubicBezTo>
                <a:lnTo>
                  <a:pt x="0" y="64942"/>
                </a:lnTo>
                <a:cubicBezTo>
                  <a:pt x="0" y="29099"/>
                  <a:pt x="29099" y="0"/>
                  <a:pt x="64942" y="0"/>
                </a:cubicBezTo>
                <a:close/>
              </a:path>
            </a:pathLst>
          </a:custGeom>
          <a:solidFill>
            <a:srgbClr val="7D9A78">
              <a:alpha val="5098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25023" y="2914067"/>
            <a:ext cx="202929" cy="162344"/>
          </a:xfrm>
          <a:custGeom>
            <a:avLst/>
            <a:gdLst/>
            <a:ahLst/>
            <a:cxnLst/>
            <a:rect l="l" t="t" r="r" b="b"/>
            <a:pathLst>
              <a:path w="202929" h="162344">
                <a:moveTo>
                  <a:pt x="101465" y="5073"/>
                </a:moveTo>
                <a:cubicBezTo>
                  <a:pt x="119665" y="5073"/>
                  <a:pt x="134441" y="19849"/>
                  <a:pt x="134441" y="38049"/>
                </a:cubicBezTo>
                <a:cubicBezTo>
                  <a:pt x="134441" y="56249"/>
                  <a:pt x="119665" y="71025"/>
                  <a:pt x="101465" y="71025"/>
                </a:cubicBezTo>
                <a:cubicBezTo>
                  <a:pt x="83265" y="71025"/>
                  <a:pt x="68489" y="56249"/>
                  <a:pt x="68489" y="38049"/>
                </a:cubicBezTo>
                <a:cubicBezTo>
                  <a:pt x="68489" y="19849"/>
                  <a:pt x="83265" y="5073"/>
                  <a:pt x="101465" y="5073"/>
                </a:cubicBezTo>
                <a:close/>
                <a:moveTo>
                  <a:pt x="30439" y="27903"/>
                </a:moveTo>
                <a:cubicBezTo>
                  <a:pt x="43039" y="27903"/>
                  <a:pt x="53269" y="38132"/>
                  <a:pt x="53269" y="50732"/>
                </a:cubicBezTo>
                <a:cubicBezTo>
                  <a:pt x="53269" y="63332"/>
                  <a:pt x="43039" y="73562"/>
                  <a:pt x="30439" y="73562"/>
                </a:cubicBezTo>
                <a:cubicBezTo>
                  <a:pt x="17839" y="73562"/>
                  <a:pt x="7610" y="63332"/>
                  <a:pt x="7610" y="50732"/>
                </a:cubicBezTo>
                <a:cubicBezTo>
                  <a:pt x="7610" y="38132"/>
                  <a:pt x="17839" y="27903"/>
                  <a:pt x="30439" y="27903"/>
                </a:cubicBezTo>
                <a:close/>
                <a:moveTo>
                  <a:pt x="0" y="131904"/>
                </a:moveTo>
                <a:cubicBezTo>
                  <a:pt x="0" y="109487"/>
                  <a:pt x="18169" y="91318"/>
                  <a:pt x="40586" y="91318"/>
                </a:cubicBezTo>
                <a:cubicBezTo>
                  <a:pt x="44644" y="91318"/>
                  <a:pt x="48576" y="91921"/>
                  <a:pt x="52286" y="93030"/>
                </a:cubicBezTo>
                <a:cubicBezTo>
                  <a:pt x="41854" y="104699"/>
                  <a:pt x="35513" y="120109"/>
                  <a:pt x="35513" y="136977"/>
                </a:cubicBezTo>
                <a:lnTo>
                  <a:pt x="35513" y="142051"/>
                </a:lnTo>
                <a:cubicBezTo>
                  <a:pt x="35513" y="145665"/>
                  <a:pt x="36274" y="149090"/>
                  <a:pt x="37637" y="152197"/>
                </a:cubicBezTo>
                <a:lnTo>
                  <a:pt x="10146" y="152197"/>
                </a:lnTo>
                <a:cubicBezTo>
                  <a:pt x="4534" y="152197"/>
                  <a:pt x="0" y="147663"/>
                  <a:pt x="0" y="142051"/>
                </a:cubicBezTo>
                <a:lnTo>
                  <a:pt x="0" y="131904"/>
                </a:lnTo>
                <a:close/>
                <a:moveTo>
                  <a:pt x="165292" y="152197"/>
                </a:moveTo>
                <a:cubicBezTo>
                  <a:pt x="166656" y="149090"/>
                  <a:pt x="167417" y="145665"/>
                  <a:pt x="167417" y="142051"/>
                </a:cubicBezTo>
                <a:lnTo>
                  <a:pt x="167417" y="136977"/>
                </a:lnTo>
                <a:cubicBezTo>
                  <a:pt x="167417" y="120109"/>
                  <a:pt x="161075" y="104699"/>
                  <a:pt x="150643" y="93030"/>
                </a:cubicBezTo>
                <a:cubicBezTo>
                  <a:pt x="154353" y="91921"/>
                  <a:pt x="158285" y="91318"/>
                  <a:pt x="162344" y="91318"/>
                </a:cubicBezTo>
                <a:cubicBezTo>
                  <a:pt x="184761" y="91318"/>
                  <a:pt x="202929" y="109487"/>
                  <a:pt x="202929" y="131904"/>
                </a:cubicBezTo>
                <a:lnTo>
                  <a:pt x="202929" y="142051"/>
                </a:lnTo>
                <a:cubicBezTo>
                  <a:pt x="202929" y="147663"/>
                  <a:pt x="198395" y="152197"/>
                  <a:pt x="192783" y="152197"/>
                </a:cubicBezTo>
                <a:lnTo>
                  <a:pt x="165292" y="152197"/>
                </a:lnTo>
                <a:close/>
                <a:moveTo>
                  <a:pt x="149660" y="50732"/>
                </a:moveTo>
                <a:cubicBezTo>
                  <a:pt x="149660" y="38132"/>
                  <a:pt x="159890" y="27903"/>
                  <a:pt x="172490" y="27903"/>
                </a:cubicBezTo>
                <a:cubicBezTo>
                  <a:pt x="185090" y="27903"/>
                  <a:pt x="195320" y="38132"/>
                  <a:pt x="195320" y="50732"/>
                </a:cubicBezTo>
                <a:cubicBezTo>
                  <a:pt x="195320" y="63332"/>
                  <a:pt x="185090" y="73562"/>
                  <a:pt x="172490" y="73562"/>
                </a:cubicBezTo>
                <a:cubicBezTo>
                  <a:pt x="159890" y="73562"/>
                  <a:pt x="149660" y="63332"/>
                  <a:pt x="149660" y="50732"/>
                </a:cubicBezTo>
                <a:close/>
                <a:moveTo>
                  <a:pt x="50732" y="136977"/>
                </a:moveTo>
                <a:cubicBezTo>
                  <a:pt x="50732" y="108948"/>
                  <a:pt x="73435" y="86245"/>
                  <a:pt x="101465" y="86245"/>
                </a:cubicBezTo>
                <a:cubicBezTo>
                  <a:pt x="129494" y="86245"/>
                  <a:pt x="152197" y="108948"/>
                  <a:pt x="152197" y="136977"/>
                </a:cubicBezTo>
                <a:lnTo>
                  <a:pt x="152197" y="142051"/>
                </a:lnTo>
                <a:cubicBezTo>
                  <a:pt x="152197" y="147663"/>
                  <a:pt x="147663" y="152197"/>
                  <a:pt x="142051" y="152197"/>
                </a:cubicBezTo>
                <a:lnTo>
                  <a:pt x="60879" y="152197"/>
                </a:lnTo>
                <a:cubicBezTo>
                  <a:pt x="55267" y="152197"/>
                  <a:pt x="50732" y="147663"/>
                  <a:pt x="50732" y="142051"/>
                </a:cubicBezTo>
                <a:lnTo>
                  <a:pt x="50732" y="136977"/>
                </a:ln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14" name="Text 12"/>
          <p:cNvSpPr/>
          <p:nvPr/>
        </p:nvSpPr>
        <p:spPr>
          <a:xfrm>
            <a:off x="892889" y="2897832"/>
            <a:ext cx="2305278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Help Readers Understand Your Process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5023" y="3157582"/>
            <a:ext cx="5138173" cy="422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3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Readers deserve to know how your work was created. Disclosure helps them evaluate your methodology appropriately.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5148" y="3839425"/>
            <a:ext cx="5332985" cy="941593"/>
          </a:xfrm>
          <a:custGeom>
            <a:avLst/>
            <a:gdLst/>
            <a:ahLst/>
            <a:cxnLst/>
            <a:rect l="l" t="t" r="r" b="b"/>
            <a:pathLst>
              <a:path w="5332985" h="941593">
                <a:moveTo>
                  <a:pt x="64942" y="0"/>
                </a:moveTo>
                <a:lnTo>
                  <a:pt x="5268044" y="0"/>
                </a:lnTo>
                <a:cubicBezTo>
                  <a:pt x="5303910" y="0"/>
                  <a:pt x="5332985" y="29075"/>
                  <a:pt x="5332985" y="64942"/>
                </a:cubicBezTo>
                <a:lnTo>
                  <a:pt x="5332985" y="876651"/>
                </a:lnTo>
                <a:cubicBezTo>
                  <a:pt x="5332985" y="912517"/>
                  <a:pt x="5303910" y="941593"/>
                  <a:pt x="5268044" y="941593"/>
                </a:cubicBezTo>
                <a:lnTo>
                  <a:pt x="64942" y="941593"/>
                </a:lnTo>
                <a:cubicBezTo>
                  <a:pt x="29075" y="941593"/>
                  <a:pt x="0" y="912517"/>
                  <a:pt x="0" y="876651"/>
                </a:cubicBezTo>
                <a:lnTo>
                  <a:pt x="0" y="64942"/>
                </a:lnTo>
                <a:cubicBezTo>
                  <a:pt x="0" y="29099"/>
                  <a:pt x="29099" y="0"/>
                  <a:pt x="64942" y="0"/>
                </a:cubicBezTo>
                <a:close/>
              </a:path>
            </a:pathLst>
          </a:custGeom>
          <a:solidFill>
            <a:srgbClr val="8B7355">
              <a:alpha val="5098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65609" y="3985534"/>
            <a:ext cx="121758" cy="162344"/>
          </a:xfrm>
          <a:custGeom>
            <a:avLst/>
            <a:gdLst/>
            <a:ahLst/>
            <a:cxnLst/>
            <a:rect l="l" t="t" r="r" b="b"/>
            <a:pathLst>
              <a:path w="121758" h="162344">
                <a:moveTo>
                  <a:pt x="0" y="20293"/>
                </a:moveTo>
                <a:cubicBezTo>
                  <a:pt x="0" y="9100"/>
                  <a:pt x="9100" y="0"/>
                  <a:pt x="20293" y="0"/>
                </a:cubicBezTo>
                <a:lnTo>
                  <a:pt x="67696" y="0"/>
                </a:lnTo>
                <a:cubicBezTo>
                  <a:pt x="73086" y="0"/>
                  <a:pt x="78255" y="2124"/>
                  <a:pt x="82060" y="5929"/>
                </a:cubicBezTo>
                <a:lnTo>
                  <a:pt x="115828" y="39730"/>
                </a:lnTo>
                <a:cubicBezTo>
                  <a:pt x="119633" y="43535"/>
                  <a:pt x="121758" y="48703"/>
                  <a:pt x="121758" y="54093"/>
                </a:cubicBezTo>
                <a:lnTo>
                  <a:pt x="121758" y="142051"/>
                </a:lnTo>
                <a:cubicBezTo>
                  <a:pt x="121758" y="153243"/>
                  <a:pt x="112658" y="162344"/>
                  <a:pt x="101465" y="162344"/>
                </a:cubicBezTo>
                <a:lnTo>
                  <a:pt x="20293" y="162344"/>
                </a:lnTo>
                <a:cubicBezTo>
                  <a:pt x="9100" y="162344"/>
                  <a:pt x="0" y="153243"/>
                  <a:pt x="0" y="142051"/>
                </a:cubicBezTo>
                <a:lnTo>
                  <a:pt x="0" y="20293"/>
                </a:lnTo>
                <a:close/>
                <a:moveTo>
                  <a:pt x="65952" y="18549"/>
                </a:moveTo>
                <a:lnTo>
                  <a:pt x="65952" y="48196"/>
                </a:lnTo>
                <a:cubicBezTo>
                  <a:pt x="65952" y="52413"/>
                  <a:pt x="69345" y="55806"/>
                  <a:pt x="73562" y="55806"/>
                </a:cubicBezTo>
                <a:lnTo>
                  <a:pt x="103209" y="55806"/>
                </a:lnTo>
                <a:lnTo>
                  <a:pt x="65952" y="18549"/>
                </a:lnTo>
                <a:close/>
                <a:moveTo>
                  <a:pt x="27903" y="20293"/>
                </a:moveTo>
                <a:cubicBezTo>
                  <a:pt x="23686" y="20293"/>
                  <a:pt x="20293" y="23686"/>
                  <a:pt x="20293" y="27903"/>
                </a:cubicBezTo>
                <a:cubicBezTo>
                  <a:pt x="20293" y="32120"/>
                  <a:pt x="23686" y="35513"/>
                  <a:pt x="27903" y="35513"/>
                </a:cubicBezTo>
                <a:lnTo>
                  <a:pt x="43123" y="35513"/>
                </a:lnTo>
                <a:cubicBezTo>
                  <a:pt x="47340" y="35513"/>
                  <a:pt x="50732" y="32120"/>
                  <a:pt x="50732" y="27903"/>
                </a:cubicBezTo>
                <a:cubicBezTo>
                  <a:pt x="50732" y="23686"/>
                  <a:pt x="47340" y="20293"/>
                  <a:pt x="43123" y="20293"/>
                </a:cubicBezTo>
                <a:lnTo>
                  <a:pt x="27903" y="20293"/>
                </a:lnTo>
                <a:close/>
                <a:moveTo>
                  <a:pt x="27903" y="50732"/>
                </a:moveTo>
                <a:cubicBezTo>
                  <a:pt x="23686" y="50732"/>
                  <a:pt x="20293" y="54125"/>
                  <a:pt x="20293" y="58342"/>
                </a:cubicBezTo>
                <a:cubicBezTo>
                  <a:pt x="20293" y="62559"/>
                  <a:pt x="23686" y="65952"/>
                  <a:pt x="27903" y="65952"/>
                </a:cubicBezTo>
                <a:lnTo>
                  <a:pt x="43123" y="65952"/>
                </a:lnTo>
                <a:cubicBezTo>
                  <a:pt x="47340" y="65952"/>
                  <a:pt x="50732" y="62559"/>
                  <a:pt x="50732" y="58342"/>
                </a:cubicBezTo>
                <a:cubicBezTo>
                  <a:pt x="50732" y="54125"/>
                  <a:pt x="47340" y="50732"/>
                  <a:pt x="43123" y="50732"/>
                </a:cubicBezTo>
                <a:lnTo>
                  <a:pt x="27903" y="50732"/>
                </a:lnTo>
                <a:close/>
                <a:moveTo>
                  <a:pt x="50193" y="101465"/>
                </a:moveTo>
                <a:cubicBezTo>
                  <a:pt x="46610" y="101465"/>
                  <a:pt x="43249" y="103082"/>
                  <a:pt x="41030" y="105872"/>
                </a:cubicBezTo>
                <a:lnTo>
                  <a:pt x="21973" y="129685"/>
                </a:lnTo>
                <a:cubicBezTo>
                  <a:pt x="19342" y="132950"/>
                  <a:pt x="19881" y="137770"/>
                  <a:pt x="23147" y="140370"/>
                </a:cubicBezTo>
                <a:cubicBezTo>
                  <a:pt x="26413" y="142970"/>
                  <a:pt x="31232" y="142463"/>
                  <a:pt x="33832" y="139165"/>
                </a:cubicBezTo>
                <a:lnTo>
                  <a:pt x="48766" y="120521"/>
                </a:lnTo>
                <a:lnTo>
                  <a:pt x="53586" y="136597"/>
                </a:lnTo>
                <a:cubicBezTo>
                  <a:pt x="54537" y="139831"/>
                  <a:pt x="57518" y="142019"/>
                  <a:pt x="60879" y="142019"/>
                </a:cubicBezTo>
                <a:lnTo>
                  <a:pt x="93855" y="142019"/>
                </a:lnTo>
                <a:cubicBezTo>
                  <a:pt x="98072" y="142019"/>
                  <a:pt x="101465" y="138626"/>
                  <a:pt x="101465" y="134409"/>
                </a:cubicBezTo>
                <a:cubicBezTo>
                  <a:pt x="101465" y="130192"/>
                  <a:pt x="98072" y="126799"/>
                  <a:pt x="93855" y="126799"/>
                </a:cubicBezTo>
                <a:lnTo>
                  <a:pt x="66555" y="126799"/>
                </a:lnTo>
                <a:lnTo>
                  <a:pt x="61450" y="109804"/>
                </a:lnTo>
                <a:cubicBezTo>
                  <a:pt x="59959" y="104826"/>
                  <a:pt x="55393" y="101433"/>
                  <a:pt x="50193" y="101433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18" name="Text 16"/>
          <p:cNvSpPr/>
          <p:nvPr/>
        </p:nvSpPr>
        <p:spPr>
          <a:xfrm>
            <a:off x="892889" y="3969300"/>
            <a:ext cx="1753310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Meet Publisher Requirements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5023" y="4229049"/>
            <a:ext cx="5138173" cy="422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3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journals and publishers now require AI disclosure. Following these guidelines ensures your work meets submission standards.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8353" y="1172932"/>
            <a:ext cx="5665790" cy="2703020"/>
          </a:xfrm>
          <a:custGeom>
            <a:avLst/>
            <a:gdLst/>
            <a:ahLst/>
            <a:cxnLst/>
            <a:rect l="l" t="t" r="r" b="b"/>
            <a:pathLst>
              <a:path w="5665790" h="2703020">
                <a:moveTo>
                  <a:pt x="64927" y="0"/>
                </a:moveTo>
                <a:lnTo>
                  <a:pt x="5600863" y="0"/>
                </a:lnTo>
                <a:cubicBezTo>
                  <a:pt x="5636721" y="0"/>
                  <a:pt x="5665790" y="29069"/>
                  <a:pt x="5665790" y="64927"/>
                </a:cubicBezTo>
                <a:lnTo>
                  <a:pt x="5665790" y="2638093"/>
                </a:lnTo>
                <a:cubicBezTo>
                  <a:pt x="5665790" y="2673951"/>
                  <a:pt x="5636721" y="2703020"/>
                  <a:pt x="5600863" y="2703020"/>
                </a:cubicBezTo>
                <a:lnTo>
                  <a:pt x="64927" y="2703020"/>
                </a:lnTo>
                <a:cubicBezTo>
                  <a:pt x="29069" y="2703020"/>
                  <a:pt x="0" y="2673951"/>
                  <a:pt x="0" y="2638093"/>
                </a:cubicBezTo>
                <a:lnTo>
                  <a:pt x="0" y="64927"/>
                </a:lnTo>
                <a:cubicBezTo>
                  <a:pt x="0" y="29069"/>
                  <a:pt x="29069" y="0"/>
                  <a:pt x="64927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74901" y="1367744"/>
            <a:ext cx="182636" cy="162344"/>
          </a:xfrm>
          <a:custGeom>
            <a:avLst/>
            <a:gdLst/>
            <a:ahLst/>
            <a:cxnLst/>
            <a:rect l="l" t="t" r="r" b="b"/>
            <a:pathLst>
              <a:path w="182636" h="162344">
                <a:moveTo>
                  <a:pt x="85262" y="27015"/>
                </a:moveTo>
                <a:lnTo>
                  <a:pt x="48291" y="68108"/>
                </a:lnTo>
                <a:cubicBezTo>
                  <a:pt x="46832" y="69725"/>
                  <a:pt x="46896" y="72230"/>
                  <a:pt x="48449" y="73784"/>
                </a:cubicBezTo>
                <a:cubicBezTo>
                  <a:pt x="58120" y="83455"/>
                  <a:pt x="73816" y="83455"/>
                  <a:pt x="83486" y="73784"/>
                </a:cubicBezTo>
                <a:lnTo>
                  <a:pt x="93569" y="63701"/>
                </a:lnTo>
                <a:cubicBezTo>
                  <a:pt x="94901" y="62369"/>
                  <a:pt x="96582" y="61640"/>
                  <a:pt x="98294" y="61513"/>
                </a:cubicBezTo>
                <a:cubicBezTo>
                  <a:pt x="100450" y="61323"/>
                  <a:pt x="102670" y="62052"/>
                  <a:pt x="104318" y="63701"/>
                </a:cubicBezTo>
                <a:lnTo>
                  <a:pt x="160314" y="119221"/>
                </a:lnTo>
                <a:lnTo>
                  <a:pt x="182636" y="101465"/>
                </a:lnTo>
                <a:lnTo>
                  <a:pt x="182636" y="10146"/>
                </a:lnTo>
                <a:lnTo>
                  <a:pt x="147124" y="30439"/>
                </a:lnTo>
                <a:lnTo>
                  <a:pt x="139577" y="25398"/>
                </a:lnTo>
                <a:cubicBezTo>
                  <a:pt x="134568" y="22069"/>
                  <a:pt x="128702" y="20293"/>
                  <a:pt x="122677" y="20293"/>
                </a:cubicBezTo>
                <a:lnTo>
                  <a:pt x="100355" y="20293"/>
                </a:lnTo>
                <a:cubicBezTo>
                  <a:pt x="100006" y="20293"/>
                  <a:pt x="99626" y="20293"/>
                  <a:pt x="99277" y="20325"/>
                </a:cubicBezTo>
                <a:cubicBezTo>
                  <a:pt x="93918" y="20610"/>
                  <a:pt x="88877" y="23020"/>
                  <a:pt x="85262" y="27015"/>
                </a:cubicBezTo>
                <a:close/>
                <a:moveTo>
                  <a:pt x="36971" y="57930"/>
                </a:moveTo>
                <a:lnTo>
                  <a:pt x="70835" y="20293"/>
                </a:lnTo>
                <a:lnTo>
                  <a:pt x="58279" y="20293"/>
                </a:lnTo>
                <a:cubicBezTo>
                  <a:pt x="50193" y="20293"/>
                  <a:pt x="42457" y="23495"/>
                  <a:pt x="36749" y="29203"/>
                </a:cubicBezTo>
                <a:lnTo>
                  <a:pt x="35513" y="30439"/>
                </a:lnTo>
                <a:lnTo>
                  <a:pt x="0" y="10146"/>
                </a:lnTo>
                <a:lnTo>
                  <a:pt x="0" y="101465"/>
                </a:lnTo>
                <a:lnTo>
                  <a:pt x="49591" y="142780"/>
                </a:lnTo>
                <a:cubicBezTo>
                  <a:pt x="56884" y="148868"/>
                  <a:pt x="66079" y="152197"/>
                  <a:pt x="75560" y="152197"/>
                </a:cubicBezTo>
                <a:lnTo>
                  <a:pt x="80538" y="152197"/>
                </a:lnTo>
                <a:lnTo>
                  <a:pt x="78318" y="149978"/>
                </a:lnTo>
                <a:cubicBezTo>
                  <a:pt x="75338" y="146997"/>
                  <a:pt x="75338" y="142177"/>
                  <a:pt x="78318" y="139229"/>
                </a:cubicBezTo>
                <a:cubicBezTo>
                  <a:pt x="81299" y="136280"/>
                  <a:pt x="86118" y="136248"/>
                  <a:pt x="89067" y="139229"/>
                </a:cubicBezTo>
                <a:lnTo>
                  <a:pt x="102067" y="152229"/>
                </a:lnTo>
                <a:lnTo>
                  <a:pt x="104921" y="152229"/>
                </a:lnTo>
                <a:cubicBezTo>
                  <a:pt x="110977" y="152229"/>
                  <a:pt x="116906" y="150865"/>
                  <a:pt x="122297" y="148329"/>
                </a:cubicBezTo>
                <a:lnTo>
                  <a:pt x="113831" y="139831"/>
                </a:lnTo>
                <a:cubicBezTo>
                  <a:pt x="110850" y="136851"/>
                  <a:pt x="110850" y="132031"/>
                  <a:pt x="113831" y="129082"/>
                </a:cubicBezTo>
                <a:cubicBezTo>
                  <a:pt x="116811" y="126133"/>
                  <a:pt x="121631" y="126102"/>
                  <a:pt x="124580" y="129082"/>
                </a:cubicBezTo>
                <a:lnTo>
                  <a:pt x="134726" y="139229"/>
                </a:lnTo>
                <a:lnTo>
                  <a:pt x="140275" y="133680"/>
                </a:lnTo>
                <a:cubicBezTo>
                  <a:pt x="143097" y="130858"/>
                  <a:pt x="143921" y="126767"/>
                  <a:pt x="142685" y="123185"/>
                </a:cubicBezTo>
                <a:lnTo>
                  <a:pt x="98960" y="79808"/>
                </a:lnTo>
                <a:lnTo>
                  <a:pt x="94235" y="84533"/>
                </a:lnTo>
                <a:cubicBezTo>
                  <a:pt x="78603" y="100165"/>
                  <a:pt x="53301" y="100165"/>
                  <a:pt x="37669" y="84533"/>
                </a:cubicBezTo>
                <a:cubicBezTo>
                  <a:pt x="30376" y="77240"/>
                  <a:pt x="30091" y="65540"/>
                  <a:pt x="36971" y="57898"/>
                </a:cubicBez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22" name="Text 20"/>
          <p:cNvSpPr/>
          <p:nvPr/>
        </p:nvSpPr>
        <p:spPr>
          <a:xfrm>
            <a:off x="6609189" y="1339334"/>
            <a:ext cx="5169723" cy="22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8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Trust &amp; Protect Yourself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64755" y="1696490"/>
            <a:ext cx="5332985" cy="941593"/>
          </a:xfrm>
          <a:custGeom>
            <a:avLst/>
            <a:gdLst/>
            <a:ahLst/>
            <a:cxnLst/>
            <a:rect l="l" t="t" r="r" b="b"/>
            <a:pathLst>
              <a:path w="5332985" h="941593">
                <a:moveTo>
                  <a:pt x="64942" y="0"/>
                </a:moveTo>
                <a:lnTo>
                  <a:pt x="5268044" y="0"/>
                </a:lnTo>
                <a:cubicBezTo>
                  <a:pt x="5303910" y="0"/>
                  <a:pt x="5332985" y="29075"/>
                  <a:pt x="5332985" y="64942"/>
                </a:cubicBezTo>
                <a:lnTo>
                  <a:pt x="5332985" y="876651"/>
                </a:lnTo>
                <a:cubicBezTo>
                  <a:pt x="5332985" y="912517"/>
                  <a:pt x="5303910" y="941593"/>
                  <a:pt x="5268044" y="941593"/>
                </a:cubicBezTo>
                <a:lnTo>
                  <a:pt x="64942" y="941593"/>
                </a:lnTo>
                <a:cubicBezTo>
                  <a:pt x="29075" y="941593"/>
                  <a:pt x="0" y="912517"/>
                  <a:pt x="0" y="876651"/>
                </a:cubicBezTo>
                <a:lnTo>
                  <a:pt x="0" y="64942"/>
                </a:lnTo>
                <a:cubicBezTo>
                  <a:pt x="0" y="29099"/>
                  <a:pt x="29099" y="0"/>
                  <a:pt x="64942" y="0"/>
                </a:cubicBezTo>
                <a:close/>
              </a:path>
            </a:pathLst>
          </a:custGeom>
          <a:solidFill>
            <a:srgbClr val="2D5A3D">
              <a:alpha val="5098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514922" y="1842599"/>
            <a:ext cx="162344" cy="162344"/>
          </a:xfrm>
          <a:custGeom>
            <a:avLst/>
            <a:gdLst/>
            <a:ahLst/>
            <a:cxnLst/>
            <a:rect l="l" t="t" r="r" b="b"/>
            <a:pathLst>
              <a:path w="162344" h="162344">
                <a:moveTo>
                  <a:pt x="76416" y="27617"/>
                </a:moveTo>
                <a:lnTo>
                  <a:pt x="81172" y="34181"/>
                </a:lnTo>
                <a:lnTo>
                  <a:pt x="85928" y="27617"/>
                </a:lnTo>
                <a:cubicBezTo>
                  <a:pt x="93855" y="16647"/>
                  <a:pt x="106601" y="10146"/>
                  <a:pt x="120141" y="10146"/>
                </a:cubicBezTo>
                <a:cubicBezTo>
                  <a:pt x="143446" y="10146"/>
                  <a:pt x="162344" y="29044"/>
                  <a:pt x="162344" y="52349"/>
                </a:cubicBezTo>
                <a:lnTo>
                  <a:pt x="162344" y="53174"/>
                </a:lnTo>
                <a:cubicBezTo>
                  <a:pt x="162344" y="88750"/>
                  <a:pt x="117984" y="130065"/>
                  <a:pt x="94838" y="147726"/>
                </a:cubicBezTo>
                <a:cubicBezTo>
                  <a:pt x="90906" y="150707"/>
                  <a:pt x="86086" y="152197"/>
                  <a:pt x="81172" y="152197"/>
                </a:cubicBezTo>
                <a:cubicBezTo>
                  <a:pt x="76257" y="152197"/>
                  <a:pt x="71406" y="150739"/>
                  <a:pt x="67506" y="147726"/>
                </a:cubicBezTo>
                <a:cubicBezTo>
                  <a:pt x="44359" y="130065"/>
                  <a:pt x="0" y="88750"/>
                  <a:pt x="0" y="53174"/>
                </a:cubicBezTo>
                <a:lnTo>
                  <a:pt x="0" y="52349"/>
                </a:lnTo>
                <a:cubicBezTo>
                  <a:pt x="0" y="29044"/>
                  <a:pt x="18898" y="10146"/>
                  <a:pt x="42203" y="10146"/>
                </a:cubicBezTo>
                <a:cubicBezTo>
                  <a:pt x="55742" y="10146"/>
                  <a:pt x="68489" y="16647"/>
                  <a:pt x="76416" y="27617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25" name="Text 23"/>
          <p:cNvSpPr/>
          <p:nvPr/>
        </p:nvSpPr>
        <p:spPr>
          <a:xfrm>
            <a:off x="6762496" y="1826365"/>
            <a:ext cx="1818248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Trust with Your Audience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94629" y="2086115"/>
            <a:ext cx="5138173" cy="422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3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Transparency builds credibility. Readers and reviewers appreciate honesty about your research process.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64755" y="2767957"/>
            <a:ext cx="5332985" cy="941593"/>
          </a:xfrm>
          <a:custGeom>
            <a:avLst/>
            <a:gdLst/>
            <a:ahLst/>
            <a:cxnLst/>
            <a:rect l="l" t="t" r="r" b="b"/>
            <a:pathLst>
              <a:path w="5332985" h="941593">
                <a:moveTo>
                  <a:pt x="64942" y="0"/>
                </a:moveTo>
                <a:lnTo>
                  <a:pt x="5268044" y="0"/>
                </a:lnTo>
                <a:cubicBezTo>
                  <a:pt x="5303910" y="0"/>
                  <a:pt x="5332985" y="29075"/>
                  <a:pt x="5332985" y="64942"/>
                </a:cubicBezTo>
                <a:lnTo>
                  <a:pt x="5332985" y="876651"/>
                </a:lnTo>
                <a:cubicBezTo>
                  <a:pt x="5332985" y="912517"/>
                  <a:pt x="5303910" y="941593"/>
                  <a:pt x="5268044" y="941593"/>
                </a:cubicBezTo>
                <a:lnTo>
                  <a:pt x="64942" y="941593"/>
                </a:lnTo>
                <a:cubicBezTo>
                  <a:pt x="29075" y="941593"/>
                  <a:pt x="0" y="912517"/>
                  <a:pt x="0" y="876651"/>
                </a:cubicBezTo>
                <a:lnTo>
                  <a:pt x="0" y="64942"/>
                </a:lnTo>
                <a:cubicBezTo>
                  <a:pt x="0" y="29099"/>
                  <a:pt x="29099" y="0"/>
                  <a:pt x="64942" y="0"/>
                </a:cubicBezTo>
                <a:close/>
              </a:path>
            </a:pathLst>
          </a:custGeom>
          <a:solidFill>
            <a:srgbClr val="7D9A78">
              <a:alpha val="5098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504776" y="2914067"/>
            <a:ext cx="182636" cy="162344"/>
          </a:xfrm>
          <a:custGeom>
            <a:avLst/>
            <a:gdLst/>
            <a:ahLst/>
            <a:cxnLst/>
            <a:rect l="l" t="t" r="r" b="b"/>
            <a:pathLst>
              <a:path w="182636" h="162344">
                <a:moveTo>
                  <a:pt x="53776" y="48640"/>
                </a:moveTo>
                <a:lnTo>
                  <a:pt x="47847" y="42710"/>
                </a:lnTo>
                <a:cubicBezTo>
                  <a:pt x="43883" y="38747"/>
                  <a:pt x="43883" y="32310"/>
                  <a:pt x="47847" y="28347"/>
                </a:cubicBezTo>
                <a:lnTo>
                  <a:pt x="84216" y="-8054"/>
                </a:lnTo>
                <a:cubicBezTo>
                  <a:pt x="88179" y="-12017"/>
                  <a:pt x="94616" y="-12017"/>
                  <a:pt x="98579" y="-8054"/>
                </a:cubicBezTo>
                <a:lnTo>
                  <a:pt x="104509" y="-2093"/>
                </a:lnTo>
                <a:cubicBezTo>
                  <a:pt x="108472" y="1871"/>
                  <a:pt x="108472" y="8307"/>
                  <a:pt x="104509" y="12271"/>
                </a:cubicBezTo>
                <a:lnTo>
                  <a:pt x="68140" y="48640"/>
                </a:lnTo>
                <a:cubicBezTo>
                  <a:pt x="64176" y="52603"/>
                  <a:pt x="57740" y="52603"/>
                  <a:pt x="53776" y="48640"/>
                </a:cubicBezTo>
                <a:close/>
                <a:moveTo>
                  <a:pt x="87513" y="67125"/>
                </a:moveTo>
                <a:lnTo>
                  <a:pt x="77557" y="57169"/>
                </a:lnTo>
                <a:lnTo>
                  <a:pt x="113070" y="21656"/>
                </a:lnTo>
                <a:lnTo>
                  <a:pt x="150929" y="59515"/>
                </a:lnTo>
                <a:lnTo>
                  <a:pt x="115416" y="95028"/>
                </a:lnTo>
                <a:lnTo>
                  <a:pt x="105460" y="85072"/>
                </a:lnTo>
                <a:lnTo>
                  <a:pt x="31898" y="158634"/>
                </a:lnTo>
                <a:cubicBezTo>
                  <a:pt x="26952" y="163580"/>
                  <a:pt x="18930" y="163580"/>
                  <a:pt x="13951" y="158634"/>
                </a:cubicBezTo>
                <a:cubicBezTo>
                  <a:pt x="8973" y="153687"/>
                  <a:pt x="9005" y="145665"/>
                  <a:pt x="13951" y="140687"/>
                </a:cubicBezTo>
                <a:lnTo>
                  <a:pt x="87513" y="67125"/>
                </a:lnTo>
                <a:close/>
                <a:moveTo>
                  <a:pt x="123945" y="118777"/>
                </a:moveTo>
                <a:cubicBezTo>
                  <a:pt x="119982" y="114814"/>
                  <a:pt x="119982" y="108377"/>
                  <a:pt x="123945" y="104414"/>
                </a:cubicBezTo>
                <a:lnTo>
                  <a:pt x="160314" y="68045"/>
                </a:lnTo>
                <a:cubicBezTo>
                  <a:pt x="164278" y="64081"/>
                  <a:pt x="170714" y="64081"/>
                  <a:pt x="174678" y="68045"/>
                </a:cubicBezTo>
                <a:lnTo>
                  <a:pt x="180607" y="73974"/>
                </a:lnTo>
                <a:cubicBezTo>
                  <a:pt x="184571" y="77938"/>
                  <a:pt x="184571" y="84374"/>
                  <a:pt x="180607" y="88338"/>
                </a:cubicBezTo>
                <a:lnTo>
                  <a:pt x="144238" y="124738"/>
                </a:lnTo>
                <a:cubicBezTo>
                  <a:pt x="140275" y="128702"/>
                  <a:pt x="133838" y="128702"/>
                  <a:pt x="129875" y="124738"/>
                </a:cubicBezTo>
                <a:lnTo>
                  <a:pt x="123945" y="118809"/>
                </a:ln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29" name="Text 27"/>
          <p:cNvSpPr/>
          <p:nvPr/>
        </p:nvSpPr>
        <p:spPr>
          <a:xfrm>
            <a:off x="6762496" y="2897832"/>
            <a:ext cx="2021177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 Yourself from Accusations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94629" y="3157582"/>
            <a:ext cx="5138173" cy="422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3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Proper disclosure protects you from accusations of dishonesty or academic misconduct. It's a safeguard for your reputation.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94294" y="4009885"/>
            <a:ext cx="5673907" cy="1623435"/>
          </a:xfrm>
          <a:custGeom>
            <a:avLst/>
            <a:gdLst/>
            <a:ahLst/>
            <a:cxnLst/>
            <a:rect l="l" t="t" r="r" b="b"/>
            <a:pathLst>
              <a:path w="5673907" h="1623435">
                <a:moveTo>
                  <a:pt x="64937" y="0"/>
                </a:moveTo>
                <a:lnTo>
                  <a:pt x="5608969" y="0"/>
                </a:lnTo>
                <a:cubicBezTo>
                  <a:pt x="5644833" y="0"/>
                  <a:pt x="5673907" y="29073"/>
                  <a:pt x="5673907" y="64937"/>
                </a:cubicBezTo>
                <a:lnTo>
                  <a:pt x="5673907" y="1558498"/>
                </a:lnTo>
                <a:cubicBezTo>
                  <a:pt x="5673907" y="1594362"/>
                  <a:pt x="5644833" y="1623435"/>
                  <a:pt x="5608969" y="1623435"/>
                </a:cubicBezTo>
                <a:lnTo>
                  <a:pt x="64937" y="1623435"/>
                </a:lnTo>
                <a:cubicBezTo>
                  <a:pt x="29073" y="1623435"/>
                  <a:pt x="0" y="1594362"/>
                  <a:pt x="0" y="1558498"/>
                </a:cubicBezTo>
                <a:lnTo>
                  <a:pt x="0" y="64937"/>
                </a:lnTo>
                <a:cubicBezTo>
                  <a:pt x="0" y="29097"/>
                  <a:pt x="29097" y="0"/>
                  <a:pt x="64937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32" name="Shape 30"/>
          <p:cNvSpPr/>
          <p:nvPr/>
        </p:nvSpPr>
        <p:spPr>
          <a:xfrm>
            <a:off x="6395194" y="4212815"/>
            <a:ext cx="109582" cy="146109"/>
          </a:xfrm>
          <a:custGeom>
            <a:avLst/>
            <a:gdLst/>
            <a:ahLst/>
            <a:cxnLst/>
            <a:rect l="l" t="t" r="r" b="b"/>
            <a:pathLst>
              <a:path w="109582" h="146109">
                <a:moveTo>
                  <a:pt x="83585" y="109582"/>
                </a:moveTo>
                <a:cubicBezTo>
                  <a:pt x="85668" y="103218"/>
                  <a:pt x="89834" y="97454"/>
                  <a:pt x="94543" y="92488"/>
                </a:cubicBezTo>
                <a:cubicBezTo>
                  <a:pt x="103875" y="82672"/>
                  <a:pt x="109582" y="69402"/>
                  <a:pt x="109582" y="54791"/>
                </a:cubicBezTo>
                <a:cubicBezTo>
                  <a:pt x="109582" y="24542"/>
                  <a:pt x="85040" y="0"/>
                  <a:pt x="54791" y="0"/>
                </a:cubicBezTo>
                <a:cubicBezTo>
                  <a:pt x="24542" y="0"/>
                  <a:pt x="0" y="24542"/>
                  <a:pt x="0" y="54791"/>
                </a:cubicBezTo>
                <a:cubicBezTo>
                  <a:pt x="0" y="69402"/>
                  <a:pt x="5707" y="82672"/>
                  <a:pt x="15039" y="92488"/>
                </a:cubicBezTo>
                <a:cubicBezTo>
                  <a:pt x="19748" y="97454"/>
                  <a:pt x="23943" y="103218"/>
                  <a:pt x="25997" y="109582"/>
                </a:cubicBezTo>
                <a:lnTo>
                  <a:pt x="83556" y="109582"/>
                </a:lnTo>
                <a:close/>
                <a:moveTo>
                  <a:pt x="82186" y="123280"/>
                </a:moveTo>
                <a:lnTo>
                  <a:pt x="27395" y="123280"/>
                </a:lnTo>
                <a:lnTo>
                  <a:pt x="27395" y="127846"/>
                </a:lnTo>
                <a:cubicBezTo>
                  <a:pt x="27395" y="140459"/>
                  <a:pt x="37612" y="150675"/>
                  <a:pt x="50225" y="150675"/>
                </a:cubicBezTo>
                <a:lnTo>
                  <a:pt x="59357" y="150675"/>
                </a:lnTo>
                <a:cubicBezTo>
                  <a:pt x="71970" y="150675"/>
                  <a:pt x="82186" y="140459"/>
                  <a:pt x="82186" y="127846"/>
                </a:cubicBezTo>
                <a:lnTo>
                  <a:pt x="82186" y="123280"/>
                </a:lnTo>
                <a:close/>
                <a:moveTo>
                  <a:pt x="52508" y="31961"/>
                </a:moveTo>
                <a:cubicBezTo>
                  <a:pt x="41150" y="31961"/>
                  <a:pt x="31961" y="41150"/>
                  <a:pt x="31961" y="52508"/>
                </a:cubicBezTo>
                <a:cubicBezTo>
                  <a:pt x="31961" y="56303"/>
                  <a:pt x="28908" y="59357"/>
                  <a:pt x="25113" y="59357"/>
                </a:cubicBezTo>
                <a:cubicBezTo>
                  <a:pt x="21317" y="59357"/>
                  <a:pt x="18264" y="56303"/>
                  <a:pt x="18264" y="52508"/>
                </a:cubicBezTo>
                <a:cubicBezTo>
                  <a:pt x="18264" y="33588"/>
                  <a:pt x="33588" y="18264"/>
                  <a:pt x="52508" y="18264"/>
                </a:cubicBezTo>
                <a:cubicBezTo>
                  <a:pt x="56303" y="18264"/>
                  <a:pt x="59357" y="21317"/>
                  <a:pt x="59357" y="25113"/>
                </a:cubicBezTo>
                <a:cubicBezTo>
                  <a:pt x="59357" y="28908"/>
                  <a:pt x="56303" y="31961"/>
                  <a:pt x="52508" y="31961"/>
                </a:cubicBezTo>
                <a:close/>
              </a:path>
            </a:pathLst>
          </a:custGeom>
          <a:solidFill>
            <a:srgbClr val="FAF8F3"/>
          </a:solidFill>
          <a:ln/>
        </p:spPr>
      </p:sp>
      <p:sp>
        <p:nvSpPr>
          <p:cNvPr id="33" name="Text 31"/>
          <p:cNvSpPr/>
          <p:nvPr/>
        </p:nvSpPr>
        <p:spPr>
          <a:xfrm>
            <a:off x="6584837" y="4172229"/>
            <a:ext cx="5194075" cy="22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0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to Disclose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80989" y="4529385"/>
            <a:ext cx="113640" cy="129875"/>
          </a:xfrm>
          <a:custGeom>
            <a:avLst/>
            <a:gdLst/>
            <a:ahLst/>
            <a:cxnLst/>
            <a:rect l="l" t="t" r="r" b="b"/>
            <a:pathLst>
              <a:path w="113640" h="129875">
                <a:moveTo>
                  <a:pt x="110292" y="17782"/>
                </a:moveTo>
                <a:cubicBezTo>
                  <a:pt x="113920" y="20420"/>
                  <a:pt x="114731" y="25493"/>
                  <a:pt x="112093" y="29120"/>
                </a:cubicBezTo>
                <a:lnTo>
                  <a:pt x="47156" y="118409"/>
                </a:lnTo>
                <a:cubicBezTo>
                  <a:pt x="45761" y="120337"/>
                  <a:pt x="43604" y="121529"/>
                  <a:pt x="41220" y="121732"/>
                </a:cubicBezTo>
                <a:cubicBezTo>
                  <a:pt x="38836" y="121935"/>
                  <a:pt x="36527" y="121047"/>
                  <a:pt x="34853" y="119373"/>
                </a:cubicBezTo>
                <a:lnTo>
                  <a:pt x="2384" y="86905"/>
                </a:lnTo>
                <a:cubicBezTo>
                  <a:pt x="-786" y="83734"/>
                  <a:pt x="-786" y="78584"/>
                  <a:pt x="2384" y="75414"/>
                </a:cubicBezTo>
                <a:cubicBezTo>
                  <a:pt x="5555" y="72243"/>
                  <a:pt x="10705" y="72243"/>
                  <a:pt x="13875" y="75414"/>
                </a:cubicBezTo>
                <a:lnTo>
                  <a:pt x="39622" y="101160"/>
                </a:lnTo>
                <a:lnTo>
                  <a:pt x="98979" y="19557"/>
                </a:lnTo>
                <a:cubicBezTo>
                  <a:pt x="101617" y="15930"/>
                  <a:pt x="106690" y="15118"/>
                  <a:pt x="110318" y="17756"/>
                </a:cubicBezTo>
                <a:close/>
              </a:path>
            </a:pathLst>
          </a:custGeom>
          <a:solidFill>
            <a:srgbClr val="FAF8F3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918" y="4496916"/>
            <a:ext cx="1444858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Which AI tools you used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80989" y="4789134"/>
            <a:ext cx="113640" cy="129875"/>
          </a:xfrm>
          <a:custGeom>
            <a:avLst/>
            <a:gdLst/>
            <a:ahLst/>
            <a:cxnLst/>
            <a:rect l="l" t="t" r="r" b="b"/>
            <a:pathLst>
              <a:path w="113640" h="129875">
                <a:moveTo>
                  <a:pt x="110292" y="17782"/>
                </a:moveTo>
                <a:cubicBezTo>
                  <a:pt x="113920" y="20420"/>
                  <a:pt x="114731" y="25493"/>
                  <a:pt x="112093" y="29120"/>
                </a:cubicBezTo>
                <a:lnTo>
                  <a:pt x="47156" y="118409"/>
                </a:lnTo>
                <a:cubicBezTo>
                  <a:pt x="45761" y="120337"/>
                  <a:pt x="43604" y="121529"/>
                  <a:pt x="41220" y="121732"/>
                </a:cubicBezTo>
                <a:cubicBezTo>
                  <a:pt x="38836" y="121935"/>
                  <a:pt x="36527" y="121047"/>
                  <a:pt x="34853" y="119373"/>
                </a:cubicBezTo>
                <a:lnTo>
                  <a:pt x="2384" y="86905"/>
                </a:lnTo>
                <a:cubicBezTo>
                  <a:pt x="-786" y="83734"/>
                  <a:pt x="-786" y="78584"/>
                  <a:pt x="2384" y="75414"/>
                </a:cubicBezTo>
                <a:cubicBezTo>
                  <a:pt x="5555" y="72243"/>
                  <a:pt x="10705" y="72243"/>
                  <a:pt x="13875" y="75414"/>
                </a:cubicBezTo>
                <a:lnTo>
                  <a:pt x="39622" y="101160"/>
                </a:lnTo>
                <a:lnTo>
                  <a:pt x="98979" y="19557"/>
                </a:lnTo>
                <a:cubicBezTo>
                  <a:pt x="101617" y="15930"/>
                  <a:pt x="106690" y="15118"/>
                  <a:pt x="110318" y="17756"/>
                </a:cubicBezTo>
                <a:close/>
              </a:path>
            </a:pathLst>
          </a:custGeom>
          <a:solidFill>
            <a:srgbClr val="FAF8F3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918" y="4756666"/>
            <a:ext cx="2800426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you used them (brainstorming, editing, etc.)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80989" y="5048884"/>
            <a:ext cx="113640" cy="129875"/>
          </a:xfrm>
          <a:custGeom>
            <a:avLst/>
            <a:gdLst/>
            <a:ahLst/>
            <a:cxnLst/>
            <a:rect l="l" t="t" r="r" b="b"/>
            <a:pathLst>
              <a:path w="113640" h="129875">
                <a:moveTo>
                  <a:pt x="110292" y="17782"/>
                </a:moveTo>
                <a:cubicBezTo>
                  <a:pt x="113920" y="20420"/>
                  <a:pt x="114731" y="25493"/>
                  <a:pt x="112093" y="29120"/>
                </a:cubicBezTo>
                <a:lnTo>
                  <a:pt x="47156" y="118409"/>
                </a:lnTo>
                <a:cubicBezTo>
                  <a:pt x="45761" y="120337"/>
                  <a:pt x="43604" y="121529"/>
                  <a:pt x="41220" y="121732"/>
                </a:cubicBezTo>
                <a:cubicBezTo>
                  <a:pt x="38836" y="121935"/>
                  <a:pt x="36527" y="121047"/>
                  <a:pt x="34853" y="119373"/>
                </a:cubicBezTo>
                <a:lnTo>
                  <a:pt x="2384" y="86905"/>
                </a:lnTo>
                <a:cubicBezTo>
                  <a:pt x="-786" y="83734"/>
                  <a:pt x="-786" y="78584"/>
                  <a:pt x="2384" y="75414"/>
                </a:cubicBezTo>
                <a:cubicBezTo>
                  <a:pt x="5555" y="72243"/>
                  <a:pt x="10705" y="72243"/>
                  <a:pt x="13875" y="75414"/>
                </a:cubicBezTo>
                <a:lnTo>
                  <a:pt x="39622" y="101160"/>
                </a:lnTo>
                <a:lnTo>
                  <a:pt x="98979" y="19557"/>
                </a:lnTo>
                <a:cubicBezTo>
                  <a:pt x="101617" y="15930"/>
                  <a:pt x="106690" y="15118"/>
                  <a:pt x="110318" y="17756"/>
                </a:cubicBezTo>
                <a:close/>
              </a:path>
            </a:pathLst>
          </a:custGeom>
          <a:solidFill>
            <a:srgbClr val="FAF8F3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918" y="5016415"/>
            <a:ext cx="1915654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Which sections were AI-assisted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80989" y="5308634"/>
            <a:ext cx="113640" cy="129875"/>
          </a:xfrm>
          <a:custGeom>
            <a:avLst/>
            <a:gdLst/>
            <a:ahLst/>
            <a:cxnLst/>
            <a:rect l="l" t="t" r="r" b="b"/>
            <a:pathLst>
              <a:path w="113640" h="129875">
                <a:moveTo>
                  <a:pt x="110292" y="17782"/>
                </a:moveTo>
                <a:cubicBezTo>
                  <a:pt x="113920" y="20420"/>
                  <a:pt x="114731" y="25493"/>
                  <a:pt x="112093" y="29120"/>
                </a:cubicBezTo>
                <a:lnTo>
                  <a:pt x="47156" y="118409"/>
                </a:lnTo>
                <a:cubicBezTo>
                  <a:pt x="45761" y="120337"/>
                  <a:pt x="43604" y="121529"/>
                  <a:pt x="41220" y="121732"/>
                </a:cubicBezTo>
                <a:cubicBezTo>
                  <a:pt x="38836" y="121935"/>
                  <a:pt x="36527" y="121047"/>
                  <a:pt x="34853" y="119373"/>
                </a:cubicBezTo>
                <a:lnTo>
                  <a:pt x="2384" y="86905"/>
                </a:lnTo>
                <a:cubicBezTo>
                  <a:pt x="-786" y="83734"/>
                  <a:pt x="-786" y="78584"/>
                  <a:pt x="2384" y="75414"/>
                </a:cubicBezTo>
                <a:cubicBezTo>
                  <a:pt x="5555" y="72243"/>
                  <a:pt x="10705" y="72243"/>
                  <a:pt x="13875" y="75414"/>
                </a:cubicBezTo>
                <a:lnTo>
                  <a:pt x="39622" y="101160"/>
                </a:lnTo>
                <a:lnTo>
                  <a:pt x="98979" y="19557"/>
                </a:lnTo>
                <a:cubicBezTo>
                  <a:pt x="101617" y="15930"/>
                  <a:pt x="106690" y="15118"/>
                  <a:pt x="110318" y="17756"/>
                </a:cubicBezTo>
                <a:close/>
              </a:path>
            </a:pathLst>
          </a:custGeom>
          <a:solidFill>
            <a:srgbClr val="FAF8F3"/>
          </a:solidFill>
          <a:ln/>
        </p:spPr>
      </p:sp>
      <p:sp>
        <p:nvSpPr>
          <p:cNvPr id="41" name="Text 39"/>
          <p:cNvSpPr/>
          <p:nvPr/>
        </p:nvSpPr>
        <p:spPr>
          <a:xfrm>
            <a:off x="6583918" y="5276165"/>
            <a:ext cx="1639670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you verified AI outputs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40921" y="5763196"/>
            <a:ext cx="11526391" cy="681843"/>
          </a:xfrm>
          <a:custGeom>
            <a:avLst/>
            <a:gdLst/>
            <a:ahLst/>
            <a:cxnLst/>
            <a:rect l="l" t="t" r="r" b="b"/>
            <a:pathLst>
              <a:path w="11526391" h="681843">
                <a:moveTo>
                  <a:pt x="32469" y="0"/>
                </a:moveTo>
                <a:lnTo>
                  <a:pt x="11461453" y="0"/>
                </a:lnTo>
                <a:cubicBezTo>
                  <a:pt x="11497317" y="0"/>
                  <a:pt x="11526391" y="29074"/>
                  <a:pt x="11526391" y="64939"/>
                </a:cubicBezTo>
                <a:lnTo>
                  <a:pt x="11526391" y="616904"/>
                </a:lnTo>
                <a:cubicBezTo>
                  <a:pt x="11526391" y="652769"/>
                  <a:pt x="11497317" y="681843"/>
                  <a:pt x="11461453" y="681843"/>
                </a:cubicBezTo>
                <a:lnTo>
                  <a:pt x="32469" y="681843"/>
                </a:lnTo>
                <a:cubicBezTo>
                  <a:pt x="14537" y="681843"/>
                  <a:pt x="0" y="667306"/>
                  <a:pt x="0" y="649374"/>
                </a:cubicBezTo>
                <a:lnTo>
                  <a:pt x="0" y="32469"/>
                </a:lnTo>
                <a:cubicBezTo>
                  <a:pt x="0" y="14549"/>
                  <a:pt x="14549" y="0"/>
                  <a:pt x="32469" y="0"/>
                </a:cubicBezTo>
                <a:close/>
              </a:path>
            </a:pathLst>
          </a:custGeom>
          <a:solidFill>
            <a:srgbClr val="8B7355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40921" y="5763196"/>
            <a:ext cx="32469" cy="681843"/>
          </a:xfrm>
          <a:custGeom>
            <a:avLst/>
            <a:gdLst/>
            <a:ahLst/>
            <a:cxnLst/>
            <a:rect l="l" t="t" r="r" b="b"/>
            <a:pathLst>
              <a:path w="32469" h="681843">
                <a:moveTo>
                  <a:pt x="32469" y="0"/>
                </a:moveTo>
                <a:lnTo>
                  <a:pt x="32469" y="0"/>
                </a:lnTo>
                <a:lnTo>
                  <a:pt x="32469" y="681843"/>
                </a:lnTo>
                <a:lnTo>
                  <a:pt x="32469" y="681843"/>
                </a:lnTo>
                <a:cubicBezTo>
                  <a:pt x="14537" y="681843"/>
                  <a:pt x="0" y="667306"/>
                  <a:pt x="0" y="649374"/>
                </a:cubicBezTo>
                <a:lnTo>
                  <a:pt x="0" y="32469"/>
                </a:lnTo>
                <a:cubicBezTo>
                  <a:pt x="0" y="14549"/>
                  <a:pt x="14549" y="0"/>
                  <a:pt x="32469" y="0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44" name="Shape 42"/>
          <p:cNvSpPr/>
          <p:nvPr/>
        </p:nvSpPr>
        <p:spPr>
          <a:xfrm>
            <a:off x="491089" y="5925539"/>
            <a:ext cx="162344" cy="162344"/>
          </a:xfrm>
          <a:custGeom>
            <a:avLst/>
            <a:gdLst/>
            <a:ahLst/>
            <a:cxnLst/>
            <a:rect l="l" t="t" r="r" b="b"/>
            <a:pathLst>
              <a:path w="162344" h="162344">
                <a:moveTo>
                  <a:pt x="81172" y="162344"/>
                </a:moveTo>
                <a:cubicBezTo>
                  <a:pt x="125972" y="162344"/>
                  <a:pt x="162344" y="125972"/>
                  <a:pt x="162344" y="81172"/>
                </a:cubicBezTo>
                <a:cubicBezTo>
                  <a:pt x="162344" y="36372"/>
                  <a:pt x="125972" y="0"/>
                  <a:pt x="81172" y="0"/>
                </a:cubicBezTo>
                <a:cubicBezTo>
                  <a:pt x="36372" y="0"/>
                  <a:pt x="0" y="36372"/>
                  <a:pt x="0" y="81172"/>
                </a:cubicBezTo>
                <a:cubicBezTo>
                  <a:pt x="0" y="125972"/>
                  <a:pt x="36372" y="162344"/>
                  <a:pt x="81172" y="162344"/>
                </a:cubicBezTo>
                <a:close/>
                <a:moveTo>
                  <a:pt x="81172" y="43123"/>
                </a:moveTo>
                <a:cubicBezTo>
                  <a:pt x="85389" y="43123"/>
                  <a:pt x="88782" y="46515"/>
                  <a:pt x="88782" y="50732"/>
                </a:cubicBezTo>
                <a:lnTo>
                  <a:pt x="88782" y="86245"/>
                </a:lnTo>
                <a:cubicBezTo>
                  <a:pt x="88782" y="90462"/>
                  <a:pt x="85389" y="93855"/>
                  <a:pt x="81172" y="93855"/>
                </a:cubicBezTo>
                <a:cubicBezTo>
                  <a:pt x="76955" y="93855"/>
                  <a:pt x="73562" y="90462"/>
                  <a:pt x="73562" y="86245"/>
                </a:cubicBezTo>
                <a:lnTo>
                  <a:pt x="73562" y="50732"/>
                </a:lnTo>
                <a:cubicBezTo>
                  <a:pt x="73562" y="46515"/>
                  <a:pt x="76955" y="43123"/>
                  <a:pt x="81172" y="43123"/>
                </a:cubicBezTo>
                <a:close/>
                <a:moveTo>
                  <a:pt x="72706" y="111611"/>
                </a:moveTo>
                <a:cubicBezTo>
                  <a:pt x="72513" y="108469"/>
                  <a:pt x="74080" y="105479"/>
                  <a:pt x="76774" y="103849"/>
                </a:cubicBezTo>
                <a:cubicBezTo>
                  <a:pt x="79468" y="102220"/>
                  <a:pt x="82844" y="102220"/>
                  <a:pt x="85538" y="103849"/>
                </a:cubicBezTo>
                <a:cubicBezTo>
                  <a:pt x="88231" y="105479"/>
                  <a:pt x="89799" y="108469"/>
                  <a:pt x="89606" y="111611"/>
                </a:cubicBezTo>
                <a:cubicBezTo>
                  <a:pt x="89799" y="114754"/>
                  <a:pt x="88231" y="117743"/>
                  <a:pt x="85538" y="119373"/>
                </a:cubicBezTo>
                <a:cubicBezTo>
                  <a:pt x="82844" y="121002"/>
                  <a:pt x="79468" y="121002"/>
                  <a:pt x="76774" y="119373"/>
                </a:cubicBezTo>
                <a:cubicBezTo>
                  <a:pt x="74080" y="117743"/>
                  <a:pt x="72513" y="114754"/>
                  <a:pt x="72706" y="111611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45" name="Text 43"/>
          <p:cNvSpPr/>
          <p:nvPr/>
        </p:nvSpPr>
        <p:spPr>
          <a:xfrm>
            <a:off x="756610" y="5893071"/>
            <a:ext cx="11047478" cy="422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3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 Note:</a:t>
            </a:r>
            <a:pPr>
              <a:lnSpc>
                <a:spcPct val="140000"/>
              </a:lnSpc>
            </a:pPr>
            <a:r>
              <a:rPr lang="en-US" sz="1023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works you intend to submit for publication, </a:t>
            </a:r>
            <a:pPr>
              <a:lnSpc>
                <a:spcPct val="140000"/>
              </a:lnSpc>
            </a:pPr>
            <a:r>
              <a:rPr lang="en-US" sz="1023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check that the journal or publisher allows AI use</a:t>
            </a:r>
            <a:pPr>
              <a:lnSpc>
                <a:spcPct val="140000"/>
              </a:lnSpc>
            </a:pPr>
            <a:r>
              <a:rPr lang="en-US" sz="1023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Those that permit AI will have specific requirements for how it should be acknowledged in the published work.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28746" y="6578972"/>
            <a:ext cx="1647787" cy="275984"/>
          </a:xfrm>
          <a:custGeom>
            <a:avLst/>
            <a:gdLst/>
            <a:ahLst/>
            <a:cxnLst/>
            <a:rect l="l" t="t" r="r" b="b"/>
            <a:pathLst>
              <a:path w="1647787" h="275984">
                <a:moveTo>
                  <a:pt x="0" y="0"/>
                </a:moveTo>
                <a:lnTo>
                  <a:pt x="1647787" y="0"/>
                </a:lnTo>
                <a:lnTo>
                  <a:pt x="1647787" y="275984"/>
                </a:lnTo>
                <a:lnTo>
                  <a:pt x="0" y="275984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90196"/>
            </a:srgbClr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4687" y="6574913"/>
            <a:ext cx="1688373" cy="267867"/>
          </a:xfrm>
          <a:prstGeom prst="rect">
            <a:avLst/>
          </a:prstGeom>
          <a:noFill/>
          <a:ln/>
        </p:spPr>
        <p:txBody>
          <a:bodyPr wrap="square" lIns="97406" tIns="64937" rIns="97406" bIns="64937" rtlCol="0" anchor="ctr"/>
          <a:lstStyle/>
          <a:p>
            <a:pPr>
              <a:lnSpc>
                <a:spcPct val="120000"/>
              </a:lnSpc>
            </a:pPr>
            <a:r>
              <a:rPr lang="en-US" sz="767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Transparency • Academic Integrity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779675" y="6636363"/>
            <a:ext cx="1144522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5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Disclosure builds trust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spc="88" kern="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Citation Guidelines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to Cite AI: APA, MLA, Chicago &amp; IEEE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5250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" name="Shape 3"/>
          <p:cNvSpPr/>
          <p:nvPr/>
        </p:nvSpPr>
        <p:spPr>
          <a:xfrm>
            <a:off x="321469" y="1146969"/>
            <a:ext cx="5675313" cy="2246313"/>
          </a:xfrm>
          <a:custGeom>
            <a:avLst/>
            <a:gdLst/>
            <a:ahLst/>
            <a:cxnLst/>
            <a:rect l="l" t="t" r="r" b="b"/>
            <a:pathLst>
              <a:path w="5675313" h="2246313">
                <a:moveTo>
                  <a:pt x="63503" y="0"/>
                </a:moveTo>
                <a:lnTo>
                  <a:pt x="5611809" y="0"/>
                </a:lnTo>
                <a:cubicBezTo>
                  <a:pt x="5646881" y="0"/>
                  <a:pt x="5675313" y="28431"/>
                  <a:pt x="5675313" y="63503"/>
                </a:cubicBezTo>
                <a:lnTo>
                  <a:pt x="5675313" y="2182809"/>
                </a:lnTo>
                <a:cubicBezTo>
                  <a:pt x="5675313" y="2217881"/>
                  <a:pt x="5646881" y="2246313"/>
                  <a:pt x="5611809" y="2246313"/>
                </a:cubicBezTo>
                <a:lnTo>
                  <a:pt x="63503" y="2246313"/>
                </a:lnTo>
                <a:cubicBezTo>
                  <a:pt x="28431" y="2246313"/>
                  <a:pt x="0" y="2217881"/>
                  <a:pt x="0" y="2182809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187" y="13096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55DFC"/>
          </a:solidFill>
          <a:ln/>
        </p:spPr>
      </p:sp>
      <p:sp>
        <p:nvSpPr>
          <p:cNvPr id="7" name="Text 5"/>
          <p:cNvSpPr/>
          <p:nvPr/>
        </p:nvSpPr>
        <p:spPr>
          <a:xfrm>
            <a:off x="444500" y="1309688"/>
            <a:ext cx="46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438" y="1389063"/>
            <a:ext cx="1166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APA 7th Edition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187" y="1817688"/>
            <a:ext cx="5349875" cy="571500"/>
          </a:xfrm>
          <a:custGeom>
            <a:avLst/>
            <a:gdLst/>
            <a:ahLst/>
            <a:cxnLst/>
            <a:rect l="l" t="t" r="r" b="b"/>
            <a:pathLst>
              <a:path w="5349875" h="571500">
                <a:moveTo>
                  <a:pt x="63499" y="0"/>
                </a:moveTo>
                <a:lnTo>
                  <a:pt x="5286376" y="0"/>
                </a:lnTo>
                <a:cubicBezTo>
                  <a:pt x="5321445" y="0"/>
                  <a:pt x="5349875" y="28430"/>
                  <a:pt x="5349875" y="63499"/>
                </a:cubicBezTo>
                <a:lnTo>
                  <a:pt x="5349875" y="508001"/>
                </a:lnTo>
                <a:cubicBezTo>
                  <a:pt x="5349875" y="543070"/>
                  <a:pt x="5321445" y="571500"/>
                  <a:pt x="528637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D5A3D">
              <a:alpha val="5098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79438" y="1928813"/>
            <a:ext cx="436314" cy="123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In-Text: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9438" y="2103438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(OpenAI, 2023)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187" y="2484438"/>
            <a:ext cx="5349875" cy="746125"/>
          </a:xfrm>
          <a:custGeom>
            <a:avLst/>
            <a:gdLst/>
            <a:ahLst/>
            <a:cxnLst/>
            <a:rect l="l" t="t" r="r" b="b"/>
            <a:pathLst>
              <a:path w="5349875" h="746125">
                <a:moveTo>
                  <a:pt x="63503" y="0"/>
                </a:moveTo>
                <a:lnTo>
                  <a:pt x="5286372" y="0"/>
                </a:lnTo>
                <a:cubicBezTo>
                  <a:pt x="5321444" y="0"/>
                  <a:pt x="5349875" y="28431"/>
                  <a:pt x="5349875" y="63503"/>
                </a:cubicBezTo>
                <a:lnTo>
                  <a:pt x="5349875" y="682622"/>
                </a:lnTo>
                <a:cubicBezTo>
                  <a:pt x="5349875" y="717694"/>
                  <a:pt x="5321444" y="746125"/>
                  <a:pt x="5286372" y="746125"/>
                </a:cubicBezTo>
                <a:lnTo>
                  <a:pt x="63503" y="746125"/>
                </a:lnTo>
                <a:cubicBezTo>
                  <a:pt x="28431" y="746125"/>
                  <a:pt x="0" y="717694"/>
                  <a:pt x="0" y="682622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7D9A78">
              <a:alpha val="5098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79438" y="2595563"/>
            <a:ext cx="757473" cy="123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Reference List: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9438" y="2770188"/>
            <a:ext cx="5214938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3D3A3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OpenAI. (2023). ChatGPT (Mar 14 version) [Large language model]. https://chat.openai.com/chat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1469" y="3524250"/>
            <a:ext cx="5675313" cy="2246313"/>
          </a:xfrm>
          <a:custGeom>
            <a:avLst/>
            <a:gdLst/>
            <a:ahLst/>
            <a:cxnLst/>
            <a:rect l="l" t="t" r="r" b="b"/>
            <a:pathLst>
              <a:path w="5675313" h="2246313">
                <a:moveTo>
                  <a:pt x="63503" y="0"/>
                </a:moveTo>
                <a:lnTo>
                  <a:pt x="5611809" y="0"/>
                </a:lnTo>
                <a:cubicBezTo>
                  <a:pt x="5646881" y="0"/>
                  <a:pt x="5675313" y="28431"/>
                  <a:pt x="5675313" y="63503"/>
                </a:cubicBezTo>
                <a:lnTo>
                  <a:pt x="5675313" y="2182809"/>
                </a:lnTo>
                <a:cubicBezTo>
                  <a:pt x="5675313" y="2217881"/>
                  <a:pt x="5646881" y="2246313"/>
                  <a:pt x="5611809" y="2246313"/>
                </a:cubicBezTo>
                <a:lnTo>
                  <a:pt x="63503" y="2246313"/>
                </a:lnTo>
                <a:cubicBezTo>
                  <a:pt x="28431" y="2246313"/>
                  <a:pt x="0" y="2217881"/>
                  <a:pt x="0" y="2182809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187" y="36869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54900"/>
          </a:solidFill>
          <a:ln/>
        </p:spPr>
      </p:sp>
      <p:sp>
        <p:nvSpPr>
          <p:cNvPr id="17" name="Text 15"/>
          <p:cNvSpPr/>
          <p:nvPr/>
        </p:nvSpPr>
        <p:spPr>
          <a:xfrm>
            <a:off x="444500" y="3686969"/>
            <a:ext cx="46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438" y="3766344"/>
            <a:ext cx="1206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MLA 9th Edition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187" y="4194969"/>
            <a:ext cx="5349875" cy="571500"/>
          </a:xfrm>
          <a:custGeom>
            <a:avLst/>
            <a:gdLst/>
            <a:ahLst/>
            <a:cxnLst/>
            <a:rect l="l" t="t" r="r" b="b"/>
            <a:pathLst>
              <a:path w="5349875" h="571500">
                <a:moveTo>
                  <a:pt x="63499" y="0"/>
                </a:moveTo>
                <a:lnTo>
                  <a:pt x="5286376" y="0"/>
                </a:lnTo>
                <a:cubicBezTo>
                  <a:pt x="5321445" y="0"/>
                  <a:pt x="5349875" y="28430"/>
                  <a:pt x="5349875" y="63499"/>
                </a:cubicBezTo>
                <a:lnTo>
                  <a:pt x="5349875" y="508001"/>
                </a:lnTo>
                <a:cubicBezTo>
                  <a:pt x="5349875" y="543070"/>
                  <a:pt x="5321445" y="571500"/>
                  <a:pt x="528637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D5A3D">
              <a:alpha val="5098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79438" y="4306094"/>
            <a:ext cx="436314" cy="123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In-Text: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9438" y="4480719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("Describe the symbolism")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4187" y="4861719"/>
            <a:ext cx="5349875" cy="746125"/>
          </a:xfrm>
          <a:custGeom>
            <a:avLst/>
            <a:gdLst/>
            <a:ahLst/>
            <a:cxnLst/>
            <a:rect l="l" t="t" r="r" b="b"/>
            <a:pathLst>
              <a:path w="5349875" h="746125">
                <a:moveTo>
                  <a:pt x="63503" y="0"/>
                </a:moveTo>
                <a:lnTo>
                  <a:pt x="5286372" y="0"/>
                </a:lnTo>
                <a:cubicBezTo>
                  <a:pt x="5321444" y="0"/>
                  <a:pt x="5349875" y="28431"/>
                  <a:pt x="5349875" y="63503"/>
                </a:cubicBezTo>
                <a:lnTo>
                  <a:pt x="5349875" y="682622"/>
                </a:lnTo>
                <a:cubicBezTo>
                  <a:pt x="5349875" y="717694"/>
                  <a:pt x="5321444" y="746125"/>
                  <a:pt x="5286372" y="746125"/>
                </a:cubicBezTo>
                <a:lnTo>
                  <a:pt x="63503" y="746125"/>
                </a:lnTo>
                <a:cubicBezTo>
                  <a:pt x="28431" y="746125"/>
                  <a:pt x="0" y="717694"/>
                  <a:pt x="0" y="682622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7D9A78">
              <a:alpha val="5098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79438" y="4972844"/>
            <a:ext cx="686098" cy="123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 Cited: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9438" y="5147469"/>
            <a:ext cx="5214938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3D3A3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"Describe the symbolism of the green light in The Great Gatsby" prompt. ChatGPT, 13 Feb. version, OpenAI, 8 Mar. 2023, chat.openai.com.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5219" y="1146969"/>
            <a:ext cx="5675313" cy="2166938"/>
          </a:xfrm>
          <a:custGeom>
            <a:avLst/>
            <a:gdLst/>
            <a:ahLst/>
            <a:cxnLst/>
            <a:rect l="l" t="t" r="r" b="b"/>
            <a:pathLst>
              <a:path w="5675313" h="2166938">
                <a:moveTo>
                  <a:pt x="63491" y="0"/>
                </a:moveTo>
                <a:lnTo>
                  <a:pt x="5611821" y="0"/>
                </a:lnTo>
                <a:cubicBezTo>
                  <a:pt x="5646886" y="0"/>
                  <a:pt x="5675313" y="28426"/>
                  <a:pt x="5675313" y="63491"/>
                </a:cubicBezTo>
                <a:lnTo>
                  <a:pt x="5675313" y="2103446"/>
                </a:lnTo>
                <a:cubicBezTo>
                  <a:pt x="5675313" y="2138511"/>
                  <a:pt x="5646886" y="2166938"/>
                  <a:pt x="5611821" y="2166938"/>
                </a:cubicBezTo>
                <a:lnTo>
                  <a:pt x="63491" y="2166938"/>
                </a:lnTo>
                <a:cubicBezTo>
                  <a:pt x="28426" y="2166938"/>
                  <a:pt x="0" y="2138511"/>
                  <a:pt x="0" y="2103446"/>
                </a:cubicBezTo>
                <a:lnTo>
                  <a:pt x="0" y="63491"/>
                </a:lnTo>
                <a:cubicBezTo>
                  <a:pt x="0" y="28449"/>
                  <a:pt x="28449" y="0"/>
                  <a:pt x="63491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7938" y="13096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9810FA"/>
          </a:solidFill>
          <a:ln/>
        </p:spPr>
      </p:sp>
      <p:sp>
        <p:nvSpPr>
          <p:cNvPr id="27" name="Text 25"/>
          <p:cNvSpPr/>
          <p:nvPr/>
        </p:nvSpPr>
        <p:spPr>
          <a:xfrm>
            <a:off x="6318250" y="1309688"/>
            <a:ext cx="46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34188" y="1389063"/>
            <a:ext cx="1500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Chicago 17th Edition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57938" y="1817688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63502" y="0"/>
                </a:moveTo>
                <a:lnTo>
                  <a:pt x="5286373" y="0"/>
                </a:lnTo>
                <a:cubicBezTo>
                  <a:pt x="5321444" y="0"/>
                  <a:pt x="5349875" y="28431"/>
                  <a:pt x="5349875" y="63502"/>
                </a:cubicBezTo>
                <a:lnTo>
                  <a:pt x="5349875" y="476248"/>
                </a:lnTo>
                <a:cubicBezTo>
                  <a:pt x="5349875" y="511319"/>
                  <a:pt x="5321444" y="539750"/>
                  <a:pt x="52863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2D5A3D">
              <a:alpha val="5098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53188" y="1928813"/>
            <a:ext cx="510418" cy="123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Footnote: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53188" y="2103438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 generated by ChatGPT, March 7, 2023, OpenAI, https://chat.openai.com.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57938" y="2452688"/>
            <a:ext cx="5349875" cy="698500"/>
          </a:xfrm>
          <a:custGeom>
            <a:avLst/>
            <a:gdLst/>
            <a:ahLst/>
            <a:cxnLst/>
            <a:rect l="l" t="t" r="r" b="b"/>
            <a:pathLst>
              <a:path w="5349875" h="698500">
                <a:moveTo>
                  <a:pt x="63501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34999"/>
                </a:lnTo>
                <a:cubicBezTo>
                  <a:pt x="5349875" y="670070"/>
                  <a:pt x="5321445" y="698500"/>
                  <a:pt x="5286374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7D9A78">
              <a:alpha val="5098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53188" y="2563813"/>
            <a:ext cx="705259" cy="123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Prompt: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53188" y="2738438"/>
            <a:ext cx="5214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ChatGPT, response to "Explain how to make pizza dough," March 7, 2023, OpenAI.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5219" y="3448844"/>
            <a:ext cx="5675313" cy="2420938"/>
          </a:xfrm>
          <a:custGeom>
            <a:avLst/>
            <a:gdLst/>
            <a:ahLst/>
            <a:cxnLst/>
            <a:rect l="l" t="t" r="r" b="b"/>
            <a:pathLst>
              <a:path w="5675313" h="2420938">
                <a:moveTo>
                  <a:pt x="63501" y="0"/>
                </a:moveTo>
                <a:lnTo>
                  <a:pt x="5611811" y="0"/>
                </a:lnTo>
                <a:cubicBezTo>
                  <a:pt x="5646882" y="0"/>
                  <a:pt x="5675313" y="28430"/>
                  <a:pt x="5675313" y="63501"/>
                </a:cubicBezTo>
                <a:lnTo>
                  <a:pt x="5675313" y="2357436"/>
                </a:lnTo>
                <a:cubicBezTo>
                  <a:pt x="5675313" y="2392507"/>
                  <a:pt x="5646882" y="2420938"/>
                  <a:pt x="5611811" y="2420938"/>
                </a:cubicBezTo>
                <a:lnTo>
                  <a:pt x="63501" y="2420938"/>
                </a:lnTo>
                <a:cubicBezTo>
                  <a:pt x="28430" y="2420938"/>
                  <a:pt x="0" y="2392507"/>
                  <a:pt x="0" y="2357436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57938" y="36115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F39F6"/>
          </a:solidFill>
          <a:ln/>
        </p:spPr>
      </p:sp>
      <p:sp>
        <p:nvSpPr>
          <p:cNvPr id="37" name="Text 35"/>
          <p:cNvSpPr/>
          <p:nvPr/>
        </p:nvSpPr>
        <p:spPr>
          <a:xfrm>
            <a:off x="6318250" y="3611563"/>
            <a:ext cx="46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IEEE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34188" y="3690937"/>
            <a:ext cx="1174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IEEE Guidelines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57938" y="4119562"/>
            <a:ext cx="5349875" cy="793750"/>
          </a:xfrm>
          <a:custGeom>
            <a:avLst/>
            <a:gdLst/>
            <a:ahLst/>
            <a:cxnLst/>
            <a:rect l="l" t="t" r="r" b="b"/>
            <a:pathLst>
              <a:path w="5349875" h="793750">
                <a:moveTo>
                  <a:pt x="63500" y="0"/>
                </a:moveTo>
                <a:lnTo>
                  <a:pt x="5286375" y="0"/>
                </a:lnTo>
                <a:cubicBezTo>
                  <a:pt x="5321422" y="0"/>
                  <a:pt x="5349875" y="28453"/>
                  <a:pt x="5349875" y="63500"/>
                </a:cubicBezTo>
                <a:lnTo>
                  <a:pt x="5349875" y="730250"/>
                </a:lnTo>
                <a:cubicBezTo>
                  <a:pt x="5349875" y="765297"/>
                  <a:pt x="5321422" y="793750"/>
                  <a:pt x="5286375" y="793750"/>
                </a:cubicBezTo>
                <a:lnTo>
                  <a:pt x="63500" y="793750"/>
                </a:lnTo>
                <a:cubicBezTo>
                  <a:pt x="28453" y="793750"/>
                  <a:pt x="0" y="765297"/>
                  <a:pt x="0" y="73025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D5A3D">
              <a:alpha val="5098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453188" y="4230688"/>
            <a:ext cx="1362087" cy="123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Acknowledgments Section: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53188" y="4405313"/>
            <a:ext cx="52228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Disclose AI use, identify the system used, specify which sections used AI-generated content, and provide a brief explanation of how AI was used.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57938" y="5008563"/>
            <a:ext cx="5349875" cy="698500"/>
          </a:xfrm>
          <a:custGeom>
            <a:avLst/>
            <a:gdLst/>
            <a:ahLst/>
            <a:cxnLst/>
            <a:rect l="l" t="t" r="r" b="b"/>
            <a:pathLst>
              <a:path w="5349875" h="698500">
                <a:moveTo>
                  <a:pt x="63501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634999"/>
                </a:lnTo>
                <a:cubicBezTo>
                  <a:pt x="5349875" y="670070"/>
                  <a:pt x="5321445" y="698500"/>
                  <a:pt x="5286374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7D9A78">
              <a:alpha val="5098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53188" y="5119688"/>
            <a:ext cx="496528" cy="123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53188" y="5294313"/>
            <a:ext cx="5214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authors used ChatGPT-4 to improve grammar and readability in Sections II and III. All factual claims and analysis were verified by the authors."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33375" y="6000750"/>
            <a:ext cx="11541125" cy="666750"/>
          </a:xfrm>
          <a:custGeom>
            <a:avLst/>
            <a:gdLst/>
            <a:ahLst/>
            <a:cxnLst/>
            <a:rect l="l" t="t" r="r" b="b"/>
            <a:pathLst>
              <a:path w="11541125" h="666750">
                <a:moveTo>
                  <a:pt x="31750" y="0"/>
                </a:moveTo>
                <a:lnTo>
                  <a:pt x="11477624" y="0"/>
                </a:lnTo>
                <a:cubicBezTo>
                  <a:pt x="11512695" y="0"/>
                  <a:pt x="11541125" y="28430"/>
                  <a:pt x="11541125" y="63501"/>
                </a:cubicBezTo>
                <a:lnTo>
                  <a:pt x="11541125" y="603249"/>
                </a:lnTo>
                <a:cubicBezTo>
                  <a:pt x="11541125" y="638320"/>
                  <a:pt x="11512695" y="666750"/>
                  <a:pt x="1147762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5A3D">
              <a:alpha val="1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33375" y="6000750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47" name="Shape 45"/>
          <p:cNvSpPr/>
          <p:nvPr/>
        </p:nvSpPr>
        <p:spPr>
          <a:xfrm>
            <a:off x="476250" y="61595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69453" y="49609"/>
                </a:moveTo>
                <a:cubicBezTo>
                  <a:pt x="69453" y="44133"/>
                  <a:pt x="73899" y="39688"/>
                  <a:pt x="79375" y="39688"/>
                </a:cubicBezTo>
                <a:cubicBezTo>
                  <a:pt x="84851" y="39688"/>
                  <a:pt x="89297" y="44133"/>
                  <a:pt x="89297" y="49609"/>
                </a:cubicBezTo>
                <a:cubicBezTo>
                  <a:pt x="89297" y="55085"/>
                  <a:pt x="84851" y="59531"/>
                  <a:pt x="79375" y="59531"/>
                </a:cubicBezTo>
                <a:cubicBezTo>
                  <a:pt x="73899" y="59531"/>
                  <a:pt x="69453" y="55085"/>
                  <a:pt x="69453" y="49609"/>
                </a:cubicBezTo>
                <a:close/>
                <a:moveTo>
                  <a:pt x="66973" y="69453"/>
                </a:moveTo>
                <a:lnTo>
                  <a:pt x="81855" y="69453"/>
                </a:lnTo>
                <a:cubicBezTo>
                  <a:pt x="85979" y="69453"/>
                  <a:pt x="89297" y="72771"/>
                  <a:pt x="89297" y="76895"/>
                </a:cubicBezTo>
                <a:lnTo>
                  <a:pt x="89297" y="104180"/>
                </a:lnTo>
                <a:lnTo>
                  <a:pt x="91777" y="104180"/>
                </a:lnTo>
                <a:cubicBezTo>
                  <a:pt x="95901" y="104180"/>
                  <a:pt x="99219" y="107497"/>
                  <a:pt x="99219" y="111621"/>
                </a:cubicBezTo>
                <a:cubicBezTo>
                  <a:pt x="99219" y="115745"/>
                  <a:pt x="95901" y="119062"/>
                  <a:pt x="91777" y="119062"/>
                </a:cubicBezTo>
                <a:lnTo>
                  <a:pt x="66973" y="119062"/>
                </a:lnTo>
                <a:cubicBezTo>
                  <a:pt x="62849" y="119062"/>
                  <a:pt x="59531" y="115745"/>
                  <a:pt x="59531" y="111621"/>
                </a:cubicBezTo>
                <a:cubicBezTo>
                  <a:pt x="59531" y="107497"/>
                  <a:pt x="62849" y="104180"/>
                  <a:pt x="66973" y="104180"/>
                </a:cubicBezTo>
                <a:lnTo>
                  <a:pt x="74414" y="104180"/>
                </a:lnTo>
                <a:lnTo>
                  <a:pt x="74414" y="84336"/>
                </a:lnTo>
                <a:lnTo>
                  <a:pt x="66973" y="84336"/>
                </a:lnTo>
                <a:cubicBezTo>
                  <a:pt x="62849" y="84336"/>
                  <a:pt x="59531" y="81018"/>
                  <a:pt x="59531" y="76895"/>
                </a:cubicBezTo>
                <a:cubicBezTo>
                  <a:pt x="59531" y="72771"/>
                  <a:pt x="62849" y="69453"/>
                  <a:pt x="66973" y="69453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48" name="Text 46"/>
          <p:cNvSpPr/>
          <p:nvPr/>
        </p:nvSpPr>
        <p:spPr>
          <a:xfrm>
            <a:off x="726467" y="6127750"/>
            <a:ext cx="11080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Tip: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AI helped you find sources,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cite the original sources, not the AI tool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Only cite AI when you're referencing text or ideas that the AI generated. Always check your institution's or publisher's specific guidelines, as they may have additional requirements.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21469" y="6798469"/>
            <a:ext cx="1801813" cy="269875"/>
          </a:xfrm>
          <a:custGeom>
            <a:avLst/>
            <a:gdLst/>
            <a:ahLst/>
            <a:cxnLst/>
            <a:rect l="l" t="t" r="r" b="b"/>
            <a:pathLst>
              <a:path w="1801813" h="269875">
                <a:moveTo>
                  <a:pt x="0" y="0"/>
                </a:moveTo>
                <a:lnTo>
                  <a:pt x="1801813" y="0"/>
                </a:lnTo>
                <a:lnTo>
                  <a:pt x="1801813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90196"/>
            </a:srgbClr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7500" y="6794500"/>
            <a:ext cx="1841500" cy="261937"/>
          </a:xfrm>
          <a:prstGeom prst="rect">
            <a:avLst/>
          </a:prstGeom>
          <a:noFill/>
          <a:ln/>
        </p:spPr>
        <p:txBody>
          <a:bodyPr wrap="square" lIns="95250" tIns="63500" rIns="95250" bIns="63500" rtlCol="0" anchor="ctr"/>
          <a:lstStyle/>
          <a:p>
            <a:pPr>
              <a:lnSpc>
                <a:spcPct val="120000"/>
              </a:lnSpc>
            </a:pPr>
            <a:r>
              <a:rPr lang="en-US" sz="75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Citation Formats • Academic Standards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326812" y="6854589"/>
            <a:ext cx="1603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Follow your required style guide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spc="88" kern="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Institutional Guidelines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University AI Policies: What You Need to Know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5250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" name="Shape 3"/>
          <p:cNvSpPr/>
          <p:nvPr/>
        </p:nvSpPr>
        <p:spPr>
          <a:xfrm>
            <a:off x="321469" y="1146969"/>
            <a:ext cx="6246813" cy="4643438"/>
          </a:xfrm>
          <a:custGeom>
            <a:avLst/>
            <a:gdLst/>
            <a:ahLst/>
            <a:cxnLst/>
            <a:rect l="l" t="t" r="r" b="b"/>
            <a:pathLst>
              <a:path w="6246813" h="4643438">
                <a:moveTo>
                  <a:pt x="63522" y="0"/>
                </a:moveTo>
                <a:lnTo>
                  <a:pt x="6183290" y="0"/>
                </a:lnTo>
                <a:cubicBezTo>
                  <a:pt x="6218373" y="0"/>
                  <a:pt x="6246813" y="28440"/>
                  <a:pt x="6246813" y="63522"/>
                </a:cubicBezTo>
                <a:lnTo>
                  <a:pt x="6246813" y="4579915"/>
                </a:lnTo>
                <a:cubicBezTo>
                  <a:pt x="6246813" y="4614998"/>
                  <a:pt x="6218373" y="4643438"/>
                  <a:pt x="6183290" y="4643438"/>
                </a:cubicBezTo>
                <a:lnTo>
                  <a:pt x="63522" y="4643438"/>
                </a:lnTo>
                <a:cubicBezTo>
                  <a:pt x="28440" y="4643438"/>
                  <a:pt x="0" y="4614998"/>
                  <a:pt x="0" y="4579915"/>
                </a:cubicBezTo>
                <a:lnTo>
                  <a:pt x="0" y="63522"/>
                </a:lnTo>
                <a:cubicBezTo>
                  <a:pt x="0" y="28463"/>
                  <a:pt x="28463" y="0"/>
                  <a:pt x="63522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187" y="1309688"/>
            <a:ext cx="6000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Policy Types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0063" y="1658938"/>
            <a:ext cx="5905500" cy="920750"/>
          </a:xfrm>
          <a:custGeom>
            <a:avLst/>
            <a:gdLst/>
            <a:ahLst/>
            <a:cxnLst/>
            <a:rect l="l" t="t" r="r" b="b"/>
            <a:pathLst>
              <a:path w="5905500" h="920750">
                <a:moveTo>
                  <a:pt x="31750" y="0"/>
                </a:moveTo>
                <a:lnTo>
                  <a:pt x="5841996" y="0"/>
                </a:lnTo>
                <a:cubicBezTo>
                  <a:pt x="5877068" y="0"/>
                  <a:pt x="5905500" y="28432"/>
                  <a:pt x="5905500" y="63504"/>
                </a:cubicBezTo>
                <a:lnTo>
                  <a:pt x="5905500" y="857246"/>
                </a:lnTo>
                <a:cubicBezTo>
                  <a:pt x="5905500" y="892318"/>
                  <a:pt x="5877068" y="920750"/>
                  <a:pt x="5841996" y="920750"/>
                </a:cubicBezTo>
                <a:lnTo>
                  <a:pt x="31750" y="920750"/>
                </a:lnTo>
                <a:cubicBezTo>
                  <a:pt x="14227" y="920750"/>
                  <a:pt x="0" y="906523"/>
                  <a:pt x="0" y="88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8" name="Shape 6"/>
          <p:cNvSpPr/>
          <p:nvPr/>
        </p:nvSpPr>
        <p:spPr>
          <a:xfrm>
            <a:off x="500063" y="1658938"/>
            <a:ext cx="31750" cy="920750"/>
          </a:xfrm>
          <a:custGeom>
            <a:avLst/>
            <a:gdLst/>
            <a:ahLst/>
            <a:cxnLst/>
            <a:rect l="l" t="t" r="r" b="b"/>
            <a:pathLst>
              <a:path w="31750" h="920750">
                <a:moveTo>
                  <a:pt x="31750" y="0"/>
                </a:moveTo>
                <a:lnTo>
                  <a:pt x="31750" y="0"/>
                </a:lnTo>
                <a:lnTo>
                  <a:pt x="31750" y="920750"/>
                </a:lnTo>
                <a:lnTo>
                  <a:pt x="31750" y="920750"/>
                </a:lnTo>
                <a:cubicBezTo>
                  <a:pt x="14227" y="920750"/>
                  <a:pt x="0" y="906523"/>
                  <a:pt x="0" y="88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9" name="Text 7"/>
          <p:cNvSpPr/>
          <p:nvPr/>
        </p:nvSpPr>
        <p:spPr>
          <a:xfrm>
            <a:off x="642938" y="1785938"/>
            <a:ext cx="531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1000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AI-FREE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8409" y="1785938"/>
            <a:ext cx="785813" cy="190500"/>
          </a:xfrm>
          <a:custGeom>
            <a:avLst/>
            <a:gdLst/>
            <a:ahLst/>
            <a:cxnLst/>
            <a:rect l="l" t="t" r="r" b="b"/>
            <a:pathLst>
              <a:path w="785813" h="190500">
                <a:moveTo>
                  <a:pt x="31751" y="0"/>
                </a:moveTo>
                <a:lnTo>
                  <a:pt x="754062" y="0"/>
                </a:lnTo>
                <a:cubicBezTo>
                  <a:pt x="771597" y="0"/>
                  <a:pt x="785813" y="14215"/>
                  <a:pt x="785813" y="31751"/>
                </a:cubicBezTo>
                <a:lnTo>
                  <a:pt x="785813" y="158749"/>
                </a:lnTo>
                <a:cubicBezTo>
                  <a:pt x="785813" y="176285"/>
                  <a:pt x="771597" y="190500"/>
                  <a:pt x="754062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FC9C9"/>
          </a:solidFill>
          <a:ln/>
        </p:spPr>
      </p:sp>
      <p:sp>
        <p:nvSpPr>
          <p:cNvPr id="11" name="Text 9"/>
          <p:cNvSpPr/>
          <p:nvPr/>
        </p:nvSpPr>
        <p:spPr>
          <a:xfrm>
            <a:off x="5488409" y="1785938"/>
            <a:ext cx="833438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F07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Restrictive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2938" y="2039938"/>
            <a:ext cx="5699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use of generative AI in any form. All work must be completed without AI assistance, including brainstorming.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0063" y="2674938"/>
            <a:ext cx="5905500" cy="920750"/>
          </a:xfrm>
          <a:custGeom>
            <a:avLst/>
            <a:gdLst/>
            <a:ahLst/>
            <a:cxnLst/>
            <a:rect l="l" t="t" r="r" b="b"/>
            <a:pathLst>
              <a:path w="5905500" h="920750">
                <a:moveTo>
                  <a:pt x="31750" y="0"/>
                </a:moveTo>
                <a:lnTo>
                  <a:pt x="5841996" y="0"/>
                </a:lnTo>
                <a:cubicBezTo>
                  <a:pt x="5877068" y="0"/>
                  <a:pt x="5905500" y="28432"/>
                  <a:pt x="5905500" y="63504"/>
                </a:cubicBezTo>
                <a:lnTo>
                  <a:pt x="5905500" y="857246"/>
                </a:lnTo>
                <a:cubicBezTo>
                  <a:pt x="5905500" y="892318"/>
                  <a:pt x="5877068" y="920750"/>
                  <a:pt x="5841996" y="920750"/>
                </a:cubicBezTo>
                <a:lnTo>
                  <a:pt x="31750" y="920750"/>
                </a:lnTo>
                <a:cubicBezTo>
                  <a:pt x="14227" y="920750"/>
                  <a:pt x="0" y="906523"/>
                  <a:pt x="0" y="88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EFCE8"/>
          </a:solidFill>
          <a:ln/>
        </p:spPr>
      </p:sp>
      <p:sp>
        <p:nvSpPr>
          <p:cNvPr id="14" name="Shape 12"/>
          <p:cNvSpPr/>
          <p:nvPr/>
        </p:nvSpPr>
        <p:spPr>
          <a:xfrm>
            <a:off x="500063" y="2674938"/>
            <a:ext cx="31750" cy="920750"/>
          </a:xfrm>
          <a:custGeom>
            <a:avLst/>
            <a:gdLst/>
            <a:ahLst/>
            <a:cxnLst/>
            <a:rect l="l" t="t" r="r" b="b"/>
            <a:pathLst>
              <a:path w="31750" h="920750">
                <a:moveTo>
                  <a:pt x="31750" y="0"/>
                </a:moveTo>
                <a:lnTo>
                  <a:pt x="31750" y="0"/>
                </a:lnTo>
                <a:lnTo>
                  <a:pt x="31750" y="920750"/>
                </a:lnTo>
                <a:lnTo>
                  <a:pt x="31750" y="920750"/>
                </a:lnTo>
                <a:cubicBezTo>
                  <a:pt x="14227" y="920750"/>
                  <a:pt x="0" y="906523"/>
                  <a:pt x="0" y="88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2938" y="2801938"/>
            <a:ext cx="1516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A65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ATTRIBUTION REQUIRED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50099" y="2801938"/>
            <a:ext cx="523875" cy="190500"/>
          </a:xfrm>
          <a:custGeom>
            <a:avLst/>
            <a:gdLst/>
            <a:ahLst/>
            <a:cxnLst/>
            <a:rect l="l" t="t" r="r" b="b"/>
            <a:pathLst>
              <a:path w="523875" h="190500">
                <a:moveTo>
                  <a:pt x="31751" y="0"/>
                </a:moveTo>
                <a:lnTo>
                  <a:pt x="492124" y="0"/>
                </a:lnTo>
                <a:cubicBezTo>
                  <a:pt x="509660" y="0"/>
                  <a:pt x="523875" y="14215"/>
                  <a:pt x="523875" y="31751"/>
                </a:cubicBezTo>
                <a:lnTo>
                  <a:pt x="523875" y="158749"/>
                </a:lnTo>
                <a:cubicBezTo>
                  <a:pt x="523875" y="176285"/>
                  <a:pt x="509660" y="190500"/>
                  <a:pt x="492124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FF085"/>
          </a:solidFill>
          <a:ln/>
        </p:spPr>
      </p:sp>
      <p:sp>
        <p:nvSpPr>
          <p:cNvPr id="17" name="Text 15"/>
          <p:cNvSpPr/>
          <p:nvPr/>
        </p:nvSpPr>
        <p:spPr>
          <a:xfrm>
            <a:off x="5750099" y="2801938"/>
            <a:ext cx="571500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94B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2938" y="3055938"/>
            <a:ext cx="5699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use permitted with proper disclosure and citation. Students must acknowledge how and where AI was used.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0063" y="3690937"/>
            <a:ext cx="5905500" cy="920750"/>
          </a:xfrm>
          <a:custGeom>
            <a:avLst/>
            <a:gdLst/>
            <a:ahLst/>
            <a:cxnLst/>
            <a:rect l="l" t="t" r="r" b="b"/>
            <a:pathLst>
              <a:path w="5905500" h="920750">
                <a:moveTo>
                  <a:pt x="31750" y="0"/>
                </a:moveTo>
                <a:lnTo>
                  <a:pt x="5841996" y="0"/>
                </a:lnTo>
                <a:cubicBezTo>
                  <a:pt x="5877068" y="0"/>
                  <a:pt x="5905500" y="28432"/>
                  <a:pt x="5905500" y="63504"/>
                </a:cubicBezTo>
                <a:lnTo>
                  <a:pt x="5905500" y="857246"/>
                </a:lnTo>
                <a:cubicBezTo>
                  <a:pt x="5905500" y="892318"/>
                  <a:pt x="5877068" y="920750"/>
                  <a:pt x="5841996" y="920750"/>
                </a:cubicBezTo>
                <a:lnTo>
                  <a:pt x="31750" y="920750"/>
                </a:lnTo>
                <a:cubicBezTo>
                  <a:pt x="14227" y="920750"/>
                  <a:pt x="0" y="906523"/>
                  <a:pt x="0" y="88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00063" y="3690937"/>
            <a:ext cx="31750" cy="920750"/>
          </a:xfrm>
          <a:custGeom>
            <a:avLst/>
            <a:gdLst/>
            <a:ahLst/>
            <a:cxnLst/>
            <a:rect l="l" t="t" r="r" b="b"/>
            <a:pathLst>
              <a:path w="31750" h="920750">
                <a:moveTo>
                  <a:pt x="31750" y="0"/>
                </a:moveTo>
                <a:lnTo>
                  <a:pt x="31750" y="0"/>
                </a:lnTo>
                <a:lnTo>
                  <a:pt x="31750" y="920750"/>
                </a:lnTo>
                <a:lnTo>
                  <a:pt x="31750" y="920750"/>
                </a:lnTo>
                <a:cubicBezTo>
                  <a:pt x="14227" y="920750"/>
                  <a:pt x="0" y="906523"/>
                  <a:pt x="0" y="88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2938" y="3817938"/>
            <a:ext cx="1468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447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ASSIGNMENT-SPECIFIC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09940" y="3817938"/>
            <a:ext cx="468313" cy="190500"/>
          </a:xfrm>
          <a:custGeom>
            <a:avLst/>
            <a:gdLst/>
            <a:ahLst/>
            <a:cxnLst/>
            <a:rect l="l" t="t" r="r" b="b"/>
            <a:pathLst>
              <a:path w="468313" h="190500">
                <a:moveTo>
                  <a:pt x="31751" y="0"/>
                </a:moveTo>
                <a:lnTo>
                  <a:pt x="436562" y="0"/>
                </a:lnTo>
                <a:cubicBezTo>
                  <a:pt x="454097" y="0"/>
                  <a:pt x="468313" y="14215"/>
                  <a:pt x="468313" y="31751"/>
                </a:cubicBezTo>
                <a:lnTo>
                  <a:pt x="468313" y="158749"/>
                </a:lnTo>
                <a:cubicBezTo>
                  <a:pt x="468313" y="176285"/>
                  <a:pt x="454097" y="190500"/>
                  <a:pt x="436562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BEDBFF"/>
          </a:solidFill>
          <a:ln/>
        </p:spPr>
      </p:sp>
      <p:sp>
        <p:nvSpPr>
          <p:cNvPr id="23" name="Text 21"/>
          <p:cNvSpPr/>
          <p:nvPr/>
        </p:nvSpPr>
        <p:spPr>
          <a:xfrm>
            <a:off x="5809940" y="3817938"/>
            <a:ext cx="515938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93C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2938" y="4071938"/>
            <a:ext cx="5699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use varies by assignment. Some tasks permit AI, others prohibit it. Check each assignment prompt carefully.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0063" y="4706938"/>
            <a:ext cx="5905500" cy="920750"/>
          </a:xfrm>
          <a:custGeom>
            <a:avLst/>
            <a:gdLst/>
            <a:ahLst/>
            <a:cxnLst/>
            <a:rect l="l" t="t" r="r" b="b"/>
            <a:pathLst>
              <a:path w="5905500" h="920750">
                <a:moveTo>
                  <a:pt x="31750" y="0"/>
                </a:moveTo>
                <a:lnTo>
                  <a:pt x="5841996" y="0"/>
                </a:lnTo>
                <a:cubicBezTo>
                  <a:pt x="5877068" y="0"/>
                  <a:pt x="5905500" y="28432"/>
                  <a:pt x="5905500" y="63504"/>
                </a:cubicBezTo>
                <a:lnTo>
                  <a:pt x="5905500" y="857246"/>
                </a:lnTo>
                <a:cubicBezTo>
                  <a:pt x="5905500" y="892318"/>
                  <a:pt x="5877068" y="920750"/>
                  <a:pt x="5841996" y="920750"/>
                </a:cubicBezTo>
                <a:lnTo>
                  <a:pt x="31750" y="920750"/>
                </a:lnTo>
                <a:cubicBezTo>
                  <a:pt x="14227" y="920750"/>
                  <a:pt x="0" y="906523"/>
                  <a:pt x="0" y="88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26" name="Shape 24"/>
          <p:cNvSpPr/>
          <p:nvPr/>
        </p:nvSpPr>
        <p:spPr>
          <a:xfrm>
            <a:off x="500063" y="4706938"/>
            <a:ext cx="31750" cy="920750"/>
          </a:xfrm>
          <a:custGeom>
            <a:avLst/>
            <a:gdLst/>
            <a:ahLst/>
            <a:cxnLst/>
            <a:rect l="l" t="t" r="r" b="b"/>
            <a:pathLst>
              <a:path w="31750" h="920750">
                <a:moveTo>
                  <a:pt x="31750" y="0"/>
                </a:moveTo>
                <a:lnTo>
                  <a:pt x="31750" y="0"/>
                </a:lnTo>
                <a:lnTo>
                  <a:pt x="31750" y="920750"/>
                </a:lnTo>
                <a:lnTo>
                  <a:pt x="31750" y="920750"/>
                </a:lnTo>
                <a:cubicBezTo>
                  <a:pt x="14227" y="920750"/>
                  <a:pt x="0" y="906523"/>
                  <a:pt x="0" y="88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7" name="Text 25"/>
          <p:cNvSpPr/>
          <p:nvPr/>
        </p:nvSpPr>
        <p:spPr>
          <a:xfrm>
            <a:off x="642938" y="4833938"/>
            <a:ext cx="1087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82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AI-ENCOURAGED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78115" y="4833938"/>
            <a:ext cx="793750" cy="190500"/>
          </a:xfrm>
          <a:custGeom>
            <a:avLst/>
            <a:gdLst/>
            <a:ahLst/>
            <a:cxnLst/>
            <a:rect l="l" t="t" r="r" b="b"/>
            <a:pathLst>
              <a:path w="793750" h="190500">
                <a:moveTo>
                  <a:pt x="31751" y="0"/>
                </a:moveTo>
                <a:lnTo>
                  <a:pt x="761999" y="0"/>
                </a:lnTo>
                <a:cubicBezTo>
                  <a:pt x="779535" y="0"/>
                  <a:pt x="793750" y="14215"/>
                  <a:pt x="793750" y="31751"/>
                </a:cubicBezTo>
                <a:lnTo>
                  <a:pt x="793750" y="158749"/>
                </a:lnTo>
                <a:cubicBezTo>
                  <a:pt x="793750" y="176285"/>
                  <a:pt x="779535" y="190500"/>
                  <a:pt x="76199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B9F8CF"/>
          </a:solidFill>
          <a:ln/>
        </p:spPr>
      </p:sp>
      <p:sp>
        <p:nvSpPr>
          <p:cNvPr id="29" name="Text 27"/>
          <p:cNvSpPr/>
          <p:nvPr/>
        </p:nvSpPr>
        <p:spPr>
          <a:xfrm>
            <a:off x="5478115" y="4833938"/>
            <a:ext cx="841375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0166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Permissive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2938" y="5087938"/>
            <a:ext cx="5699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use of AI encouraged with attribution. Students learn to use AI as a tool while maintaining academic integrity.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763556" y="1146969"/>
            <a:ext cx="5103813" cy="3881438"/>
          </a:xfrm>
          <a:custGeom>
            <a:avLst/>
            <a:gdLst/>
            <a:ahLst/>
            <a:cxnLst/>
            <a:rect l="l" t="t" r="r" b="b"/>
            <a:pathLst>
              <a:path w="5103813" h="3881438">
                <a:moveTo>
                  <a:pt x="63500" y="0"/>
                </a:moveTo>
                <a:lnTo>
                  <a:pt x="5040312" y="0"/>
                </a:lnTo>
                <a:cubicBezTo>
                  <a:pt x="5075382" y="0"/>
                  <a:pt x="5103812" y="28430"/>
                  <a:pt x="5103812" y="63500"/>
                </a:cubicBezTo>
                <a:lnTo>
                  <a:pt x="5103813" y="3817937"/>
                </a:lnTo>
                <a:cubicBezTo>
                  <a:pt x="5103812" y="3853007"/>
                  <a:pt x="5075382" y="3881438"/>
                  <a:pt x="5040312" y="3881437"/>
                </a:cubicBezTo>
                <a:lnTo>
                  <a:pt x="63500" y="3881438"/>
                </a:lnTo>
                <a:cubicBezTo>
                  <a:pt x="28430" y="3881437"/>
                  <a:pt x="0" y="3853007"/>
                  <a:pt x="0" y="3817937"/>
                </a:cubicBezTo>
                <a:lnTo>
                  <a:pt x="0" y="63500"/>
                </a:lnTo>
                <a:cubicBezTo>
                  <a:pt x="0" y="28454"/>
                  <a:pt x="28454" y="0"/>
                  <a:pt x="63500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26275" y="1309688"/>
            <a:ext cx="4857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Examples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926275" y="1658938"/>
            <a:ext cx="4778375" cy="730250"/>
          </a:xfrm>
          <a:custGeom>
            <a:avLst/>
            <a:gdLst/>
            <a:ahLst/>
            <a:cxnLst/>
            <a:rect l="l" t="t" r="r" b="b"/>
            <a:pathLst>
              <a:path w="4778375" h="730250">
                <a:moveTo>
                  <a:pt x="63503" y="0"/>
                </a:moveTo>
                <a:lnTo>
                  <a:pt x="4714872" y="0"/>
                </a:lnTo>
                <a:cubicBezTo>
                  <a:pt x="4749944" y="0"/>
                  <a:pt x="4778375" y="28431"/>
                  <a:pt x="4778375" y="63503"/>
                </a:cubicBezTo>
                <a:lnTo>
                  <a:pt x="4778375" y="666747"/>
                </a:lnTo>
                <a:cubicBezTo>
                  <a:pt x="4778375" y="701819"/>
                  <a:pt x="4749944" y="730250"/>
                  <a:pt x="4714872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2D5A3D">
              <a:alpha val="5098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037400" y="17819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7444" y="5011"/>
                </a:moveTo>
                <a:cubicBezTo>
                  <a:pt x="65013" y="3621"/>
                  <a:pt x="62012" y="3621"/>
                  <a:pt x="59556" y="5011"/>
                </a:cubicBezTo>
                <a:lnTo>
                  <a:pt x="3994" y="36761"/>
                </a:lnTo>
                <a:cubicBezTo>
                  <a:pt x="868" y="38546"/>
                  <a:pt x="-670" y="42218"/>
                  <a:pt x="248" y="45690"/>
                </a:cubicBezTo>
                <a:cubicBezTo>
                  <a:pt x="1166" y="49163"/>
                  <a:pt x="4341" y="51594"/>
                  <a:pt x="7938" y="51594"/>
                </a:cubicBezTo>
                <a:lnTo>
                  <a:pt x="15875" y="51594"/>
                </a:lnTo>
                <a:lnTo>
                  <a:pt x="15875" y="103188"/>
                </a:lnTo>
                <a:lnTo>
                  <a:pt x="15875" y="103188"/>
                </a:lnTo>
                <a:lnTo>
                  <a:pt x="3175" y="112713"/>
                </a:lnTo>
                <a:cubicBezTo>
                  <a:pt x="1166" y="114201"/>
                  <a:pt x="0" y="116557"/>
                  <a:pt x="0" y="119063"/>
                </a:cubicBezTo>
                <a:cubicBezTo>
                  <a:pt x="0" y="123453"/>
                  <a:pt x="3547" y="127000"/>
                  <a:pt x="7938" y="127000"/>
                </a:cubicBezTo>
                <a:lnTo>
                  <a:pt x="119063" y="127000"/>
                </a:lnTo>
                <a:cubicBezTo>
                  <a:pt x="123453" y="127000"/>
                  <a:pt x="127000" y="123453"/>
                  <a:pt x="127000" y="119063"/>
                </a:cubicBezTo>
                <a:cubicBezTo>
                  <a:pt x="127000" y="116557"/>
                  <a:pt x="125834" y="114201"/>
                  <a:pt x="123825" y="112713"/>
                </a:cubicBezTo>
                <a:lnTo>
                  <a:pt x="111125" y="103188"/>
                </a:lnTo>
                <a:lnTo>
                  <a:pt x="111125" y="51594"/>
                </a:lnTo>
                <a:lnTo>
                  <a:pt x="119063" y="51594"/>
                </a:lnTo>
                <a:cubicBezTo>
                  <a:pt x="122659" y="51594"/>
                  <a:pt x="125809" y="49163"/>
                  <a:pt x="126727" y="45690"/>
                </a:cubicBezTo>
                <a:cubicBezTo>
                  <a:pt x="127645" y="42218"/>
                  <a:pt x="126107" y="38546"/>
                  <a:pt x="122982" y="36761"/>
                </a:cubicBezTo>
                <a:lnTo>
                  <a:pt x="67419" y="5011"/>
                </a:lnTo>
                <a:close/>
                <a:moveTo>
                  <a:pt x="99219" y="51594"/>
                </a:moveTo>
                <a:lnTo>
                  <a:pt x="99219" y="103188"/>
                </a:lnTo>
                <a:lnTo>
                  <a:pt x="83344" y="103188"/>
                </a:lnTo>
                <a:lnTo>
                  <a:pt x="83344" y="51594"/>
                </a:lnTo>
                <a:lnTo>
                  <a:pt x="99219" y="51594"/>
                </a:lnTo>
                <a:close/>
                <a:moveTo>
                  <a:pt x="71438" y="51594"/>
                </a:moveTo>
                <a:lnTo>
                  <a:pt x="71438" y="103188"/>
                </a:lnTo>
                <a:lnTo>
                  <a:pt x="55563" y="103188"/>
                </a:lnTo>
                <a:lnTo>
                  <a:pt x="55563" y="51594"/>
                </a:lnTo>
                <a:lnTo>
                  <a:pt x="71438" y="51594"/>
                </a:lnTo>
                <a:close/>
                <a:moveTo>
                  <a:pt x="43656" y="51594"/>
                </a:moveTo>
                <a:lnTo>
                  <a:pt x="43656" y="103188"/>
                </a:lnTo>
                <a:lnTo>
                  <a:pt x="27781" y="103188"/>
                </a:lnTo>
                <a:lnTo>
                  <a:pt x="27781" y="51594"/>
                </a:lnTo>
                <a:lnTo>
                  <a:pt x="43656" y="51594"/>
                </a:lnTo>
                <a:close/>
                <a:moveTo>
                  <a:pt x="63500" y="23812"/>
                </a:moveTo>
                <a:cubicBezTo>
                  <a:pt x="67881" y="23812"/>
                  <a:pt x="71438" y="27369"/>
                  <a:pt x="71438" y="31750"/>
                </a:cubicBezTo>
                <a:cubicBezTo>
                  <a:pt x="71438" y="36131"/>
                  <a:pt x="67881" y="39688"/>
                  <a:pt x="63500" y="39688"/>
                </a:cubicBezTo>
                <a:cubicBezTo>
                  <a:pt x="59119" y="39688"/>
                  <a:pt x="55563" y="36131"/>
                  <a:pt x="55563" y="31750"/>
                </a:cubicBezTo>
                <a:cubicBezTo>
                  <a:pt x="55563" y="27369"/>
                  <a:pt x="59119" y="23812"/>
                  <a:pt x="63500" y="23812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35" name="Text 33"/>
          <p:cNvSpPr/>
          <p:nvPr/>
        </p:nvSpPr>
        <p:spPr>
          <a:xfrm>
            <a:off x="7219962" y="1754188"/>
            <a:ext cx="445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Carnegie Mellon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21525" y="1976438"/>
            <a:ext cx="4643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Offers multiple policy templates from AI-Free to AI-Encouraged, allowing instructors to choose based on course objectives.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926275" y="2484438"/>
            <a:ext cx="4778375" cy="730250"/>
          </a:xfrm>
          <a:custGeom>
            <a:avLst/>
            <a:gdLst/>
            <a:ahLst/>
            <a:cxnLst/>
            <a:rect l="l" t="t" r="r" b="b"/>
            <a:pathLst>
              <a:path w="4778375" h="730250">
                <a:moveTo>
                  <a:pt x="63503" y="0"/>
                </a:moveTo>
                <a:lnTo>
                  <a:pt x="4714872" y="0"/>
                </a:lnTo>
                <a:cubicBezTo>
                  <a:pt x="4749944" y="0"/>
                  <a:pt x="4778375" y="28431"/>
                  <a:pt x="4778375" y="63503"/>
                </a:cubicBezTo>
                <a:lnTo>
                  <a:pt x="4778375" y="666747"/>
                </a:lnTo>
                <a:cubicBezTo>
                  <a:pt x="4778375" y="701819"/>
                  <a:pt x="4749944" y="730250"/>
                  <a:pt x="4714872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7D9A78">
              <a:alpha val="5098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037400" y="26074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7444" y="5011"/>
                </a:moveTo>
                <a:cubicBezTo>
                  <a:pt x="65013" y="3621"/>
                  <a:pt x="62012" y="3621"/>
                  <a:pt x="59556" y="5011"/>
                </a:cubicBezTo>
                <a:lnTo>
                  <a:pt x="3994" y="36761"/>
                </a:lnTo>
                <a:cubicBezTo>
                  <a:pt x="868" y="38546"/>
                  <a:pt x="-670" y="42218"/>
                  <a:pt x="248" y="45690"/>
                </a:cubicBezTo>
                <a:cubicBezTo>
                  <a:pt x="1166" y="49163"/>
                  <a:pt x="4341" y="51594"/>
                  <a:pt x="7938" y="51594"/>
                </a:cubicBezTo>
                <a:lnTo>
                  <a:pt x="15875" y="51594"/>
                </a:lnTo>
                <a:lnTo>
                  <a:pt x="15875" y="103188"/>
                </a:lnTo>
                <a:lnTo>
                  <a:pt x="15875" y="103188"/>
                </a:lnTo>
                <a:lnTo>
                  <a:pt x="3175" y="112713"/>
                </a:lnTo>
                <a:cubicBezTo>
                  <a:pt x="1166" y="114201"/>
                  <a:pt x="0" y="116557"/>
                  <a:pt x="0" y="119063"/>
                </a:cubicBezTo>
                <a:cubicBezTo>
                  <a:pt x="0" y="123453"/>
                  <a:pt x="3547" y="127000"/>
                  <a:pt x="7938" y="127000"/>
                </a:cubicBezTo>
                <a:lnTo>
                  <a:pt x="119063" y="127000"/>
                </a:lnTo>
                <a:cubicBezTo>
                  <a:pt x="123453" y="127000"/>
                  <a:pt x="127000" y="123453"/>
                  <a:pt x="127000" y="119063"/>
                </a:cubicBezTo>
                <a:cubicBezTo>
                  <a:pt x="127000" y="116557"/>
                  <a:pt x="125834" y="114201"/>
                  <a:pt x="123825" y="112713"/>
                </a:cubicBezTo>
                <a:lnTo>
                  <a:pt x="111125" y="103188"/>
                </a:lnTo>
                <a:lnTo>
                  <a:pt x="111125" y="51594"/>
                </a:lnTo>
                <a:lnTo>
                  <a:pt x="119063" y="51594"/>
                </a:lnTo>
                <a:cubicBezTo>
                  <a:pt x="122659" y="51594"/>
                  <a:pt x="125809" y="49163"/>
                  <a:pt x="126727" y="45690"/>
                </a:cubicBezTo>
                <a:cubicBezTo>
                  <a:pt x="127645" y="42218"/>
                  <a:pt x="126107" y="38546"/>
                  <a:pt x="122982" y="36761"/>
                </a:cubicBezTo>
                <a:lnTo>
                  <a:pt x="67419" y="5011"/>
                </a:lnTo>
                <a:close/>
                <a:moveTo>
                  <a:pt x="99219" y="51594"/>
                </a:moveTo>
                <a:lnTo>
                  <a:pt x="99219" y="103188"/>
                </a:lnTo>
                <a:lnTo>
                  <a:pt x="83344" y="103188"/>
                </a:lnTo>
                <a:lnTo>
                  <a:pt x="83344" y="51594"/>
                </a:lnTo>
                <a:lnTo>
                  <a:pt x="99219" y="51594"/>
                </a:lnTo>
                <a:close/>
                <a:moveTo>
                  <a:pt x="71438" y="51594"/>
                </a:moveTo>
                <a:lnTo>
                  <a:pt x="71438" y="103188"/>
                </a:lnTo>
                <a:lnTo>
                  <a:pt x="55563" y="103188"/>
                </a:lnTo>
                <a:lnTo>
                  <a:pt x="55563" y="51594"/>
                </a:lnTo>
                <a:lnTo>
                  <a:pt x="71438" y="51594"/>
                </a:lnTo>
                <a:close/>
                <a:moveTo>
                  <a:pt x="43656" y="51594"/>
                </a:moveTo>
                <a:lnTo>
                  <a:pt x="43656" y="103188"/>
                </a:lnTo>
                <a:lnTo>
                  <a:pt x="27781" y="103188"/>
                </a:lnTo>
                <a:lnTo>
                  <a:pt x="27781" y="51594"/>
                </a:lnTo>
                <a:lnTo>
                  <a:pt x="43656" y="51594"/>
                </a:lnTo>
                <a:close/>
                <a:moveTo>
                  <a:pt x="63500" y="23812"/>
                </a:moveTo>
                <a:cubicBezTo>
                  <a:pt x="67881" y="23812"/>
                  <a:pt x="71438" y="27369"/>
                  <a:pt x="71438" y="31750"/>
                </a:cubicBezTo>
                <a:cubicBezTo>
                  <a:pt x="71438" y="36131"/>
                  <a:pt x="67881" y="39688"/>
                  <a:pt x="63500" y="39688"/>
                </a:cubicBezTo>
                <a:cubicBezTo>
                  <a:pt x="59119" y="39688"/>
                  <a:pt x="55563" y="36131"/>
                  <a:pt x="55563" y="31750"/>
                </a:cubicBezTo>
                <a:cubicBezTo>
                  <a:pt x="55563" y="27369"/>
                  <a:pt x="59119" y="23812"/>
                  <a:pt x="63500" y="23812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39" name="Text 37"/>
          <p:cNvSpPr/>
          <p:nvPr/>
        </p:nvSpPr>
        <p:spPr>
          <a:xfrm>
            <a:off x="7219962" y="2579688"/>
            <a:ext cx="445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Harvard University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021525" y="2801938"/>
            <a:ext cx="4643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Expects all work to be student's own unless collaboration is explicitly permitted. AI use must be disclosed.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926275" y="3309938"/>
            <a:ext cx="4778375" cy="730250"/>
          </a:xfrm>
          <a:custGeom>
            <a:avLst/>
            <a:gdLst/>
            <a:ahLst/>
            <a:cxnLst/>
            <a:rect l="l" t="t" r="r" b="b"/>
            <a:pathLst>
              <a:path w="4778375" h="730250">
                <a:moveTo>
                  <a:pt x="63503" y="0"/>
                </a:moveTo>
                <a:lnTo>
                  <a:pt x="4714872" y="0"/>
                </a:lnTo>
                <a:cubicBezTo>
                  <a:pt x="4749944" y="0"/>
                  <a:pt x="4778375" y="28431"/>
                  <a:pt x="4778375" y="63503"/>
                </a:cubicBezTo>
                <a:lnTo>
                  <a:pt x="4778375" y="666747"/>
                </a:lnTo>
                <a:cubicBezTo>
                  <a:pt x="4778375" y="701819"/>
                  <a:pt x="4749944" y="730250"/>
                  <a:pt x="4714872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8B7355">
              <a:alpha val="5098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037400" y="34329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7444" y="5011"/>
                </a:moveTo>
                <a:cubicBezTo>
                  <a:pt x="65013" y="3621"/>
                  <a:pt x="62012" y="3621"/>
                  <a:pt x="59556" y="5011"/>
                </a:cubicBezTo>
                <a:lnTo>
                  <a:pt x="3994" y="36761"/>
                </a:lnTo>
                <a:cubicBezTo>
                  <a:pt x="868" y="38546"/>
                  <a:pt x="-670" y="42218"/>
                  <a:pt x="248" y="45690"/>
                </a:cubicBezTo>
                <a:cubicBezTo>
                  <a:pt x="1166" y="49163"/>
                  <a:pt x="4341" y="51594"/>
                  <a:pt x="7938" y="51594"/>
                </a:cubicBezTo>
                <a:lnTo>
                  <a:pt x="15875" y="51594"/>
                </a:lnTo>
                <a:lnTo>
                  <a:pt x="15875" y="103188"/>
                </a:lnTo>
                <a:lnTo>
                  <a:pt x="15875" y="103188"/>
                </a:lnTo>
                <a:lnTo>
                  <a:pt x="3175" y="112713"/>
                </a:lnTo>
                <a:cubicBezTo>
                  <a:pt x="1166" y="114201"/>
                  <a:pt x="0" y="116557"/>
                  <a:pt x="0" y="119063"/>
                </a:cubicBezTo>
                <a:cubicBezTo>
                  <a:pt x="0" y="123453"/>
                  <a:pt x="3547" y="127000"/>
                  <a:pt x="7938" y="127000"/>
                </a:cubicBezTo>
                <a:lnTo>
                  <a:pt x="119063" y="127000"/>
                </a:lnTo>
                <a:cubicBezTo>
                  <a:pt x="123453" y="127000"/>
                  <a:pt x="127000" y="123453"/>
                  <a:pt x="127000" y="119063"/>
                </a:cubicBezTo>
                <a:cubicBezTo>
                  <a:pt x="127000" y="116557"/>
                  <a:pt x="125834" y="114201"/>
                  <a:pt x="123825" y="112713"/>
                </a:cubicBezTo>
                <a:lnTo>
                  <a:pt x="111125" y="103188"/>
                </a:lnTo>
                <a:lnTo>
                  <a:pt x="111125" y="51594"/>
                </a:lnTo>
                <a:lnTo>
                  <a:pt x="119063" y="51594"/>
                </a:lnTo>
                <a:cubicBezTo>
                  <a:pt x="122659" y="51594"/>
                  <a:pt x="125809" y="49163"/>
                  <a:pt x="126727" y="45690"/>
                </a:cubicBezTo>
                <a:cubicBezTo>
                  <a:pt x="127645" y="42218"/>
                  <a:pt x="126107" y="38546"/>
                  <a:pt x="122982" y="36761"/>
                </a:cubicBezTo>
                <a:lnTo>
                  <a:pt x="67419" y="5011"/>
                </a:lnTo>
                <a:close/>
                <a:moveTo>
                  <a:pt x="99219" y="51594"/>
                </a:moveTo>
                <a:lnTo>
                  <a:pt x="99219" y="103188"/>
                </a:lnTo>
                <a:lnTo>
                  <a:pt x="83344" y="103188"/>
                </a:lnTo>
                <a:lnTo>
                  <a:pt x="83344" y="51594"/>
                </a:lnTo>
                <a:lnTo>
                  <a:pt x="99219" y="51594"/>
                </a:lnTo>
                <a:close/>
                <a:moveTo>
                  <a:pt x="71438" y="51594"/>
                </a:moveTo>
                <a:lnTo>
                  <a:pt x="71438" y="103188"/>
                </a:lnTo>
                <a:lnTo>
                  <a:pt x="55563" y="103188"/>
                </a:lnTo>
                <a:lnTo>
                  <a:pt x="55563" y="51594"/>
                </a:lnTo>
                <a:lnTo>
                  <a:pt x="71438" y="51594"/>
                </a:lnTo>
                <a:close/>
                <a:moveTo>
                  <a:pt x="43656" y="51594"/>
                </a:moveTo>
                <a:lnTo>
                  <a:pt x="43656" y="103188"/>
                </a:lnTo>
                <a:lnTo>
                  <a:pt x="27781" y="103188"/>
                </a:lnTo>
                <a:lnTo>
                  <a:pt x="27781" y="51594"/>
                </a:lnTo>
                <a:lnTo>
                  <a:pt x="43656" y="51594"/>
                </a:lnTo>
                <a:close/>
                <a:moveTo>
                  <a:pt x="63500" y="23812"/>
                </a:moveTo>
                <a:cubicBezTo>
                  <a:pt x="67881" y="23812"/>
                  <a:pt x="71438" y="27369"/>
                  <a:pt x="71438" y="31750"/>
                </a:cubicBezTo>
                <a:cubicBezTo>
                  <a:pt x="71438" y="36131"/>
                  <a:pt x="67881" y="39688"/>
                  <a:pt x="63500" y="39688"/>
                </a:cubicBezTo>
                <a:cubicBezTo>
                  <a:pt x="59119" y="39688"/>
                  <a:pt x="55563" y="36131"/>
                  <a:pt x="55563" y="31750"/>
                </a:cubicBezTo>
                <a:cubicBezTo>
                  <a:pt x="55563" y="27369"/>
                  <a:pt x="59119" y="23812"/>
                  <a:pt x="63500" y="23812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43" name="Text 41"/>
          <p:cNvSpPr/>
          <p:nvPr/>
        </p:nvSpPr>
        <p:spPr>
          <a:xfrm>
            <a:off x="7219962" y="3405188"/>
            <a:ext cx="445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Cornell University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21525" y="3627438"/>
            <a:ext cx="4643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sample syllabus language for different AI policy approaches, from prohibiting to encouraging use.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926275" y="4135438"/>
            <a:ext cx="4778375" cy="730250"/>
          </a:xfrm>
          <a:custGeom>
            <a:avLst/>
            <a:gdLst/>
            <a:ahLst/>
            <a:cxnLst/>
            <a:rect l="l" t="t" r="r" b="b"/>
            <a:pathLst>
              <a:path w="4778375" h="730250">
                <a:moveTo>
                  <a:pt x="63503" y="0"/>
                </a:moveTo>
                <a:lnTo>
                  <a:pt x="4714872" y="0"/>
                </a:lnTo>
                <a:cubicBezTo>
                  <a:pt x="4749944" y="0"/>
                  <a:pt x="4778375" y="28431"/>
                  <a:pt x="4778375" y="63503"/>
                </a:cubicBezTo>
                <a:lnTo>
                  <a:pt x="4778375" y="666747"/>
                </a:lnTo>
                <a:cubicBezTo>
                  <a:pt x="4778375" y="701819"/>
                  <a:pt x="4749944" y="730250"/>
                  <a:pt x="4714872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2D5A3D">
              <a:alpha val="5098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037400" y="425846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7444" y="5011"/>
                </a:moveTo>
                <a:cubicBezTo>
                  <a:pt x="65013" y="3621"/>
                  <a:pt x="62012" y="3621"/>
                  <a:pt x="59556" y="5011"/>
                </a:cubicBezTo>
                <a:lnTo>
                  <a:pt x="3994" y="36761"/>
                </a:lnTo>
                <a:cubicBezTo>
                  <a:pt x="868" y="38546"/>
                  <a:pt x="-670" y="42218"/>
                  <a:pt x="248" y="45690"/>
                </a:cubicBezTo>
                <a:cubicBezTo>
                  <a:pt x="1166" y="49163"/>
                  <a:pt x="4341" y="51594"/>
                  <a:pt x="7938" y="51594"/>
                </a:cubicBezTo>
                <a:lnTo>
                  <a:pt x="15875" y="51594"/>
                </a:lnTo>
                <a:lnTo>
                  <a:pt x="15875" y="103188"/>
                </a:lnTo>
                <a:lnTo>
                  <a:pt x="15875" y="103188"/>
                </a:lnTo>
                <a:lnTo>
                  <a:pt x="3175" y="112713"/>
                </a:lnTo>
                <a:cubicBezTo>
                  <a:pt x="1166" y="114201"/>
                  <a:pt x="0" y="116557"/>
                  <a:pt x="0" y="119063"/>
                </a:cubicBezTo>
                <a:cubicBezTo>
                  <a:pt x="0" y="123453"/>
                  <a:pt x="3547" y="127000"/>
                  <a:pt x="7938" y="127000"/>
                </a:cubicBezTo>
                <a:lnTo>
                  <a:pt x="119063" y="127000"/>
                </a:lnTo>
                <a:cubicBezTo>
                  <a:pt x="123453" y="127000"/>
                  <a:pt x="127000" y="123453"/>
                  <a:pt x="127000" y="119063"/>
                </a:cubicBezTo>
                <a:cubicBezTo>
                  <a:pt x="127000" y="116557"/>
                  <a:pt x="125834" y="114201"/>
                  <a:pt x="123825" y="112713"/>
                </a:cubicBezTo>
                <a:lnTo>
                  <a:pt x="111125" y="103188"/>
                </a:lnTo>
                <a:lnTo>
                  <a:pt x="111125" y="51594"/>
                </a:lnTo>
                <a:lnTo>
                  <a:pt x="119063" y="51594"/>
                </a:lnTo>
                <a:cubicBezTo>
                  <a:pt x="122659" y="51594"/>
                  <a:pt x="125809" y="49163"/>
                  <a:pt x="126727" y="45690"/>
                </a:cubicBezTo>
                <a:cubicBezTo>
                  <a:pt x="127645" y="42218"/>
                  <a:pt x="126107" y="38546"/>
                  <a:pt x="122982" y="36761"/>
                </a:cubicBezTo>
                <a:lnTo>
                  <a:pt x="67419" y="5011"/>
                </a:lnTo>
                <a:close/>
                <a:moveTo>
                  <a:pt x="99219" y="51594"/>
                </a:moveTo>
                <a:lnTo>
                  <a:pt x="99219" y="103188"/>
                </a:lnTo>
                <a:lnTo>
                  <a:pt x="83344" y="103188"/>
                </a:lnTo>
                <a:lnTo>
                  <a:pt x="83344" y="51594"/>
                </a:lnTo>
                <a:lnTo>
                  <a:pt x="99219" y="51594"/>
                </a:lnTo>
                <a:close/>
                <a:moveTo>
                  <a:pt x="71438" y="51594"/>
                </a:moveTo>
                <a:lnTo>
                  <a:pt x="71438" y="103188"/>
                </a:lnTo>
                <a:lnTo>
                  <a:pt x="55563" y="103188"/>
                </a:lnTo>
                <a:lnTo>
                  <a:pt x="55563" y="51594"/>
                </a:lnTo>
                <a:lnTo>
                  <a:pt x="71438" y="51594"/>
                </a:lnTo>
                <a:close/>
                <a:moveTo>
                  <a:pt x="43656" y="51594"/>
                </a:moveTo>
                <a:lnTo>
                  <a:pt x="43656" y="103188"/>
                </a:lnTo>
                <a:lnTo>
                  <a:pt x="27781" y="103188"/>
                </a:lnTo>
                <a:lnTo>
                  <a:pt x="27781" y="51594"/>
                </a:lnTo>
                <a:lnTo>
                  <a:pt x="43656" y="51594"/>
                </a:lnTo>
                <a:close/>
                <a:moveTo>
                  <a:pt x="63500" y="23812"/>
                </a:moveTo>
                <a:cubicBezTo>
                  <a:pt x="67881" y="23812"/>
                  <a:pt x="71438" y="27369"/>
                  <a:pt x="71438" y="31750"/>
                </a:cubicBezTo>
                <a:cubicBezTo>
                  <a:pt x="71438" y="36131"/>
                  <a:pt x="67881" y="39688"/>
                  <a:pt x="63500" y="39688"/>
                </a:cubicBezTo>
                <a:cubicBezTo>
                  <a:pt x="59119" y="39688"/>
                  <a:pt x="55563" y="36131"/>
                  <a:pt x="55563" y="31750"/>
                </a:cubicBezTo>
                <a:cubicBezTo>
                  <a:pt x="55563" y="27369"/>
                  <a:pt x="59119" y="23812"/>
                  <a:pt x="63500" y="23812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47" name="Text 45"/>
          <p:cNvSpPr/>
          <p:nvPr/>
        </p:nvSpPr>
        <p:spPr>
          <a:xfrm>
            <a:off x="7219962" y="4230688"/>
            <a:ext cx="445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USC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021525" y="4452938"/>
            <a:ext cx="4643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 authored by another (including AI) but represented as student's own is considered plagiarism.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759587" y="5159375"/>
            <a:ext cx="5111750" cy="952500"/>
          </a:xfrm>
          <a:custGeom>
            <a:avLst/>
            <a:gdLst/>
            <a:ahLst/>
            <a:cxnLst/>
            <a:rect l="l" t="t" r="r" b="b"/>
            <a:pathLst>
              <a:path w="5111750" h="952500">
                <a:moveTo>
                  <a:pt x="63503" y="0"/>
                </a:moveTo>
                <a:lnTo>
                  <a:pt x="5048247" y="0"/>
                </a:lnTo>
                <a:cubicBezTo>
                  <a:pt x="5083319" y="0"/>
                  <a:pt x="5111750" y="28431"/>
                  <a:pt x="5111750" y="63503"/>
                </a:cubicBezTo>
                <a:lnTo>
                  <a:pt x="5111750" y="888997"/>
                </a:lnTo>
                <a:cubicBezTo>
                  <a:pt x="5111750" y="924069"/>
                  <a:pt x="5083319" y="952500"/>
                  <a:pt x="5048247" y="952500"/>
                </a:cubicBezTo>
                <a:lnTo>
                  <a:pt x="63503" y="952500"/>
                </a:lnTo>
                <a:cubicBezTo>
                  <a:pt x="28431" y="952500"/>
                  <a:pt x="0" y="924069"/>
                  <a:pt x="0" y="888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8B7355">
              <a:alpha val="1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906431" y="532606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75540" y="0"/>
                  <a:pt x="79307" y="2260"/>
                  <a:pt x="81260" y="5860"/>
                </a:cubicBezTo>
                <a:lnTo>
                  <a:pt x="141536" y="117481"/>
                </a:lnTo>
                <a:cubicBezTo>
                  <a:pt x="143405" y="120941"/>
                  <a:pt x="143321" y="125127"/>
                  <a:pt x="141312" y="128504"/>
                </a:cubicBezTo>
                <a:cubicBezTo>
                  <a:pt x="139303" y="131880"/>
                  <a:pt x="135648" y="133945"/>
                  <a:pt x="131713" y="133945"/>
                </a:cubicBezTo>
                <a:lnTo>
                  <a:pt x="11162" y="133945"/>
                </a:lnTo>
                <a:cubicBezTo>
                  <a:pt x="7227" y="133945"/>
                  <a:pt x="3600" y="131880"/>
                  <a:pt x="1563" y="128504"/>
                </a:cubicBezTo>
                <a:cubicBezTo>
                  <a:pt x="-474" y="125127"/>
                  <a:pt x="-530" y="120941"/>
                  <a:pt x="1339" y="117481"/>
                </a:cubicBezTo>
                <a:lnTo>
                  <a:pt x="61615" y="5860"/>
                </a:lnTo>
                <a:cubicBezTo>
                  <a:pt x="63568" y="2260"/>
                  <a:pt x="67335" y="0"/>
                  <a:pt x="71438" y="0"/>
                </a:cubicBezTo>
                <a:close/>
                <a:moveTo>
                  <a:pt x="71438" y="46881"/>
                </a:moveTo>
                <a:cubicBezTo>
                  <a:pt x="67726" y="46881"/>
                  <a:pt x="64740" y="49867"/>
                  <a:pt x="64740" y="53578"/>
                </a:cubicBezTo>
                <a:lnTo>
                  <a:pt x="64740" y="84832"/>
                </a:lnTo>
                <a:cubicBezTo>
                  <a:pt x="64740" y="88543"/>
                  <a:pt x="67726" y="91529"/>
                  <a:pt x="71438" y="91529"/>
                </a:cubicBezTo>
                <a:cubicBezTo>
                  <a:pt x="75149" y="91529"/>
                  <a:pt x="78135" y="88543"/>
                  <a:pt x="78135" y="84832"/>
                </a:cubicBezTo>
                <a:lnTo>
                  <a:pt x="78135" y="53578"/>
                </a:lnTo>
                <a:cubicBezTo>
                  <a:pt x="78135" y="49867"/>
                  <a:pt x="75149" y="46881"/>
                  <a:pt x="71438" y="46881"/>
                </a:cubicBezTo>
                <a:close/>
                <a:moveTo>
                  <a:pt x="78888" y="107156"/>
                </a:moveTo>
                <a:cubicBezTo>
                  <a:pt x="79058" y="104391"/>
                  <a:pt x="77678" y="101759"/>
                  <a:pt x="75308" y="100325"/>
                </a:cubicBezTo>
                <a:cubicBezTo>
                  <a:pt x="72937" y="98891"/>
                  <a:pt x="69966" y="98891"/>
                  <a:pt x="67595" y="100325"/>
                </a:cubicBezTo>
                <a:cubicBezTo>
                  <a:pt x="65224" y="101759"/>
                  <a:pt x="63845" y="104391"/>
                  <a:pt x="64015" y="107156"/>
                </a:cubicBezTo>
                <a:cubicBezTo>
                  <a:pt x="63845" y="109922"/>
                  <a:pt x="65224" y="112553"/>
                  <a:pt x="67595" y="113987"/>
                </a:cubicBezTo>
                <a:cubicBezTo>
                  <a:pt x="69966" y="115421"/>
                  <a:pt x="72937" y="115421"/>
                  <a:pt x="75308" y="113987"/>
                </a:cubicBezTo>
                <a:cubicBezTo>
                  <a:pt x="77678" y="112553"/>
                  <a:pt x="79058" y="109922"/>
                  <a:pt x="78888" y="107156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1" name="Text 49"/>
          <p:cNvSpPr/>
          <p:nvPr/>
        </p:nvSpPr>
        <p:spPr>
          <a:xfrm>
            <a:off x="7108837" y="5286375"/>
            <a:ext cx="4706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8B73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Action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86587" y="5572125"/>
            <a:ext cx="4921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check your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 course syllabus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institution's policy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Policies vary widely between universities, departments, and even individual courses.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17500" y="6238875"/>
            <a:ext cx="11557000" cy="666750"/>
          </a:xfrm>
          <a:custGeom>
            <a:avLst/>
            <a:gdLst/>
            <a:ahLst/>
            <a:cxnLst/>
            <a:rect l="l" t="t" r="r" b="b"/>
            <a:pathLst>
              <a:path w="11557000" h="666750">
                <a:moveTo>
                  <a:pt x="63501" y="0"/>
                </a:moveTo>
                <a:lnTo>
                  <a:pt x="11493499" y="0"/>
                </a:lnTo>
                <a:cubicBezTo>
                  <a:pt x="11528570" y="0"/>
                  <a:pt x="11557000" y="28430"/>
                  <a:pt x="11557000" y="63501"/>
                </a:cubicBezTo>
                <a:lnTo>
                  <a:pt x="11557000" y="603249"/>
                </a:lnTo>
                <a:cubicBezTo>
                  <a:pt x="11557000" y="638320"/>
                  <a:pt x="11528570" y="666750"/>
                  <a:pt x="1149349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54" name="Shape 52"/>
          <p:cNvSpPr/>
          <p:nvPr/>
        </p:nvSpPr>
        <p:spPr>
          <a:xfrm>
            <a:off x="480219" y="6397625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FAF8F3"/>
          </a:solidFill>
          <a:ln/>
        </p:spPr>
      </p:sp>
      <p:sp>
        <p:nvSpPr>
          <p:cNvPr id="55" name="Text 53"/>
          <p:cNvSpPr/>
          <p:nvPr/>
        </p:nvSpPr>
        <p:spPr>
          <a:xfrm>
            <a:off x="728638" y="6365875"/>
            <a:ext cx="11080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Practice: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in doubt,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ask your instructor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It's better to clarify expectations upfront than to face academic integrity violations later. Most professors appreciate students who seek guidance on ethical AI use.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21469" y="7036594"/>
            <a:ext cx="1952625" cy="269875"/>
          </a:xfrm>
          <a:custGeom>
            <a:avLst/>
            <a:gdLst/>
            <a:ahLst/>
            <a:cxnLst/>
            <a:rect l="l" t="t" r="r" b="b"/>
            <a:pathLst>
              <a:path w="1952625" h="269875">
                <a:moveTo>
                  <a:pt x="0" y="0"/>
                </a:moveTo>
                <a:lnTo>
                  <a:pt x="1952625" y="0"/>
                </a:lnTo>
                <a:lnTo>
                  <a:pt x="195262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90196"/>
            </a:srgbClr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7500" y="7032625"/>
            <a:ext cx="1992313" cy="261937"/>
          </a:xfrm>
          <a:prstGeom prst="rect">
            <a:avLst/>
          </a:prstGeom>
          <a:noFill/>
          <a:ln/>
        </p:spPr>
        <p:txBody>
          <a:bodyPr wrap="square" lIns="95250" tIns="63500" rIns="95250" bIns="63500" rtlCol="0" anchor="ctr"/>
          <a:lstStyle/>
          <a:p>
            <a:pPr>
              <a:lnSpc>
                <a:spcPct val="120000"/>
              </a:lnSpc>
            </a:pPr>
            <a:r>
              <a:rPr lang="en-US" sz="75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Institutional Policies • Academic Guidelines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267590" y="7092714"/>
            <a:ext cx="1658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 your specific course policy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decoralist.com/b483ec8f99af7a6e6ec27d14c70bb4885eaea73e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27500" b="275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8B735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266825"/>
            <a:ext cx="1238250" cy="342900"/>
          </a:xfrm>
          <a:custGeom>
            <a:avLst/>
            <a:gdLst/>
            <a:ahLst/>
            <a:cxnLst/>
            <a:rect l="l" t="t" r="r" b="b"/>
            <a:pathLst>
              <a:path w="1238250" h="342900">
                <a:moveTo>
                  <a:pt x="0" y="0"/>
                </a:moveTo>
                <a:lnTo>
                  <a:pt x="1238250" y="0"/>
                </a:lnTo>
                <a:lnTo>
                  <a:pt x="123825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1266825"/>
            <a:ext cx="1304925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Six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838325"/>
            <a:ext cx="67437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Your Ethical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Workflow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7814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12432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a responsible system for integrating AI into your research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3435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10" name="Text 7"/>
          <p:cNvSpPr/>
          <p:nvPr/>
        </p:nvSpPr>
        <p:spPr>
          <a:xfrm>
            <a:off x="781050" y="5324475"/>
            <a:ext cx="3571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Practical Implementation • Step-by-Step Guide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914" y="317914"/>
            <a:ext cx="11611807" cy="158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6" spc="88" kern="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Toolkit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914" y="540454"/>
            <a:ext cx="11699233" cy="317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3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Researcher's AI Toolkit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914" y="953742"/>
            <a:ext cx="635828" cy="31791"/>
          </a:xfrm>
          <a:custGeom>
            <a:avLst/>
            <a:gdLst/>
            <a:ahLst/>
            <a:cxnLst/>
            <a:rect l="l" t="t" r="r" b="b"/>
            <a:pathLst>
              <a:path w="635828" h="31791">
                <a:moveTo>
                  <a:pt x="0" y="0"/>
                </a:moveTo>
                <a:lnTo>
                  <a:pt x="635828" y="0"/>
                </a:lnTo>
                <a:lnTo>
                  <a:pt x="635828" y="31791"/>
                </a:lnTo>
                <a:lnTo>
                  <a:pt x="0" y="31791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" name="Shape 3"/>
          <p:cNvSpPr/>
          <p:nvPr/>
        </p:nvSpPr>
        <p:spPr>
          <a:xfrm>
            <a:off x="321888" y="1148464"/>
            <a:ext cx="3759332" cy="2424094"/>
          </a:xfrm>
          <a:custGeom>
            <a:avLst/>
            <a:gdLst/>
            <a:ahLst/>
            <a:cxnLst/>
            <a:rect l="l" t="t" r="r" b="b"/>
            <a:pathLst>
              <a:path w="3759332" h="2424094">
                <a:moveTo>
                  <a:pt x="63584" y="0"/>
                </a:moveTo>
                <a:lnTo>
                  <a:pt x="3695748" y="0"/>
                </a:lnTo>
                <a:cubicBezTo>
                  <a:pt x="3730865" y="0"/>
                  <a:pt x="3759332" y="28468"/>
                  <a:pt x="3759332" y="63584"/>
                </a:cubicBezTo>
                <a:lnTo>
                  <a:pt x="3759332" y="2360510"/>
                </a:lnTo>
                <a:cubicBezTo>
                  <a:pt x="3759332" y="2395626"/>
                  <a:pt x="3730865" y="2424094"/>
                  <a:pt x="3695748" y="2424094"/>
                </a:cubicBezTo>
                <a:lnTo>
                  <a:pt x="63584" y="2424094"/>
                </a:lnTo>
                <a:cubicBezTo>
                  <a:pt x="28468" y="2424094"/>
                  <a:pt x="0" y="2395626"/>
                  <a:pt x="0" y="2360510"/>
                </a:cubicBezTo>
                <a:lnTo>
                  <a:pt x="0" y="63584"/>
                </a:lnTo>
                <a:cubicBezTo>
                  <a:pt x="0" y="28491"/>
                  <a:pt x="28491" y="0"/>
                  <a:pt x="63584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819" y="1311395"/>
            <a:ext cx="381497" cy="381497"/>
          </a:xfrm>
          <a:custGeom>
            <a:avLst/>
            <a:gdLst/>
            <a:ahLst/>
            <a:cxnLst/>
            <a:rect l="l" t="t" r="r" b="b"/>
            <a:pathLst>
              <a:path w="381497" h="381497">
                <a:moveTo>
                  <a:pt x="190748" y="0"/>
                </a:moveTo>
                <a:lnTo>
                  <a:pt x="190748" y="0"/>
                </a:lnTo>
                <a:cubicBezTo>
                  <a:pt x="296096" y="0"/>
                  <a:pt x="381497" y="85401"/>
                  <a:pt x="381497" y="190748"/>
                </a:cubicBezTo>
                <a:lnTo>
                  <a:pt x="381497" y="190748"/>
                </a:lnTo>
                <a:cubicBezTo>
                  <a:pt x="381497" y="296096"/>
                  <a:pt x="296096" y="381497"/>
                  <a:pt x="190748" y="381497"/>
                </a:cubicBezTo>
                <a:lnTo>
                  <a:pt x="190748" y="381497"/>
                </a:lnTo>
                <a:cubicBezTo>
                  <a:pt x="85401" y="381497"/>
                  <a:pt x="0" y="296096"/>
                  <a:pt x="0" y="190748"/>
                </a:cubicBezTo>
                <a:lnTo>
                  <a:pt x="0" y="190748"/>
                </a:lnTo>
                <a:cubicBezTo>
                  <a:pt x="0" y="85401"/>
                  <a:pt x="85401" y="0"/>
                  <a:pt x="190748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7" name="Shape 5"/>
          <p:cNvSpPr/>
          <p:nvPr/>
        </p:nvSpPr>
        <p:spPr>
          <a:xfrm>
            <a:off x="615958" y="1422665"/>
            <a:ext cx="119218" cy="158957"/>
          </a:xfrm>
          <a:custGeom>
            <a:avLst/>
            <a:gdLst/>
            <a:ahLst/>
            <a:cxnLst/>
            <a:rect l="l" t="t" r="r" b="b"/>
            <a:pathLst>
              <a:path w="119218" h="158957">
                <a:moveTo>
                  <a:pt x="90935" y="119218"/>
                </a:moveTo>
                <a:cubicBezTo>
                  <a:pt x="93201" y="112294"/>
                  <a:pt x="97734" y="106023"/>
                  <a:pt x="102856" y="100621"/>
                </a:cubicBezTo>
                <a:cubicBezTo>
                  <a:pt x="113008" y="89941"/>
                  <a:pt x="119218" y="75505"/>
                  <a:pt x="119218" y="59609"/>
                </a:cubicBezTo>
                <a:cubicBezTo>
                  <a:pt x="119218" y="26700"/>
                  <a:pt x="92518" y="0"/>
                  <a:pt x="59609" y="0"/>
                </a:cubicBezTo>
                <a:cubicBezTo>
                  <a:pt x="26700" y="0"/>
                  <a:pt x="0" y="26700"/>
                  <a:pt x="0" y="59609"/>
                </a:cubicBezTo>
                <a:cubicBezTo>
                  <a:pt x="0" y="75505"/>
                  <a:pt x="6209" y="89941"/>
                  <a:pt x="16361" y="100621"/>
                </a:cubicBezTo>
                <a:cubicBezTo>
                  <a:pt x="21484" y="106023"/>
                  <a:pt x="26048" y="112294"/>
                  <a:pt x="28283" y="119218"/>
                </a:cubicBezTo>
                <a:lnTo>
                  <a:pt x="90904" y="119218"/>
                </a:lnTo>
                <a:close/>
                <a:moveTo>
                  <a:pt x="89413" y="134120"/>
                </a:moveTo>
                <a:lnTo>
                  <a:pt x="29804" y="134120"/>
                </a:lnTo>
                <a:lnTo>
                  <a:pt x="29804" y="139087"/>
                </a:lnTo>
                <a:cubicBezTo>
                  <a:pt x="29804" y="152810"/>
                  <a:pt x="40919" y="163924"/>
                  <a:pt x="54641" y="163924"/>
                </a:cubicBezTo>
                <a:lnTo>
                  <a:pt x="64576" y="163924"/>
                </a:lnTo>
                <a:cubicBezTo>
                  <a:pt x="78299" y="163924"/>
                  <a:pt x="89413" y="152810"/>
                  <a:pt x="89413" y="139087"/>
                </a:cubicBezTo>
                <a:lnTo>
                  <a:pt x="89413" y="134120"/>
                </a:lnTo>
                <a:close/>
                <a:moveTo>
                  <a:pt x="57125" y="34772"/>
                </a:moveTo>
                <a:cubicBezTo>
                  <a:pt x="44769" y="34772"/>
                  <a:pt x="34772" y="44769"/>
                  <a:pt x="34772" y="57125"/>
                </a:cubicBezTo>
                <a:cubicBezTo>
                  <a:pt x="34772" y="61254"/>
                  <a:pt x="31450" y="64576"/>
                  <a:pt x="27321" y="64576"/>
                </a:cubicBezTo>
                <a:cubicBezTo>
                  <a:pt x="23192" y="64576"/>
                  <a:pt x="19870" y="61254"/>
                  <a:pt x="19870" y="57125"/>
                </a:cubicBezTo>
                <a:cubicBezTo>
                  <a:pt x="19870" y="36541"/>
                  <a:pt x="36541" y="19870"/>
                  <a:pt x="57125" y="19870"/>
                </a:cubicBezTo>
                <a:cubicBezTo>
                  <a:pt x="61254" y="19870"/>
                  <a:pt x="64576" y="23192"/>
                  <a:pt x="64576" y="27321"/>
                </a:cubicBezTo>
                <a:cubicBezTo>
                  <a:pt x="64576" y="31450"/>
                  <a:pt x="61254" y="34772"/>
                  <a:pt x="57125" y="3477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61690" y="1390874"/>
            <a:ext cx="1065012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2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Brainstorming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819" y="1820057"/>
            <a:ext cx="3433471" cy="572245"/>
          </a:xfrm>
          <a:custGeom>
            <a:avLst/>
            <a:gdLst/>
            <a:ahLst/>
            <a:cxnLst/>
            <a:rect l="l" t="t" r="r" b="b"/>
            <a:pathLst>
              <a:path w="3433471" h="572245">
                <a:moveTo>
                  <a:pt x="63582" y="0"/>
                </a:moveTo>
                <a:lnTo>
                  <a:pt x="3369889" y="0"/>
                </a:lnTo>
                <a:cubicBezTo>
                  <a:pt x="3405004" y="0"/>
                  <a:pt x="3433471" y="28467"/>
                  <a:pt x="3433471" y="63582"/>
                </a:cubicBezTo>
                <a:lnTo>
                  <a:pt x="3433471" y="508663"/>
                </a:lnTo>
                <a:cubicBezTo>
                  <a:pt x="3433471" y="543778"/>
                  <a:pt x="3405004" y="572245"/>
                  <a:pt x="3369889" y="572245"/>
                </a:cubicBezTo>
                <a:lnTo>
                  <a:pt x="63582" y="572245"/>
                </a:lnTo>
                <a:cubicBezTo>
                  <a:pt x="28467" y="572245"/>
                  <a:pt x="0" y="543778"/>
                  <a:pt x="0" y="508663"/>
                </a:cubicBezTo>
                <a:lnTo>
                  <a:pt x="0" y="63582"/>
                </a:lnTo>
                <a:cubicBezTo>
                  <a:pt x="0" y="28467"/>
                  <a:pt x="28467" y="0"/>
                  <a:pt x="63582" y="0"/>
                </a:cubicBezTo>
                <a:close/>
              </a:path>
            </a:pathLst>
          </a:custGeom>
          <a:solidFill>
            <a:srgbClr val="2D5A3D">
              <a:alpha val="5098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80193" y="1915432"/>
            <a:ext cx="3306305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0193" y="2137971"/>
            <a:ext cx="3298357" cy="158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6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research subtopics, explore angles, refine questions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819" y="2487677"/>
            <a:ext cx="3433471" cy="572245"/>
          </a:xfrm>
          <a:custGeom>
            <a:avLst/>
            <a:gdLst/>
            <a:ahLst/>
            <a:cxnLst/>
            <a:rect l="l" t="t" r="r" b="b"/>
            <a:pathLst>
              <a:path w="3433471" h="572245">
                <a:moveTo>
                  <a:pt x="63582" y="0"/>
                </a:moveTo>
                <a:lnTo>
                  <a:pt x="3369889" y="0"/>
                </a:lnTo>
                <a:cubicBezTo>
                  <a:pt x="3405004" y="0"/>
                  <a:pt x="3433471" y="28467"/>
                  <a:pt x="3433471" y="63582"/>
                </a:cubicBezTo>
                <a:lnTo>
                  <a:pt x="3433471" y="508663"/>
                </a:lnTo>
                <a:cubicBezTo>
                  <a:pt x="3433471" y="543778"/>
                  <a:pt x="3405004" y="572245"/>
                  <a:pt x="3369889" y="572245"/>
                </a:cubicBezTo>
                <a:lnTo>
                  <a:pt x="63582" y="572245"/>
                </a:lnTo>
                <a:cubicBezTo>
                  <a:pt x="28467" y="572245"/>
                  <a:pt x="0" y="543778"/>
                  <a:pt x="0" y="508663"/>
                </a:cubicBezTo>
                <a:lnTo>
                  <a:pt x="0" y="63582"/>
                </a:lnTo>
                <a:cubicBezTo>
                  <a:pt x="0" y="28467"/>
                  <a:pt x="28467" y="0"/>
                  <a:pt x="63582" y="0"/>
                </a:cubicBezTo>
                <a:close/>
              </a:path>
            </a:pathLst>
          </a:custGeom>
          <a:solidFill>
            <a:srgbClr val="7D9A78">
              <a:alpha val="5098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80193" y="2583051"/>
            <a:ext cx="3306305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Claude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0193" y="2805591"/>
            <a:ext cx="3298357" cy="158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6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Longer context discussions, nuanced topic exploration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819" y="3155296"/>
            <a:ext cx="3433471" cy="254331"/>
          </a:xfrm>
          <a:custGeom>
            <a:avLst/>
            <a:gdLst/>
            <a:ahLst/>
            <a:cxnLst/>
            <a:rect l="l" t="t" r="r" b="b"/>
            <a:pathLst>
              <a:path w="3433471" h="254331">
                <a:moveTo>
                  <a:pt x="63583" y="0"/>
                </a:moveTo>
                <a:lnTo>
                  <a:pt x="3369888" y="0"/>
                </a:lnTo>
                <a:cubicBezTo>
                  <a:pt x="3405004" y="0"/>
                  <a:pt x="3433471" y="28467"/>
                  <a:pt x="3433471" y="63583"/>
                </a:cubicBezTo>
                <a:lnTo>
                  <a:pt x="3433471" y="190748"/>
                </a:lnTo>
                <a:cubicBezTo>
                  <a:pt x="3433471" y="225864"/>
                  <a:pt x="3405004" y="254331"/>
                  <a:pt x="3369888" y="254331"/>
                </a:cubicBezTo>
                <a:lnTo>
                  <a:pt x="63583" y="254331"/>
                </a:lnTo>
                <a:cubicBezTo>
                  <a:pt x="28490" y="254331"/>
                  <a:pt x="0" y="225841"/>
                  <a:pt x="0" y="190748"/>
                </a:cubicBezTo>
                <a:lnTo>
                  <a:pt x="0" y="63583"/>
                </a:lnTo>
                <a:cubicBezTo>
                  <a:pt x="0" y="28490"/>
                  <a:pt x="28490" y="0"/>
                  <a:pt x="63583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16" name="Shape 14"/>
          <p:cNvSpPr/>
          <p:nvPr/>
        </p:nvSpPr>
        <p:spPr>
          <a:xfrm>
            <a:off x="560323" y="3230801"/>
            <a:ext cx="95374" cy="95374"/>
          </a:xfrm>
          <a:custGeom>
            <a:avLst/>
            <a:gdLst/>
            <a:ahLst/>
            <a:cxnLst/>
            <a:rect l="l" t="t" r="r" b="b"/>
            <a:pathLst>
              <a:path w="95374" h="95374">
                <a:moveTo>
                  <a:pt x="47687" y="95374"/>
                </a:moveTo>
                <a:cubicBezTo>
                  <a:pt x="74006" y="95374"/>
                  <a:pt x="95374" y="74006"/>
                  <a:pt x="95374" y="47687"/>
                </a:cubicBezTo>
                <a:cubicBezTo>
                  <a:pt x="95374" y="21368"/>
                  <a:pt x="74006" y="0"/>
                  <a:pt x="47687" y="0"/>
                </a:cubicBezTo>
                <a:cubicBezTo>
                  <a:pt x="21368" y="0"/>
                  <a:pt x="0" y="21368"/>
                  <a:pt x="0" y="47687"/>
                </a:cubicBezTo>
                <a:cubicBezTo>
                  <a:pt x="0" y="74006"/>
                  <a:pt x="21368" y="95374"/>
                  <a:pt x="47687" y="95374"/>
                </a:cubicBezTo>
                <a:close/>
                <a:moveTo>
                  <a:pt x="63409" y="39621"/>
                </a:moveTo>
                <a:lnTo>
                  <a:pt x="48507" y="63465"/>
                </a:lnTo>
                <a:cubicBezTo>
                  <a:pt x="47724" y="64713"/>
                  <a:pt x="46383" y="65495"/>
                  <a:pt x="44912" y="65570"/>
                </a:cubicBezTo>
                <a:cubicBezTo>
                  <a:pt x="43440" y="65644"/>
                  <a:pt x="42024" y="64974"/>
                  <a:pt x="41149" y="63781"/>
                </a:cubicBezTo>
                <a:lnTo>
                  <a:pt x="32207" y="51860"/>
                </a:lnTo>
                <a:cubicBezTo>
                  <a:pt x="30717" y="49885"/>
                  <a:pt x="31127" y="47091"/>
                  <a:pt x="33102" y="45601"/>
                </a:cubicBezTo>
                <a:cubicBezTo>
                  <a:pt x="35076" y="44111"/>
                  <a:pt x="37870" y="44520"/>
                  <a:pt x="39360" y="46495"/>
                </a:cubicBezTo>
                <a:lnTo>
                  <a:pt x="44390" y="53201"/>
                </a:lnTo>
                <a:lnTo>
                  <a:pt x="55827" y="34890"/>
                </a:lnTo>
                <a:cubicBezTo>
                  <a:pt x="57131" y="32804"/>
                  <a:pt x="59888" y="32152"/>
                  <a:pt x="61993" y="33474"/>
                </a:cubicBezTo>
                <a:cubicBezTo>
                  <a:pt x="64098" y="34797"/>
                  <a:pt x="64732" y="37535"/>
                  <a:pt x="63409" y="39640"/>
                </a:cubicBezTo>
                <a:close/>
              </a:path>
            </a:pathLst>
          </a:custGeom>
          <a:solidFill>
            <a:srgbClr val="008236"/>
          </a:solidFill>
          <a:ln/>
        </p:spPr>
      </p:sp>
      <p:sp>
        <p:nvSpPr>
          <p:cNvPr id="17" name="Text 15"/>
          <p:cNvSpPr/>
          <p:nvPr/>
        </p:nvSpPr>
        <p:spPr>
          <a:xfrm>
            <a:off x="687515" y="3218879"/>
            <a:ext cx="3214879" cy="127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Ethical: Use for exploration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16893" y="1148464"/>
            <a:ext cx="3759332" cy="2424094"/>
          </a:xfrm>
          <a:custGeom>
            <a:avLst/>
            <a:gdLst/>
            <a:ahLst/>
            <a:cxnLst/>
            <a:rect l="l" t="t" r="r" b="b"/>
            <a:pathLst>
              <a:path w="3759332" h="2424094">
                <a:moveTo>
                  <a:pt x="63584" y="0"/>
                </a:moveTo>
                <a:lnTo>
                  <a:pt x="3695748" y="0"/>
                </a:lnTo>
                <a:cubicBezTo>
                  <a:pt x="3730865" y="0"/>
                  <a:pt x="3759332" y="28468"/>
                  <a:pt x="3759332" y="63584"/>
                </a:cubicBezTo>
                <a:lnTo>
                  <a:pt x="3759332" y="2360510"/>
                </a:lnTo>
                <a:cubicBezTo>
                  <a:pt x="3759332" y="2395626"/>
                  <a:pt x="3730865" y="2424094"/>
                  <a:pt x="3695748" y="2424094"/>
                </a:cubicBezTo>
                <a:lnTo>
                  <a:pt x="63584" y="2424094"/>
                </a:lnTo>
                <a:cubicBezTo>
                  <a:pt x="28468" y="2424094"/>
                  <a:pt x="0" y="2395626"/>
                  <a:pt x="0" y="2360510"/>
                </a:cubicBezTo>
                <a:lnTo>
                  <a:pt x="0" y="63584"/>
                </a:lnTo>
                <a:cubicBezTo>
                  <a:pt x="0" y="28491"/>
                  <a:pt x="28491" y="0"/>
                  <a:pt x="63584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79824" y="1311395"/>
            <a:ext cx="381497" cy="381497"/>
          </a:xfrm>
          <a:custGeom>
            <a:avLst/>
            <a:gdLst/>
            <a:ahLst/>
            <a:cxnLst/>
            <a:rect l="l" t="t" r="r" b="b"/>
            <a:pathLst>
              <a:path w="381497" h="381497">
                <a:moveTo>
                  <a:pt x="190748" y="0"/>
                </a:moveTo>
                <a:lnTo>
                  <a:pt x="190748" y="0"/>
                </a:lnTo>
                <a:cubicBezTo>
                  <a:pt x="296096" y="0"/>
                  <a:pt x="381497" y="85401"/>
                  <a:pt x="381497" y="190748"/>
                </a:cubicBezTo>
                <a:lnTo>
                  <a:pt x="381497" y="190748"/>
                </a:lnTo>
                <a:cubicBezTo>
                  <a:pt x="381497" y="296096"/>
                  <a:pt x="296096" y="381497"/>
                  <a:pt x="190748" y="381497"/>
                </a:cubicBezTo>
                <a:lnTo>
                  <a:pt x="190748" y="381497"/>
                </a:lnTo>
                <a:cubicBezTo>
                  <a:pt x="85401" y="381497"/>
                  <a:pt x="0" y="296096"/>
                  <a:pt x="0" y="190748"/>
                </a:cubicBezTo>
                <a:lnTo>
                  <a:pt x="0" y="190748"/>
                </a:lnTo>
                <a:cubicBezTo>
                  <a:pt x="0" y="85401"/>
                  <a:pt x="85401" y="0"/>
                  <a:pt x="190748" y="0"/>
                </a:cubicBez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20" name="Shape 18"/>
          <p:cNvSpPr/>
          <p:nvPr/>
        </p:nvSpPr>
        <p:spPr>
          <a:xfrm>
            <a:off x="4491093" y="1422665"/>
            <a:ext cx="158957" cy="158957"/>
          </a:xfrm>
          <a:custGeom>
            <a:avLst/>
            <a:gdLst/>
            <a:ahLst/>
            <a:cxnLst/>
            <a:rect l="l" t="t" r="r" b="b"/>
            <a:pathLst>
              <a:path w="158957" h="158957">
                <a:moveTo>
                  <a:pt x="129153" y="64576"/>
                </a:moveTo>
                <a:cubicBezTo>
                  <a:pt x="129153" y="78827"/>
                  <a:pt x="124527" y="91990"/>
                  <a:pt x="116734" y="102670"/>
                </a:cubicBezTo>
                <a:lnTo>
                  <a:pt x="156039" y="142006"/>
                </a:lnTo>
                <a:cubicBezTo>
                  <a:pt x="159919" y="145886"/>
                  <a:pt x="159919" y="152189"/>
                  <a:pt x="156039" y="156070"/>
                </a:cubicBezTo>
                <a:cubicBezTo>
                  <a:pt x="152158" y="159950"/>
                  <a:pt x="145855" y="159950"/>
                  <a:pt x="141975" y="156070"/>
                </a:cubicBezTo>
                <a:lnTo>
                  <a:pt x="102670" y="116734"/>
                </a:lnTo>
                <a:cubicBezTo>
                  <a:pt x="91990" y="124527"/>
                  <a:pt x="78827" y="129153"/>
                  <a:pt x="64576" y="129153"/>
                </a:cubicBezTo>
                <a:cubicBezTo>
                  <a:pt x="28904" y="129153"/>
                  <a:pt x="0" y="100248"/>
                  <a:pt x="0" y="64576"/>
                </a:cubicBezTo>
                <a:cubicBezTo>
                  <a:pt x="0" y="28904"/>
                  <a:pt x="28904" y="0"/>
                  <a:pt x="64576" y="0"/>
                </a:cubicBezTo>
                <a:cubicBezTo>
                  <a:pt x="100248" y="0"/>
                  <a:pt x="129153" y="28904"/>
                  <a:pt x="129153" y="64576"/>
                </a:cubicBezTo>
                <a:close/>
                <a:moveTo>
                  <a:pt x="64576" y="109283"/>
                </a:moveTo>
                <a:cubicBezTo>
                  <a:pt x="89251" y="109283"/>
                  <a:pt x="109283" y="89251"/>
                  <a:pt x="109283" y="64576"/>
                </a:cubicBezTo>
                <a:cubicBezTo>
                  <a:pt x="109283" y="39902"/>
                  <a:pt x="89251" y="19870"/>
                  <a:pt x="64576" y="19870"/>
                </a:cubicBezTo>
                <a:cubicBezTo>
                  <a:pt x="39902" y="19870"/>
                  <a:pt x="19870" y="39902"/>
                  <a:pt x="19870" y="64576"/>
                </a:cubicBezTo>
                <a:cubicBezTo>
                  <a:pt x="19870" y="89251"/>
                  <a:pt x="39902" y="109283"/>
                  <a:pt x="64576" y="10928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856694" y="1390874"/>
            <a:ext cx="731202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2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79824" y="1820057"/>
            <a:ext cx="3433471" cy="572245"/>
          </a:xfrm>
          <a:custGeom>
            <a:avLst/>
            <a:gdLst/>
            <a:ahLst/>
            <a:cxnLst/>
            <a:rect l="l" t="t" r="r" b="b"/>
            <a:pathLst>
              <a:path w="3433471" h="572245">
                <a:moveTo>
                  <a:pt x="63582" y="0"/>
                </a:moveTo>
                <a:lnTo>
                  <a:pt x="3369889" y="0"/>
                </a:lnTo>
                <a:cubicBezTo>
                  <a:pt x="3405004" y="0"/>
                  <a:pt x="3433471" y="28467"/>
                  <a:pt x="3433471" y="63582"/>
                </a:cubicBezTo>
                <a:lnTo>
                  <a:pt x="3433471" y="508663"/>
                </a:lnTo>
                <a:cubicBezTo>
                  <a:pt x="3433471" y="543778"/>
                  <a:pt x="3405004" y="572245"/>
                  <a:pt x="3369889" y="572245"/>
                </a:cubicBezTo>
                <a:lnTo>
                  <a:pt x="63582" y="572245"/>
                </a:lnTo>
                <a:cubicBezTo>
                  <a:pt x="28467" y="572245"/>
                  <a:pt x="0" y="543778"/>
                  <a:pt x="0" y="508663"/>
                </a:cubicBezTo>
                <a:lnTo>
                  <a:pt x="0" y="63582"/>
                </a:lnTo>
                <a:cubicBezTo>
                  <a:pt x="0" y="28467"/>
                  <a:pt x="28467" y="0"/>
                  <a:pt x="63582" y="0"/>
                </a:cubicBezTo>
                <a:close/>
              </a:path>
            </a:pathLst>
          </a:custGeom>
          <a:solidFill>
            <a:srgbClr val="2D5A3D">
              <a:alpha val="5098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475198" y="1915432"/>
            <a:ext cx="3306305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Consensus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75198" y="2137971"/>
            <a:ext cx="3298357" cy="158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6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 evidence-based answers with citations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79824" y="2487677"/>
            <a:ext cx="3433471" cy="572245"/>
          </a:xfrm>
          <a:custGeom>
            <a:avLst/>
            <a:gdLst/>
            <a:ahLst/>
            <a:cxnLst/>
            <a:rect l="l" t="t" r="r" b="b"/>
            <a:pathLst>
              <a:path w="3433471" h="572245">
                <a:moveTo>
                  <a:pt x="63582" y="0"/>
                </a:moveTo>
                <a:lnTo>
                  <a:pt x="3369889" y="0"/>
                </a:lnTo>
                <a:cubicBezTo>
                  <a:pt x="3405004" y="0"/>
                  <a:pt x="3433471" y="28467"/>
                  <a:pt x="3433471" y="63582"/>
                </a:cubicBezTo>
                <a:lnTo>
                  <a:pt x="3433471" y="508663"/>
                </a:lnTo>
                <a:cubicBezTo>
                  <a:pt x="3433471" y="543778"/>
                  <a:pt x="3405004" y="572245"/>
                  <a:pt x="3369889" y="572245"/>
                </a:cubicBezTo>
                <a:lnTo>
                  <a:pt x="63582" y="572245"/>
                </a:lnTo>
                <a:cubicBezTo>
                  <a:pt x="28467" y="572245"/>
                  <a:pt x="0" y="543778"/>
                  <a:pt x="0" y="508663"/>
                </a:cubicBezTo>
                <a:lnTo>
                  <a:pt x="0" y="63582"/>
                </a:lnTo>
                <a:cubicBezTo>
                  <a:pt x="0" y="28467"/>
                  <a:pt x="28467" y="0"/>
                  <a:pt x="63582" y="0"/>
                </a:cubicBezTo>
                <a:close/>
              </a:path>
            </a:pathLst>
          </a:custGeom>
          <a:solidFill>
            <a:srgbClr val="7D9A78">
              <a:alpha val="5098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475198" y="2583051"/>
            <a:ext cx="3306305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 Scholar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75198" y="2805591"/>
            <a:ext cx="3298357" cy="158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6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 influential papers, citation networks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9824" y="3155296"/>
            <a:ext cx="3433471" cy="254331"/>
          </a:xfrm>
          <a:custGeom>
            <a:avLst/>
            <a:gdLst/>
            <a:ahLst/>
            <a:cxnLst/>
            <a:rect l="l" t="t" r="r" b="b"/>
            <a:pathLst>
              <a:path w="3433471" h="254331">
                <a:moveTo>
                  <a:pt x="63583" y="0"/>
                </a:moveTo>
                <a:lnTo>
                  <a:pt x="3369888" y="0"/>
                </a:lnTo>
                <a:cubicBezTo>
                  <a:pt x="3405004" y="0"/>
                  <a:pt x="3433471" y="28467"/>
                  <a:pt x="3433471" y="63583"/>
                </a:cubicBezTo>
                <a:lnTo>
                  <a:pt x="3433471" y="190748"/>
                </a:lnTo>
                <a:cubicBezTo>
                  <a:pt x="3433471" y="225864"/>
                  <a:pt x="3405004" y="254331"/>
                  <a:pt x="3369888" y="254331"/>
                </a:cubicBezTo>
                <a:lnTo>
                  <a:pt x="63583" y="254331"/>
                </a:lnTo>
                <a:cubicBezTo>
                  <a:pt x="28490" y="254331"/>
                  <a:pt x="0" y="225841"/>
                  <a:pt x="0" y="190748"/>
                </a:cubicBezTo>
                <a:lnTo>
                  <a:pt x="0" y="63583"/>
                </a:lnTo>
                <a:cubicBezTo>
                  <a:pt x="0" y="28490"/>
                  <a:pt x="28490" y="0"/>
                  <a:pt x="63583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29" name="Shape 27"/>
          <p:cNvSpPr/>
          <p:nvPr/>
        </p:nvSpPr>
        <p:spPr>
          <a:xfrm>
            <a:off x="4455328" y="3230801"/>
            <a:ext cx="95374" cy="95374"/>
          </a:xfrm>
          <a:custGeom>
            <a:avLst/>
            <a:gdLst/>
            <a:ahLst/>
            <a:cxnLst/>
            <a:rect l="l" t="t" r="r" b="b"/>
            <a:pathLst>
              <a:path w="95374" h="95374">
                <a:moveTo>
                  <a:pt x="47687" y="95374"/>
                </a:moveTo>
                <a:cubicBezTo>
                  <a:pt x="74006" y="95374"/>
                  <a:pt x="95374" y="74006"/>
                  <a:pt x="95374" y="47687"/>
                </a:cubicBezTo>
                <a:cubicBezTo>
                  <a:pt x="95374" y="21368"/>
                  <a:pt x="74006" y="0"/>
                  <a:pt x="47687" y="0"/>
                </a:cubicBezTo>
                <a:cubicBezTo>
                  <a:pt x="21368" y="0"/>
                  <a:pt x="0" y="21368"/>
                  <a:pt x="0" y="47687"/>
                </a:cubicBezTo>
                <a:cubicBezTo>
                  <a:pt x="0" y="74006"/>
                  <a:pt x="21368" y="95374"/>
                  <a:pt x="47687" y="95374"/>
                </a:cubicBezTo>
                <a:close/>
                <a:moveTo>
                  <a:pt x="63409" y="39621"/>
                </a:moveTo>
                <a:lnTo>
                  <a:pt x="48507" y="63465"/>
                </a:lnTo>
                <a:cubicBezTo>
                  <a:pt x="47724" y="64713"/>
                  <a:pt x="46383" y="65495"/>
                  <a:pt x="44912" y="65570"/>
                </a:cubicBezTo>
                <a:cubicBezTo>
                  <a:pt x="43440" y="65644"/>
                  <a:pt x="42024" y="64974"/>
                  <a:pt x="41149" y="63781"/>
                </a:cubicBezTo>
                <a:lnTo>
                  <a:pt x="32207" y="51860"/>
                </a:lnTo>
                <a:cubicBezTo>
                  <a:pt x="30717" y="49885"/>
                  <a:pt x="31127" y="47091"/>
                  <a:pt x="33102" y="45601"/>
                </a:cubicBezTo>
                <a:cubicBezTo>
                  <a:pt x="35076" y="44111"/>
                  <a:pt x="37870" y="44520"/>
                  <a:pt x="39360" y="46495"/>
                </a:cubicBezTo>
                <a:lnTo>
                  <a:pt x="44390" y="53201"/>
                </a:lnTo>
                <a:lnTo>
                  <a:pt x="55827" y="34890"/>
                </a:lnTo>
                <a:cubicBezTo>
                  <a:pt x="57131" y="32804"/>
                  <a:pt x="59888" y="32152"/>
                  <a:pt x="61993" y="33474"/>
                </a:cubicBezTo>
                <a:cubicBezTo>
                  <a:pt x="64098" y="34797"/>
                  <a:pt x="64732" y="37535"/>
                  <a:pt x="63409" y="39640"/>
                </a:cubicBezTo>
                <a:close/>
              </a:path>
            </a:pathLst>
          </a:custGeom>
          <a:solidFill>
            <a:srgbClr val="008236"/>
          </a:solidFill>
          <a:ln/>
        </p:spPr>
      </p:sp>
      <p:sp>
        <p:nvSpPr>
          <p:cNvPr id="30" name="Text 28"/>
          <p:cNvSpPr/>
          <p:nvPr/>
        </p:nvSpPr>
        <p:spPr>
          <a:xfrm>
            <a:off x="4582520" y="3218879"/>
            <a:ext cx="3214879" cy="127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Ethical: Verify all sources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74828" y="1311395"/>
            <a:ext cx="381497" cy="381497"/>
          </a:xfrm>
          <a:custGeom>
            <a:avLst/>
            <a:gdLst/>
            <a:ahLst/>
            <a:cxnLst/>
            <a:rect l="l" t="t" r="r" b="b"/>
            <a:pathLst>
              <a:path w="381497" h="381497">
                <a:moveTo>
                  <a:pt x="190748" y="0"/>
                </a:moveTo>
                <a:lnTo>
                  <a:pt x="190748" y="0"/>
                </a:lnTo>
                <a:cubicBezTo>
                  <a:pt x="296096" y="0"/>
                  <a:pt x="381497" y="85401"/>
                  <a:pt x="381497" y="190748"/>
                </a:cubicBezTo>
                <a:lnTo>
                  <a:pt x="381497" y="190748"/>
                </a:lnTo>
                <a:cubicBezTo>
                  <a:pt x="381497" y="296096"/>
                  <a:pt x="296096" y="381497"/>
                  <a:pt x="190748" y="381497"/>
                </a:cubicBezTo>
                <a:lnTo>
                  <a:pt x="190748" y="381497"/>
                </a:lnTo>
                <a:cubicBezTo>
                  <a:pt x="85401" y="381497"/>
                  <a:pt x="0" y="296096"/>
                  <a:pt x="0" y="190748"/>
                </a:cubicBezTo>
                <a:lnTo>
                  <a:pt x="0" y="190748"/>
                </a:lnTo>
                <a:cubicBezTo>
                  <a:pt x="0" y="85401"/>
                  <a:pt x="85401" y="0"/>
                  <a:pt x="190748" y="0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32" name="Shape 30"/>
          <p:cNvSpPr/>
          <p:nvPr/>
        </p:nvSpPr>
        <p:spPr>
          <a:xfrm>
            <a:off x="8386098" y="1422665"/>
            <a:ext cx="158957" cy="158957"/>
          </a:xfrm>
          <a:custGeom>
            <a:avLst/>
            <a:gdLst/>
            <a:ahLst/>
            <a:cxnLst/>
            <a:rect l="l" t="t" r="r" b="b"/>
            <a:pathLst>
              <a:path w="158957" h="158957">
                <a:moveTo>
                  <a:pt x="109562" y="6582"/>
                </a:moveTo>
                <a:lnTo>
                  <a:pt x="95623" y="20522"/>
                </a:lnTo>
                <a:lnTo>
                  <a:pt x="138435" y="63334"/>
                </a:lnTo>
                <a:lnTo>
                  <a:pt x="152375" y="49395"/>
                </a:lnTo>
                <a:cubicBezTo>
                  <a:pt x="156597" y="45203"/>
                  <a:pt x="158957" y="39491"/>
                  <a:pt x="158957" y="33530"/>
                </a:cubicBezTo>
                <a:cubicBezTo>
                  <a:pt x="158957" y="27569"/>
                  <a:pt x="156597" y="21857"/>
                  <a:pt x="152375" y="17665"/>
                </a:cubicBezTo>
                <a:lnTo>
                  <a:pt x="141292" y="6582"/>
                </a:lnTo>
                <a:cubicBezTo>
                  <a:pt x="137100" y="2360"/>
                  <a:pt x="131388" y="0"/>
                  <a:pt x="125427" y="0"/>
                </a:cubicBezTo>
                <a:cubicBezTo>
                  <a:pt x="119466" y="0"/>
                  <a:pt x="113754" y="2360"/>
                  <a:pt x="109562" y="6582"/>
                </a:cubicBezTo>
                <a:close/>
                <a:moveTo>
                  <a:pt x="85098" y="31046"/>
                </a:moveTo>
                <a:lnTo>
                  <a:pt x="18286" y="97827"/>
                </a:lnTo>
                <a:cubicBezTo>
                  <a:pt x="14964" y="101149"/>
                  <a:pt x="12543" y="105309"/>
                  <a:pt x="11270" y="109842"/>
                </a:cubicBezTo>
                <a:lnTo>
                  <a:pt x="279" y="149519"/>
                </a:lnTo>
                <a:cubicBezTo>
                  <a:pt x="-435" y="152096"/>
                  <a:pt x="279" y="154890"/>
                  <a:pt x="2204" y="156784"/>
                </a:cubicBezTo>
                <a:cubicBezTo>
                  <a:pt x="4129" y="158678"/>
                  <a:pt x="6892" y="159423"/>
                  <a:pt x="9469" y="158709"/>
                </a:cubicBezTo>
                <a:lnTo>
                  <a:pt x="49146" y="147687"/>
                </a:lnTo>
                <a:cubicBezTo>
                  <a:pt x="53679" y="146414"/>
                  <a:pt x="57808" y="144024"/>
                  <a:pt x="61161" y="140671"/>
                </a:cubicBezTo>
                <a:lnTo>
                  <a:pt x="127911" y="73859"/>
                </a:lnTo>
                <a:lnTo>
                  <a:pt x="85098" y="3104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8751699" y="1390874"/>
            <a:ext cx="596089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2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Writing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74828" y="1820057"/>
            <a:ext cx="3433471" cy="572245"/>
          </a:xfrm>
          <a:custGeom>
            <a:avLst/>
            <a:gdLst/>
            <a:ahLst/>
            <a:cxnLst/>
            <a:rect l="l" t="t" r="r" b="b"/>
            <a:pathLst>
              <a:path w="3433471" h="572245">
                <a:moveTo>
                  <a:pt x="63582" y="0"/>
                </a:moveTo>
                <a:lnTo>
                  <a:pt x="3369889" y="0"/>
                </a:lnTo>
                <a:cubicBezTo>
                  <a:pt x="3405004" y="0"/>
                  <a:pt x="3433471" y="28467"/>
                  <a:pt x="3433471" y="63582"/>
                </a:cubicBezTo>
                <a:lnTo>
                  <a:pt x="3433471" y="508663"/>
                </a:lnTo>
                <a:cubicBezTo>
                  <a:pt x="3433471" y="543778"/>
                  <a:pt x="3405004" y="572245"/>
                  <a:pt x="3369889" y="572245"/>
                </a:cubicBezTo>
                <a:lnTo>
                  <a:pt x="63582" y="572245"/>
                </a:lnTo>
                <a:cubicBezTo>
                  <a:pt x="28467" y="572245"/>
                  <a:pt x="0" y="543778"/>
                  <a:pt x="0" y="508663"/>
                </a:cubicBezTo>
                <a:lnTo>
                  <a:pt x="0" y="63582"/>
                </a:lnTo>
                <a:cubicBezTo>
                  <a:pt x="0" y="28467"/>
                  <a:pt x="28467" y="0"/>
                  <a:pt x="63582" y="0"/>
                </a:cubicBezTo>
                <a:close/>
              </a:path>
            </a:pathLst>
          </a:custGeom>
          <a:solidFill>
            <a:srgbClr val="2D5A3D">
              <a:alpha val="5098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274828" y="2487677"/>
            <a:ext cx="3433471" cy="572245"/>
          </a:xfrm>
          <a:custGeom>
            <a:avLst/>
            <a:gdLst/>
            <a:ahLst/>
            <a:cxnLst/>
            <a:rect l="l" t="t" r="r" b="b"/>
            <a:pathLst>
              <a:path w="3433471" h="572245">
                <a:moveTo>
                  <a:pt x="63582" y="0"/>
                </a:moveTo>
                <a:lnTo>
                  <a:pt x="3369889" y="0"/>
                </a:lnTo>
                <a:cubicBezTo>
                  <a:pt x="3405004" y="0"/>
                  <a:pt x="3433471" y="28467"/>
                  <a:pt x="3433471" y="63582"/>
                </a:cubicBezTo>
                <a:lnTo>
                  <a:pt x="3433471" y="508663"/>
                </a:lnTo>
                <a:cubicBezTo>
                  <a:pt x="3433471" y="543778"/>
                  <a:pt x="3405004" y="572245"/>
                  <a:pt x="3369889" y="572245"/>
                </a:cubicBezTo>
                <a:lnTo>
                  <a:pt x="63582" y="572245"/>
                </a:lnTo>
                <a:cubicBezTo>
                  <a:pt x="28467" y="572245"/>
                  <a:pt x="0" y="543778"/>
                  <a:pt x="0" y="508663"/>
                </a:cubicBezTo>
                <a:lnTo>
                  <a:pt x="0" y="63582"/>
                </a:lnTo>
                <a:cubicBezTo>
                  <a:pt x="0" y="28467"/>
                  <a:pt x="28467" y="0"/>
                  <a:pt x="63582" y="0"/>
                </a:cubicBezTo>
                <a:close/>
              </a:path>
            </a:pathLst>
          </a:custGeom>
          <a:solidFill>
            <a:srgbClr val="7D9A78">
              <a:alpha val="5098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274828" y="3155296"/>
            <a:ext cx="3433471" cy="254331"/>
          </a:xfrm>
          <a:custGeom>
            <a:avLst/>
            <a:gdLst/>
            <a:ahLst/>
            <a:cxnLst/>
            <a:rect l="l" t="t" r="r" b="b"/>
            <a:pathLst>
              <a:path w="3433471" h="254331">
                <a:moveTo>
                  <a:pt x="63583" y="0"/>
                </a:moveTo>
                <a:lnTo>
                  <a:pt x="3369888" y="0"/>
                </a:lnTo>
                <a:cubicBezTo>
                  <a:pt x="3405004" y="0"/>
                  <a:pt x="3433471" y="28467"/>
                  <a:pt x="3433471" y="63583"/>
                </a:cubicBezTo>
                <a:lnTo>
                  <a:pt x="3433471" y="190748"/>
                </a:lnTo>
                <a:cubicBezTo>
                  <a:pt x="3433471" y="225864"/>
                  <a:pt x="3405004" y="254331"/>
                  <a:pt x="3369888" y="254331"/>
                </a:cubicBezTo>
                <a:lnTo>
                  <a:pt x="63583" y="254331"/>
                </a:lnTo>
                <a:cubicBezTo>
                  <a:pt x="28490" y="254331"/>
                  <a:pt x="0" y="225841"/>
                  <a:pt x="0" y="190748"/>
                </a:cubicBezTo>
                <a:lnTo>
                  <a:pt x="0" y="63583"/>
                </a:lnTo>
                <a:cubicBezTo>
                  <a:pt x="0" y="28490"/>
                  <a:pt x="28490" y="0"/>
                  <a:pt x="63583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37" name="Shape 35"/>
          <p:cNvSpPr/>
          <p:nvPr/>
        </p:nvSpPr>
        <p:spPr>
          <a:xfrm>
            <a:off x="8350333" y="3230801"/>
            <a:ext cx="95374" cy="95374"/>
          </a:xfrm>
          <a:custGeom>
            <a:avLst/>
            <a:gdLst/>
            <a:ahLst/>
            <a:cxnLst/>
            <a:rect l="l" t="t" r="r" b="b"/>
            <a:pathLst>
              <a:path w="95374" h="95374">
                <a:moveTo>
                  <a:pt x="47687" y="95374"/>
                </a:moveTo>
                <a:cubicBezTo>
                  <a:pt x="74006" y="95374"/>
                  <a:pt x="95374" y="74006"/>
                  <a:pt x="95374" y="47687"/>
                </a:cubicBezTo>
                <a:cubicBezTo>
                  <a:pt x="95374" y="21368"/>
                  <a:pt x="74006" y="0"/>
                  <a:pt x="47687" y="0"/>
                </a:cubicBezTo>
                <a:cubicBezTo>
                  <a:pt x="21368" y="0"/>
                  <a:pt x="0" y="21368"/>
                  <a:pt x="0" y="47687"/>
                </a:cubicBezTo>
                <a:cubicBezTo>
                  <a:pt x="0" y="74006"/>
                  <a:pt x="21368" y="95374"/>
                  <a:pt x="47687" y="95374"/>
                </a:cubicBezTo>
                <a:close/>
                <a:moveTo>
                  <a:pt x="63409" y="39621"/>
                </a:moveTo>
                <a:lnTo>
                  <a:pt x="48507" y="63465"/>
                </a:lnTo>
                <a:cubicBezTo>
                  <a:pt x="47724" y="64713"/>
                  <a:pt x="46383" y="65495"/>
                  <a:pt x="44912" y="65570"/>
                </a:cubicBezTo>
                <a:cubicBezTo>
                  <a:pt x="43440" y="65644"/>
                  <a:pt x="42024" y="64974"/>
                  <a:pt x="41149" y="63781"/>
                </a:cubicBezTo>
                <a:lnTo>
                  <a:pt x="32207" y="51860"/>
                </a:lnTo>
                <a:cubicBezTo>
                  <a:pt x="30717" y="49885"/>
                  <a:pt x="31127" y="47091"/>
                  <a:pt x="33102" y="45601"/>
                </a:cubicBezTo>
                <a:cubicBezTo>
                  <a:pt x="35076" y="44111"/>
                  <a:pt x="37870" y="44520"/>
                  <a:pt x="39360" y="46495"/>
                </a:cubicBezTo>
                <a:lnTo>
                  <a:pt x="44390" y="53201"/>
                </a:lnTo>
                <a:lnTo>
                  <a:pt x="55827" y="34890"/>
                </a:lnTo>
                <a:cubicBezTo>
                  <a:pt x="57131" y="32804"/>
                  <a:pt x="59888" y="32152"/>
                  <a:pt x="61993" y="33474"/>
                </a:cubicBezTo>
                <a:cubicBezTo>
                  <a:pt x="64098" y="34797"/>
                  <a:pt x="64732" y="37535"/>
                  <a:pt x="63409" y="39640"/>
                </a:cubicBezTo>
                <a:close/>
              </a:path>
            </a:pathLst>
          </a:custGeom>
          <a:solidFill>
            <a:srgbClr val="008236"/>
          </a:solidFill>
          <a:ln/>
        </p:spPr>
      </p:sp>
      <p:sp>
        <p:nvSpPr>
          <p:cNvPr id="38" name="Text 36"/>
          <p:cNvSpPr/>
          <p:nvPr/>
        </p:nvSpPr>
        <p:spPr>
          <a:xfrm>
            <a:off x="8477524" y="3218879"/>
            <a:ext cx="3214879" cy="127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Ethical: Enhance, don't replace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21888" y="3707671"/>
            <a:ext cx="3759332" cy="2424094"/>
          </a:xfrm>
          <a:custGeom>
            <a:avLst/>
            <a:gdLst/>
            <a:ahLst/>
            <a:cxnLst/>
            <a:rect l="l" t="t" r="r" b="b"/>
            <a:pathLst>
              <a:path w="3759332" h="2424094">
                <a:moveTo>
                  <a:pt x="63584" y="0"/>
                </a:moveTo>
                <a:lnTo>
                  <a:pt x="3695748" y="0"/>
                </a:lnTo>
                <a:cubicBezTo>
                  <a:pt x="3730865" y="0"/>
                  <a:pt x="3759332" y="28468"/>
                  <a:pt x="3759332" y="63584"/>
                </a:cubicBezTo>
                <a:lnTo>
                  <a:pt x="3759332" y="2360510"/>
                </a:lnTo>
                <a:cubicBezTo>
                  <a:pt x="3759332" y="2395626"/>
                  <a:pt x="3730865" y="2424094"/>
                  <a:pt x="3695748" y="2424094"/>
                </a:cubicBezTo>
                <a:lnTo>
                  <a:pt x="63584" y="2424094"/>
                </a:lnTo>
                <a:cubicBezTo>
                  <a:pt x="28468" y="2424094"/>
                  <a:pt x="0" y="2395626"/>
                  <a:pt x="0" y="2360510"/>
                </a:cubicBezTo>
                <a:lnTo>
                  <a:pt x="0" y="63584"/>
                </a:lnTo>
                <a:cubicBezTo>
                  <a:pt x="0" y="28491"/>
                  <a:pt x="28491" y="0"/>
                  <a:pt x="63584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819" y="3870602"/>
            <a:ext cx="381497" cy="381497"/>
          </a:xfrm>
          <a:custGeom>
            <a:avLst/>
            <a:gdLst/>
            <a:ahLst/>
            <a:cxnLst/>
            <a:rect l="l" t="t" r="r" b="b"/>
            <a:pathLst>
              <a:path w="381497" h="381497">
                <a:moveTo>
                  <a:pt x="190748" y="0"/>
                </a:moveTo>
                <a:lnTo>
                  <a:pt x="190748" y="0"/>
                </a:lnTo>
                <a:cubicBezTo>
                  <a:pt x="296096" y="0"/>
                  <a:pt x="381497" y="85401"/>
                  <a:pt x="381497" y="190748"/>
                </a:cubicBezTo>
                <a:lnTo>
                  <a:pt x="381497" y="190748"/>
                </a:lnTo>
                <a:cubicBezTo>
                  <a:pt x="381497" y="296096"/>
                  <a:pt x="296096" y="381497"/>
                  <a:pt x="190748" y="381497"/>
                </a:cubicBezTo>
                <a:lnTo>
                  <a:pt x="190748" y="381497"/>
                </a:lnTo>
                <a:cubicBezTo>
                  <a:pt x="85401" y="381497"/>
                  <a:pt x="0" y="296096"/>
                  <a:pt x="0" y="190748"/>
                </a:cubicBezTo>
                <a:lnTo>
                  <a:pt x="0" y="190748"/>
                </a:lnTo>
                <a:cubicBezTo>
                  <a:pt x="0" y="85401"/>
                  <a:pt x="85401" y="0"/>
                  <a:pt x="190748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41" name="Shape 39"/>
          <p:cNvSpPr/>
          <p:nvPr/>
        </p:nvSpPr>
        <p:spPr>
          <a:xfrm>
            <a:off x="606023" y="3981872"/>
            <a:ext cx="139087" cy="158957"/>
          </a:xfrm>
          <a:custGeom>
            <a:avLst/>
            <a:gdLst/>
            <a:ahLst/>
            <a:cxnLst/>
            <a:rect l="l" t="t" r="r" b="b"/>
            <a:pathLst>
              <a:path w="139087" h="158957">
                <a:moveTo>
                  <a:pt x="139087" y="91897"/>
                </a:moveTo>
                <a:cubicBezTo>
                  <a:pt x="139087" y="112481"/>
                  <a:pt x="122415" y="129153"/>
                  <a:pt x="101832" y="129153"/>
                </a:cubicBezTo>
                <a:lnTo>
                  <a:pt x="99348" y="129153"/>
                </a:lnTo>
                <a:cubicBezTo>
                  <a:pt x="93853" y="129153"/>
                  <a:pt x="89413" y="124713"/>
                  <a:pt x="89413" y="119218"/>
                </a:cubicBezTo>
                <a:cubicBezTo>
                  <a:pt x="89413" y="113723"/>
                  <a:pt x="93853" y="109283"/>
                  <a:pt x="99348" y="109283"/>
                </a:cubicBezTo>
                <a:lnTo>
                  <a:pt x="101832" y="109283"/>
                </a:lnTo>
                <a:cubicBezTo>
                  <a:pt x="111425" y="109283"/>
                  <a:pt x="119218" y="101490"/>
                  <a:pt x="119218" y="91897"/>
                </a:cubicBezTo>
                <a:lnTo>
                  <a:pt x="119218" y="89413"/>
                </a:lnTo>
                <a:lnTo>
                  <a:pt x="99348" y="89413"/>
                </a:lnTo>
                <a:cubicBezTo>
                  <a:pt x="88389" y="89413"/>
                  <a:pt x="79478" y="80503"/>
                  <a:pt x="79478" y="69544"/>
                </a:cubicBezTo>
                <a:lnTo>
                  <a:pt x="79478" y="49674"/>
                </a:lnTo>
                <a:cubicBezTo>
                  <a:pt x="79478" y="38715"/>
                  <a:pt x="88389" y="29804"/>
                  <a:pt x="99348" y="29804"/>
                </a:cubicBezTo>
                <a:lnTo>
                  <a:pt x="119218" y="29804"/>
                </a:lnTo>
                <a:cubicBezTo>
                  <a:pt x="130177" y="29804"/>
                  <a:pt x="139087" y="38715"/>
                  <a:pt x="139087" y="49674"/>
                </a:cubicBezTo>
                <a:lnTo>
                  <a:pt x="139087" y="91897"/>
                </a:lnTo>
                <a:close/>
                <a:moveTo>
                  <a:pt x="59609" y="91897"/>
                </a:moveTo>
                <a:cubicBezTo>
                  <a:pt x="59609" y="112481"/>
                  <a:pt x="42937" y="129153"/>
                  <a:pt x="22353" y="129153"/>
                </a:cubicBezTo>
                <a:lnTo>
                  <a:pt x="19870" y="129153"/>
                </a:lnTo>
                <a:cubicBezTo>
                  <a:pt x="14374" y="129153"/>
                  <a:pt x="9935" y="124713"/>
                  <a:pt x="9935" y="119218"/>
                </a:cubicBezTo>
                <a:cubicBezTo>
                  <a:pt x="9935" y="113723"/>
                  <a:pt x="14374" y="109283"/>
                  <a:pt x="19870" y="109283"/>
                </a:cubicBezTo>
                <a:lnTo>
                  <a:pt x="22353" y="109283"/>
                </a:lnTo>
                <a:cubicBezTo>
                  <a:pt x="31947" y="109283"/>
                  <a:pt x="39739" y="101490"/>
                  <a:pt x="39739" y="91897"/>
                </a:cubicBezTo>
                <a:lnTo>
                  <a:pt x="39739" y="89413"/>
                </a:lnTo>
                <a:lnTo>
                  <a:pt x="19870" y="89413"/>
                </a:lnTo>
                <a:cubicBezTo>
                  <a:pt x="8910" y="89413"/>
                  <a:pt x="0" y="80503"/>
                  <a:pt x="0" y="69544"/>
                </a:cubicBezTo>
                <a:lnTo>
                  <a:pt x="0" y="49674"/>
                </a:lnTo>
                <a:cubicBezTo>
                  <a:pt x="0" y="38715"/>
                  <a:pt x="8910" y="29804"/>
                  <a:pt x="19870" y="29804"/>
                </a:cubicBezTo>
                <a:lnTo>
                  <a:pt x="39739" y="29804"/>
                </a:lnTo>
                <a:cubicBezTo>
                  <a:pt x="50699" y="29804"/>
                  <a:pt x="59609" y="38715"/>
                  <a:pt x="59609" y="49674"/>
                </a:cubicBezTo>
                <a:lnTo>
                  <a:pt x="59609" y="9189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961690" y="3950081"/>
            <a:ext cx="627880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2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Citation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84819" y="4379265"/>
            <a:ext cx="3433471" cy="572245"/>
          </a:xfrm>
          <a:custGeom>
            <a:avLst/>
            <a:gdLst/>
            <a:ahLst/>
            <a:cxnLst/>
            <a:rect l="l" t="t" r="r" b="b"/>
            <a:pathLst>
              <a:path w="3433471" h="572245">
                <a:moveTo>
                  <a:pt x="63582" y="0"/>
                </a:moveTo>
                <a:lnTo>
                  <a:pt x="3369889" y="0"/>
                </a:lnTo>
                <a:cubicBezTo>
                  <a:pt x="3405004" y="0"/>
                  <a:pt x="3433471" y="28467"/>
                  <a:pt x="3433471" y="63582"/>
                </a:cubicBezTo>
                <a:lnTo>
                  <a:pt x="3433471" y="508663"/>
                </a:lnTo>
                <a:cubicBezTo>
                  <a:pt x="3433471" y="543778"/>
                  <a:pt x="3405004" y="572245"/>
                  <a:pt x="3369889" y="572245"/>
                </a:cubicBezTo>
                <a:lnTo>
                  <a:pt x="63582" y="572245"/>
                </a:lnTo>
                <a:cubicBezTo>
                  <a:pt x="28467" y="572245"/>
                  <a:pt x="0" y="543778"/>
                  <a:pt x="0" y="508663"/>
                </a:cubicBezTo>
                <a:lnTo>
                  <a:pt x="0" y="63582"/>
                </a:lnTo>
                <a:cubicBezTo>
                  <a:pt x="0" y="28467"/>
                  <a:pt x="28467" y="0"/>
                  <a:pt x="63582" y="0"/>
                </a:cubicBezTo>
                <a:close/>
              </a:path>
            </a:pathLst>
          </a:custGeom>
          <a:solidFill>
            <a:srgbClr val="2D5A3D">
              <a:alpha val="5098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80193" y="4474639"/>
            <a:ext cx="3306305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Zotero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80193" y="4697179"/>
            <a:ext cx="3298357" cy="158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6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 reference management, browser integration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84819" y="5046884"/>
            <a:ext cx="3433471" cy="572245"/>
          </a:xfrm>
          <a:custGeom>
            <a:avLst/>
            <a:gdLst/>
            <a:ahLst/>
            <a:cxnLst/>
            <a:rect l="l" t="t" r="r" b="b"/>
            <a:pathLst>
              <a:path w="3433471" h="572245">
                <a:moveTo>
                  <a:pt x="63582" y="0"/>
                </a:moveTo>
                <a:lnTo>
                  <a:pt x="3369889" y="0"/>
                </a:lnTo>
                <a:cubicBezTo>
                  <a:pt x="3405004" y="0"/>
                  <a:pt x="3433471" y="28467"/>
                  <a:pt x="3433471" y="63582"/>
                </a:cubicBezTo>
                <a:lnTo>
                  <a:pt x="3433471" y="508663"/>
                </a:lnTo>
                <a:cubicBezTo>
                  <a:pt x="3433471" y="543778"/>
                  <a:pt x="3405004" y="572245"/>
                  <a:pt x="3369889" y="572245"/>
                </a:cubicBezTo>
                <a:lnTo>
                  <a:pt x="63582" y="572245"/>
                </a:lnTo>
                <a:cubicBezTo>
                  <a:pt x="28467" y="572245"/>
                  <a:pt x="0" y="543778"/>
                  <a:pt x="0" y="508663"/>
                </a:cubicBezTo>
                <a:lnTo>
                  <a:pt x="0" y="63582"/>
                </a:lnTo>
                <a:cubicBezTo>
                  <a:pt x="0" y="28467"/>
                  <a:pt x="28467" y="0"/>
                  <a:pt x="63582" y="0"/>
                </a:cubicBezTo>
                <a:close/>
              </a:path>
            </a:pathLst>
          </a:custGeom>
          <a:solidFill>
            <a:srgbClr val="7D9A78">
              <a:alpha val="5098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80193" y="5142258"/>
            <a:ext cx="3306305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Mendeley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80193" y="5364798"/>
            <a:ext cx="3298357" cy="158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6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Organize research, collaborate, annotate PDFs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84819" y="5714503"/>
            <a:ext cx="3433471" cy="254331"/>
          </a:xfrm>
          <a:custGeom>
            <a:avLst/>
            <a:gdLst/>
            <a:ahLst/>
            <a:cxnLst/>
            <a:rect l="l" t="t" r="r" b="b"/>
            <a:pathLst>
              <a:path w="3433471" h="254331">
                <a:moveTo>
                  <a:pt x="63583" y="0"/>
                </a:moveTo>
                <a:lnTo>
                  <a:pt x="3369888" y="0"/>
                </a:lnTo>
                <a:cubicBezTo>
                  <a:pt x="3405004" y="0"/>
                  <a:pt x="3433471" y="28467"/>
                  <a:pt x="3433471" y="63583"/>
                </a:cubicBezTo>
                <a:lnTo>
                  <a:pt x="3433471" y="190748"/>
                </a:lnTo>
                <a:cubicBezTo>
                  <a:pt x="3433471" y="225864"/>
                  <a:pt x="3405004" y="254331"/>
                  <a:pt x="3369888" y="254331"/>
                </a:cubicBezTo>
                <a:lnTo>
                  <a:pt x="63583" y="254331"/>
                </a:lnTo>
                <a:cubicBezTo>
                  <a:pt x="28490" y="254331"/>
                  <a:pt x="0" y="225841"/>
                  <a:pt x="0" y="190748"/>
                </a:cubicBezTo>
                <a:lnTo>
                  <a:pt x="0" y="63583"/>
                </a:lnTo>
                <a:cubicBezTo>
                  <a:pt x="0" y="28490"/>
                  <a:pt x="28490" y="0"/>
                  <a:pt x="63583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50" name="Shape 48"/>
          <p:cNvSpPr/>
          <p:nvPr/>
        </p:nvSpPr>
        <p:spPr>
          <a:xfrm>
            <a:off x="560323" y="5790008"/>
            <a:ext cx="95374" cy="95374"/>
          </a:xfrm>
          <a:custGeom>
            <a:avLst/>
            <a:gdLst/>
            <a:ahLst/>
            <a:cxnLst/>
            <a:rect l="l" t="t" r="r" b="b"/>
            <a:pathLst>
              <a:path w="95374" h="95374">
                <a:moveTo>
                  <a:pt x="47687" y="95374"/>
                </a:moveTo>
                <a:cubicBezTo>
                  <a:pt x="74006" y="95374"/>
                  <a:pt x="95374" y="74006"/>
                  <a:pt x="95374" y="47687"/>
                </a:cubicBezTo>
                <a:cubicBezTo>
                  <a:pt x="95374" y="21368"/>
                  <a:pt x="74006" y="0"/>
                  <a:pt x="47687" y="0"/>
                </a:cubicBezTo>
                <a:cubicBezTo>
                  <a:pt x="21368" y="0"/>
                  <a:pt x="0" y="21368"/>
                  <a:pt x="0" y="47687"/>
                </a:cubicBezTo>
                <a:cubicBezTo>
                  <a:pt x="0" y="74006"/>
                  <a:pt x="21368" y="95374"/>
                  <a:pt x="47687" y="95374"/>
                </a:cubicBezTo>
                <a:close/>
                <a:moveTo>
                  <a:pt x="63409" y="39621"/>
                </a:moveTo>
                <a:lnTo>
                  <a:pt x="48507" y="63465"/>
                </a:lnTo>
                <a:cubicBezTo>
                  <a:pt x="47724" y="64713"/>
                  <a:pt x="46383" y="65495"/>
                  <a:pt x="44912" y="65570"/>
                </a:cubicBezTo>
                <a:cubicBezTo>
                  <a:pt x="43440" y="65644"/>
                  <a:pt x="42024" y="64974"/>
                  <a:pt x="41149" y="63781"/>
                </a:cubicBezTo>
                <a:lnTo>
                  <a:pt x="32207" y="51860"/>
                </a:lnTo>
                <a:cubicBezTo>
                  <a:pt x="30717" y="49885"/>
                  <a:pt x="31127" y="47091"/>
                  <a:pt x="33102" y="45601"/>
                </a:cubicBezTo>
                <a:cubicBezTo>
                  <a:pt x="35076" y="44111"/>
                  <a:pt x="37870" y="44520"/>
                  <a:pt x="39360" y="46495"/>
                </a:cubicBezTo>
                <a:lnTo>
                  <a:pt x="44390" y="53201"/>
                </a:lnTo>
                <a:lnTo>
                  <a:pt x="55827" y="34890"/>
                </a:lnTo>
                <a:cubicBezTo>
                  <a:pt x="57131" y="32804"/>
                  <a:pt x="59888" y="32152"/>
                  <a:pt x="61993" y="33474"/>
                </a:cubicBezTo>
                <a:cubicBezTo>
                  <a:pt x="64098" y="34797"/>
                  <a:pt x="64732" y="37535"/>
                  <a:pt x="63409" y="39640"/>
                </a:cubicBezTo>
                <a:close/>
              </a:path>
            </a:pathLst>
          </a:custGeom>
          <a:solidFill>
            <a:srgbClr val="008236"/>
          </a:solidFill>
          <a:ln/>
        </p:spPr>
      </p:sp>
      <p:sp>
        <p:nvSpPr>
          <p:cNvPr id="51" name="Text 49"/>
          <p:cNvSpPr/>
          <p:nvPr/>
        </p:nvSpPr>
        <p:spPr>
          <a:xfrm>
            <a:off x="687515" y="5778086"/>
            <a:ext cx="3214879" cy="127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Ethical: Manage, don't fabricate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216893" y="3707671"/>
            <a:ext cx="3759332" cy="2424094"/>
          </a:xfrm>
          <a:custGeom>
            <a:avLst/>
            <a:gdLst/>
            <a:ahLst/>
            <a:cxnLst/>
            <a:rect l="l" t="t" r="r" b="b"/>
            <a:pathLst>
              <a:path w="3759332" h="2424094">
                <a:moveTo>
                  <a:pt x="63584" y="0"/>
                </a:moveTo>
                <a:lnTo>
                  <a:pt x="3695748" y="0"/>
                </a:lnTo>
                <a:cubicBezTo>
                  <a:pt x="3730865" y="0"/>
                  <a:pt x="3759332" y="28468"/>
                  <a:pt x="3759332" y="63584"/>
                </a:cubicBezTo>
                <a:lnTo>
                  <a:pt x="3759332" y="2360510"/>
                </a:lnTo>
                <a:cubicBezTo>
                  <a:pt x="3759332" y="2395626"/>
                  <a:pt x="3730865" y="2424094"/>
                  <a:pt x="3695748" y="2424094"/>
                </a:cubicBezTo>
                <a:lnTo>
                  <a:pt x="63584" y="2424094"/>
                </a:lnTo>
                <a:cubicBezTo>
                  <a:pt x="28468" y="2424094"/>
                  <a:pt x="0" y="2395626"/>
                  <a:pt x="0" y="2360510"/>
                </a:cubicBezTo>
                <a:lnTo>
                  <a:pt x="0" y="63584"/>
                </a:lnTo>
                <a:cubicBezTo>
                  <a:pt x="0" y="28491"/>
                  <a:pt x="28491" y="0"/>
                  <a:pt x="63584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379824" y="3870602"/>
            <a:ext cx="381497" cy="381497"/>
          </a:xfrm>
          <a:custGeom>
            <a:avLst/>
            <a:gdLst/>
            <a:ahLst/>
            <a:cxnLst/>
            <a:rect l="l" t="t" r="r" b="b"/>
            <a:pathLst>
              <a:path w="381497" h="381497">
                <a:moveTo>
                  <a:pt x="190748" y="0"/>
                </a:moveTo>
                <a:lnTo>
                  <a:pt x="190748" y="0"/>
                </a:lnTo>
                <a:cubicBezTo>
                  <a:pt x="296096" y="0"/>
                  <a:pt x="381497" y="85401"/>
                  <a:pt x="381497" y="190748"/>
                </a:cubicBezTo>
                <a:lnTo>
                  <a:pt x="381497" y="190748"/>
                </a:lnTo>
                <a:cubicBezTo>
                  <a:pt x="381497" y="296096"/>
                  <a:pt x="296096" y="381497"/>
                  <a:pt x="190748" y="381497"/>
                </a:cubicBezTo>
                <a:lnTo>
                  <a:pt x="190748" y="381497"/>
                </a:lnTo>
                <a:cubicBezTo>
                  <a:pt x="85401" y="381497"/>
                  <a:pt x="0" y="296096"/>
                  <a:pt x="0" y="190748"/>
                </a:cubicBezTo>
                <a:lnTo>
                  <a:pt x="0" y="190748"/>
                </a:lnTo>
                <a:cubicBezTo>
                  <a:pt x="0" y="85401"/>
                  <a:pt x="85401" y="0"/>
                  <a:pt x="190748" y="0"/>
                </a:cubicBez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54" name="Shape 52"/>
          <p:cNvSpPr/>
          <p:nvPr/>
        </p:nvSpPr>
        <p:spPr>
          <a:xfrm>
            <a:off x="4481159" y="3981872"/>
            <a:ext cx="178827" cy="158957"/>
          </a:xfrm>
          <a:custGeom>
            <a:avLst/>
            <a:gdLst/>
            <a:ahLst/>
            <a:cxnLst/>
            <a:rect l="l" t="t" r="r" b="b"/>
            <a:pathLst>
              <a:path w="178827" h="158957">
                <a:moveTo>
                  <a:pt x="119218" y="44707"/>
                </a:moveTo>
                <a:cubicBezTo>
                  <a:pt x="119218" y="74884"/>
                  <a:pt x="92518" y="99348"/>
                  <a:pt x="59609" y="99348"/>
                </a:cubicBezTo>
                <a:cubicBezTo>
                  <a:pt x="51320" y="99348"/>
                  <a:pt x="43434" y="97796"/>
                  <a:pt x="36262" y="95002"/>
                </a:cubicBezTo>
                <a:lnTo>
                  <a:pt x="10928" y="108414"/>
                </a:lnTo>
                <a:cubicBezTo>
                  <a:pt x="8041" y="109935"/>
                  <a:pt x="4502" y="109407"/>
                  <a:pt x="2173" y="107110"/>
                </a:cubicBezTo>
                <a:cubicBezTo>
                  <a:pt x="-155" y="104812"/>
                  <a:pt x="-683" y="101242"/>
                  <a:pt x="869" y="98355"/>
                </a:cubicBezTo>
                <a:lnTo>
                  <a:pt x="11922" y="77492"/>
                </a:lnTo>
                <a:cubicBezTo>
                  <a:pt x="4440" y="68364"/>
                  <a:pt x="0" y="57001"/>
                  <a:pt x="0" y="44707"/>
                </a:cubicBezTo>
                <a:cubicBezTo>
                  <a:pt x="0" y="14530"/>
                  <a:pt x="26700" y="-9935"/>
                  <a:pt x="59609" y="-9935"/>
                </a:cubicBezTo>
                <a:cubicBezTo>
                  <a:pt x="92518" y="-9935"/>
                  <a:pt x="119218" y="14530"/>
                  <a:pt x="119218" y="44707"/>
                </a:cubicBezTo>
                <a:close/>
                <a:moveTo>
                  <a:pt x="119218" y="158957"/>
                </a:moveTo>
                <a:cubicBezTo>
                  <a:pt x="90003" y="158957"/>
                  <a:pt x="65694" y="139677"/>
                  <a:pt x="60602" y="114250"/>
                </a:cubicBezTo>
                <a:cubicBezTo>
                  <a:pt x="97858" y="113785"/>
                  <a:pt x="130239" y="87271"/>
                  <a:pt x="133809" y="51320"/>
                </a:cubicBezTo>
                <a:cubicBezTo>
                  <a:pt x="159671" y="57280"/>
                  <a:pt x="178827" y="78733"/>
                  <a:pt x="178827" y="104316"/>
                </a:cubicBezTo>
                <a:cubicBezTo>
                  <a:pt x="178827" y="116610"/>
                  <a:pt x="174387" y="127973"/>
                  <a:pt x="166905" y="137100"/>
                </a:cubicBezTo>
                <a:lnTo>
                  <a:pt x="177957" y="157963"/>
                </a:lnTo>
                <a:cubicBezTo>
                  <a:pt x="179479" y="160851"/>
                  <a:pt x="178951" y="164390"/>
                  <a:pt x="176653" y="166719"/>
                </a:cubicBezTo>
                <a:cubicBezTo>
                  <a:pt x="174356" y="169047"/>
                  <a:pt x="170786" y="169575"/>
                  <a:pt x="167898" y="168022"/>
                </a:cubicBezTo>
                <a:lnTo>
                  <a:pt x="142565" y="154610"/>
                </a:lnTo>
                <a:cubicBezTo>
                  <a:pt x="135393" y="157405"/>
                  <a:pt x="127507" y="158957"/>
                  <a:pt x="119218" y="15895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4856694" y="3950081"/>
            <a:ext cx="770941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2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Feedback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379824" y="4379265"/>
            <a:ext cx="3433471" cy="572245"/>
          </a:xfrm>
          <a:custGeom>
            <a:avLst/>
            <a:gdLst/>
            <a:ahLst/>
            <a:cxnLst/>
            <a:rect l="l" t="t" r="r" b="b"/>
            <a:pathLst>
              <a:path w="3433471" h="572245">
                <a:moveTo>
                  <a:pt x="63582" y="0"/>
                </a:moveTo>
                <a:lnTo>
                  <a:pt x="3369889" y="0"/>
                </a:lnTo>
                <a:cubicBezTo>
                  <a:pt x="3405004" y="0"/>
                  <a:pt x="3433471" y="28467"/>
                  <a:pt x="3433471" y="63582"/>
                </a:cubicBezTo>
                <a:lnTo>
                  <a:pt x="3433471" y="508663"/>
                </a:lnTo>
                <a:cubicBezTo>
                  <a:pt x="3433471" y="543778"/>
                  <a:pt x="3405004" y="572245"/>
                  <a:pt x="3369889" y="572245"/>
                </a:cubicBezTo>
                <a:lnTo>
                  <a:pt x="63582" y="572245"/>
                </a:lnTo>
                <a:cubicBezTo>
                  <a:pt x="28467" y="572245"/>
                  <a:pt x="0" y="543778"/>
                  <a:pt x="0" y="508663"/>
                </a:cubicBezTo>
                <a:lnTo>
                  <a:pt x="0" y="63582"/>
                </a:lnTo>
                <a:cubicBezTo>
                  <a:pt x="0" y="28467"/>
                  <a:pt x="28467" y="0"/>
                  <a:pt x="63582" y="0"/>
                </a:cubicBezTo>
                <a:close/>
              </a:path>
            </a:pathLst>
          </a:custGeom>
          <a:solidFill>
            <a:srgbClr val="2D5A3D">
              <a:alpha val="5098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4475198" y="4474639"/>
            <a:ext cx="3306305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Claude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475198" y="4697179"/>
            <a:ext cx="3298357" cy="158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6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Essay review, structural feedback, argument analysis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379824" y="5046884"/>
            <a:ext cx="3433471" cy="572245"/>
          </a:xfrm>
          <a:custGeom>
            <a:avLst/>
            <a:gdLst/>
            <a:ahLst/>
            <a:cxnLst/>
            <a:rect l="l" t="t" r="r" b="b"/>
            <a:pathLst>
              <a:path w="3433471" h="572245">
                <a:moveTo>
                  <a:pt x="63582" y="0"/>
                </a:moveTo>
                <a:lnTo>
                  <a:pt x="3369889" y="0"/>
                </a:lnTo>
                <a:cubicBezTo>
                  <a:pt x="3405004" y="0"/>
                  <a:pt x="3433471" y="28467"/>
                  <a:pt x="3433471" y="63582"/>
                </a:cubicBezTo>
                <a:lnTo>
                  <a:pt x="3433471" y="508663"/>
                </a:lnTo>
                <a:cubicBezTo>
                  <a:pt x="3433471" y="543778"/>
                  <a:pt x="3405004" y="572245"/>
                  <a:pt x="3369889" y="572245"/>
                </a:cubicBezTo>
                <a:lnTo>
                  <a:pt x="63582" y="572245"/>
                </a:lnTo>
                <a:cubicBezTo>
                  <a:pt x="28467" y="572245"/>
                  <a:pt x="0" y="543778"/>
                  <a:pt x="0" y="508663"/>
                </a:cubicBezTo>
                <a:lnTo>
                  <a:pt x="0" y="63582"/>
                </a:lnTo>
                <a:cubicBezTo>
                  <a:pt x="0" y="28467"/>
                  <a:pt x="28467" y="0"/>
                  <a:pt x="63582" y="0"/>
                </a:cubicBezTo>
                <a:close/>
              </a:path>
            </a:pathLst>
          </a:custGeom>
          <a:solidFill>
            <a:srgbClr val="7D9A78">
              <a:alpha val="5098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4475198" y="5142258"/>
            <a:ext cx="3306305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475198" y="5364798"/>
            <a:ext cx="3298357" cy="158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6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feedback, clarity suggestions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379824" y="5714503"/>
            <a:ext cx="3433471" cy="254331"/>
          </a:xfrm>
          <a:custGeom>
            <a:avLst/>
            <a:gdLst/>
            <a:ahLst/>
            <a:cxnLst/>
            <a:rect l="l" t="t" r="r" b="b"/>
            <a:pathLst>
              <a:path w="3433471" h="254331">
                <a:moveTo>
                  <a:pt x="63583" y="0"/>
                </a:moveTo>
                <a:lnTo>
                  <a:pt x="3369888" y="0"/>
                </a:lnTo>
                <a:cubicBezTo>
                  <a:pt x="3405004" y="0"/>
                  <a:pt x="3433471" y="28467"/>
                  <a:pt x="3433471" y="63583"/>
                </a:cubicBezTo>
                <a:lnTo>
                  <a:pt x="3433471" y="190748"/>
                </a:lnTo>
                <a:cubicBezTo>
                  <a:pt x="3433471" y="225864"/>
                  <a:pt x="3405004" y="254331"/>
                  <a:pt x="3369888" y="254331"/>
                </a:cubicBezTo>
                <a:lnTo>
                  <a:pt x="63583" y="254331"/>
                </a:lnTo>
                <a:cubicBezTo>
                  <a:pt x="28490" y="254331"/>
                  <a:pt x="0" y="225841"/>
                  <a:pt x="0" y="190748"/>
                </a:cubicBezTo>
                <a:lnTo>
                  <a:pt x="0" y="63583"/>
                </a:lnTo>
                <a:cubicBezTo>
                  <a:pt x="0" y="28490"/>
                  <a:pt x="28490" y="0"/>
                  <a:pt x="63583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63" name="Shape 61"/>
          <p:cNvSpPr/>
          <p:nvPr/>
        </p:nvSpPr>
        <p:spPr>
          <a:xfrm>
            <a:off x="4455328" y="5790008"/>
            <a:ext cx="95374" cy="95374"/>
          </a:xfrm>
          <a:custGeom>
            <a:avLst/>
            <a:gdLst/>
            <a:ahLst/>
            <a:cxnLst/>
            <a:rect l="l" t="t" r="r" b="b"/>
            <a:pathLst>
              <a:path w="95374" h="95374">
                <a:moveTo>
                  <a:pt x="47687" y="95374"/>
                </a:moveTo>
                <a:cubicBezTo>
                  <a:pt x="74006" y="95374"/>
                  <a:pt x="95374" y="74006"/>
                  <a:pt x="95374" y="47687"/>
                </a:cubicBezTo>
                <a:cubicBezTo>
                  <a:pt x="95374" y="21368"/>
                  <a:pt x="74006" y="0"/>
                  <a:pt x="47687" y="0"/>
                </a:cubicBezTo>
                <a:cubicBezTo>
                  <a:pt x="21368" y="0"/>
                  <a:pt x="0" y="21368"/>
                  <a:pt x="0" y="47687"/>
                </a:cubicBezTo>
                <a:cubicBezTo>
                  <a:pt x="0" y="74006"/>
                  <a:pt x="21368" y="95374"/>
                  <a:pt x="47687" y="95374"/>
                </a:cubicBezTo>
                <a:close/>
                <a:moveTo>
                  <a:pt x="63409" y="39621"/>
                </a:moveTo>
                <a:lnTo>
                  <a:pt x="48507" y="63465"/>
                </a:lnTo>
                <a:cubicBezTo>
                  <a:pt x="47724" y="64713"/>
                  <a:pt x="46383" y="65495"/>
                  <a:pt x="44912" y="65570"/>
                </a:cubicBezTo>
                <a:cubicBezTo>
                  <a:pt x="43440" y="65644"/>
                  <a:pt x="42024" y="64974"/>
                  <a:pt x="41149" y="63781"/>
                </a:cubicBezTo>
                <a:lnTo>
                  <a:pt x="32207" y="51860"/>
                </a:lnTo>
                <a:cubicBezTo>
                  <a:pt x="30717" y="49885"/>
                  <a:pt x="31127" y="47091"/>
                  <a:pt x="33102" y="45601"/>
                </a:cubicBezTo>
                <a:cubicBezTo>
                  <a:pt x="35076" y="44111"/>
                  <a:pt x="37870" y="44520"/>
                  <a:pt x="39360" y="46495"/>
                </a:cubicBezTo>
                <a:lnTo>
                  <a:pt x="44390" y="53201"/>
                </a:lnTo>
                <a:lnTo>
                  <a:pt x="55827" y="34890"/>
                </a:lnTo>
                <a:cubicBezTo>
                  <a:pt x="57131" y="32804"/>
                  <a:pt x="59888" y="32152"/>
                  <a:pt x="61993" y="33474"/>
                </a:cubicBezTo>
                <a:cubicBezTo>
                  <a:pt x="64098" y="34797"/>
                  <a:pt x="64732" y="37535"/>
                  <a:pt x="63409" y="39640"/>
                </a:cubicBezTo>
                <a:close/>
              </a:path>
            </a:pathLst>
          </a:custGeom>
          <a:solidFill>
            <a:srgbClr val="008236"/>
          </a:solidFill>
          <a:ln/>
        </p:spPr>
      </p:sp>
      <p:sp>
        <p:nvSpPr>
          <p:cNvPr id="64" name="Text 62"/>
          <p:cNvSpPr/>
          <p:nvPr/>
        </p:nvSpPr>
        <p:spPr>
          <a:xfrm>
            <a:off x="4582520" y="5778086"/>
            <a:ext cx="3214879" cy="127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Ethical: Guide, don't rewrite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107923" y="3703698"/>
            <a:ext cx="3767280" cy="2432042"/>
          </a:xfrm>
          <a:custGeom>
            <a:avLst/>
            <a:gdLst/>
            <a:ahLst/>
            <a:cxnLst/>
            <a:rect l="l" t="t" r="r" b="b"/>
            <a:pathLst>
              <a:path w="3767280" h="2432042">
                <a:moveTo>
                  <a:pt x="63574" y="0"/>
                </a:moveTo>
                <a:lnTo>
                  <a:pt x="3703707" y="0"/>
                </a:lnTo>
                <a:cubicBezTo>
                  <a:pt x="3738817" y="0"/>
                  <a:pt x="3767280" y="28463"/>
                  <a:pt x="3767280" y="63574"/>
                </a:cubicBezTo>
                <a:lnTo>
                  <a:pt x="3767280" y="2368468"/>
                </a:lnTo>
                <a:cubicBezTo>
                  <a:pt x="3767280" y="2403579"/>
                  <a:pt x="3738817" y="2432042"/>
                  <a:pt x="3703707" y="2432042"/>
                </a:cubicBezTo>
                <a:lnTo>
                  <a:pt x="63574" y="2432042"/>
                </a:lnTo>
                <a:cubicBezTo>
                  <a:pt x="28463" y="2432042"/>
                  <a:pt x="0" y="2403579"/>
                  <a:pt x="0" y="2368468"/>
                </a:cubicBezTo>
                <a:lnTo>
                  <a:pt x="0" y="63574"/>
                </a:lnTo>
                <a:cubicBezTo>
                  <a:pt x="0" y="28486"/>
                  <a:pt x="28486" y="0"/>
                  <a:pt x="63574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66" name="Shape 64"/>
          <p:cNvSpPr/>
          <p:nvPr/>
        </p:nvSpPr>
        <p:spPr>
          <a:xfrm>
            <a:off x="8286750" y="4105064"/>
            <a:ext cx="158957" cy="158957"/>
          </a:xfrm>
          <a:custGeom>
            <a:avLst/>
            <a:gdLst/>
            <a:ahLst/>
            <a:cxnLst/>
            <a:rect l="l" t="t" r="r" b="b"/>
            <a:pathLst>
              <a:path w="158957" h="158957">
                <a:moveTo>
                  <a:pt x="79478" y="0"/>
                </a:moveTo>
                <a:cubicBezTo>
                  <a:pt x="80907" y="0"/>
                  <a:pt x="82335" y="310"/>
                  <a:pt x="83639" y="900"/>
                </a:cubicBezTo>
                <a:lnTo>
                  <a:pt x="142130" y="25706"/>
                </a:lnTo>
                <a:cubicBezTo>
                  <a:pt x="148960" y="28594"/>
                  <a:pt x="154052" y="35331"/>
                  <a:pt x="154021" y="43465"/>
                </a:cubicBezTo>
                <a:cubicBezTo>
                  <a:pt x="153865" y="74263"/>
                  <a:pt x="141199" y="130612"/>
                  <a:pt x="87706" y="156225"/>
                </a:cubicBezTo>
                <a:cubicBezTo>
                  <a:pt x="82521" y="158709"/>
                  <a:pt x="76498" y="158709"/>
                  <a:pt x="71313" y="156225"/>
                </a:cubicBezTo>
                <a:cubicBezTo>
                  <a:pt x="17790" y="130612"/>
                  <a:pt x="5154" y="74263"/>
                  <a:pt x="4998" y="43465"/>
                </a:cubicBezTo>
                <a:cubicBezTo>
                  <a:pt x="4967" y="35331"/>
                  <a:pt x="10059" y="28594"/>
                  <a:pt x="16889" y="25706"/>
                </a:cubicBezTo>
                <a:lnTo>
                  <a:pt x="75349" y="900"/>
                </a:lnTo>
                <a:cubicBezTo>
                  <a:pt x="76653" y="310"/>
                  <a:pt x="78050" y="0"/>
                  <a:pt x="79478" y="0"/>
                </a:cubicBezTo>
                <a:close/>
                <a:moveTo>
                  <a:pt x="79478" y="20739"/>
                </a:moveTo>
                <a:lnTo>
                  <a:pt x="79478" y="138125"/>
                </a:lnTo>
                <a:cubicBezTo>
                  <a:pt x="122322" y="117386"/>
                  <a:pt x="133841" y="71438"/>
                  <a:pt x="134120" y="43930"/>
                </a:cubicBezTo>
                <a:lnTo>
                  <a:pt x="79478" y="20770"/>
                </a:lnTo>
                <a:lnTo>
                  <a:pt x="79478" y="20770"/>
                </a:lnTo>
                <a:close/>
              </a:path>
            </a:pathLst>
          </a:custGeom>
          <a:solidFill>
            <a:srgbClr val="FAF8F3"/>
          </a:solidFill>
          <a:ln/>
        </p:spPr>
      </p:sp>
      <p:sp>
        <p:nvSpPr>
          <p:cNvPr id="67" name="Text 65"/>
          <p:cNvSpPr/>
          <p:nvPr/>
        </p:nvSpPr>
        <p:spPr>
          <a:xfrm>
            <a:off x="8505368" y="4077246"/>
            <a:ext cx="3290358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2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Remember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290724" y="4458743"/>
            <a:ext cx="111270" cy="127166"/>
          </a:xfrm>
          <a:custGeom>
            <a:avLst/>
            <a:gdLst/>
            <a:ahLst/>
            <a:cxnLst/>
            <a:rect l="l" t="t" r="r" b="b"/>
            <a:pathLst>
              <a:path w="111270" h="127166">
                <a:moveTo>
                  <a:pt x="107991" y="17411"/>
                </a:moveTo>
                <a:cubicBezTo>
                  <a:pt x="111543" y="19994"/>
                  <a:pt x="112338" y="24961"/>
                  <a:pt x="109755" y="28513"/>
                </a:cubicBezTo>
                <a:lnTo>
                  <a:pt x="46172" y="115939"/>
                </a:lnTo>
                <a:cubicBezTo>
                  <a:pt x="44806" y="117827"/>
                  <a:pt x="42695" y="118994"/>
                  <a:pt x="40360" y="119193"/>
                </a:cubicBezTo>
                <a:cubicBezTo>
                  <a:pt x="38025" y="119392"/>
                  <a:pt x="35765" y="118522"/>
                  <a:pt x="34126" y="116883"/>
                </a:cubicBezTo>
                <a:lnTo>
                  <a:pt x="2335" y="85092"/>
                </a:lnTo>
                <a:cubicBezTo>
                  <a:pt x="-770" y="81987"/>
                  <a:pt x="-770" y="76945"/>
                  <a:pt x="2335" y="73840"/>
                </a:cubicBezTo>
                <a:cubicBezTo>
                  <a:pt x="5439" y="70736"/>
                  <a:pt x="10481" y="70736"/>
                  <a:pt x="13586" y="73840"/>
                </a:cubicBezTo>
                <a:lnTo>
                  <a:pt x="38795" y="99050"/>
                </a:lnTo>
                <a:lnTo>
                  <a:pt x="96914" y="19149"/>
                </a:lnTo>
                <a:cubicBezTo>
                  <a:pt x="99497" y="15598"/>
                  <a:pt x="104465" y="14803"/>
                  <a:pt x="108016" y="17386"/>
                </a:cubicBezTo>
                <a:close/>
              </a:path>
            </a:pathLst>
          </a:custGeom>
          <a:solidFill>
            <a:srgbClr val="FAF8F3"/>
          </a:solidFill>
          <a:ln/>
        </p:spPr>
      </p:sp>
      <p:sp>
        <p:nvSpPr>
          <p:cNvPr id="69" name="Text 67"/>
          <p:cNvSpPr/>
          <p:nvPr/>
        </p:nvSpPr>
        <p:spPr>
          <a:xfrm>
            <a:off x="8489420" y="4426952"/>
            <a:ext cx="1208073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assists, you create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290724" y="4744866"/>
            <a:ext cx="111270" cy="127166"/>
          </a:xfrm>
          <a:custGeom>
            <a:avLst/>
            <a:gdLst/>
            <a:ahLst/>
            <a:cxnLst/>
            <a:rect l="l" t="t" r="r" b="b"/>
            <a:pathLst>
              <a:path w="111270" h="127166">
                <a:moveTo>
                  <a:pt x="107991" y="17411"/>
                </a:moveTo>
                <a:cubicBezTo>
                  <a:pt x="111543" y="19994"/>
                  <a:pt x="112338" y="24961"/>
                  <a:pt x="109755" y="28513"/>
                </a:cubicBezTo>
                <a:lnTo>
                  <a:pt x="46172" y="115939"/>
                </a:lnTo>
                <a:cubicBezTo>
                  <a:pt x="44806" y="117827"/>
                  <a:pt x="42695" y="118994"/>
                  <a:pt x="40360" y="119193"/>
                </a:cubicBezTo>
                <a:cubicBezTo>
                  <a:pt x="38025" y="119392"/>
                  <a:pt x="35765" y="118522"/>
                  <a:pt x="34126" y="116883"/>
                </a:cubicBezTo>
                <a:lnTo>
                  <a:pt x="2335" y="85092"/>
                </a:lnTo>
                <a:cubicBezTo>
                  <a:pt x="-770" y="81987"/>
                  <a:pt x="-770" y="76945"/>
                  <a:pt x="2335" y="73840"/>
                </a:cubicBezTo>
                <a:cubicBezTo>
                  <a:pt x="5439" y="70736"/>
                  <a:pt x="10481" y="70736"/>
                  <a:pt x="13586" y="73840"/>
                </a:cubicBezTo>
                <a:lnTo>
                  <a:pt x="38795" y="99050"/>
                </a:lnTo>
                <a:lnTo>
                  <a:pt x="96914" y="19149"/>
                </a:lnTo>
                <a:cubicBezTo>
                  <a:pt x="99497" y="15598"/>
                  <a:pt x="104465" y="14803"/>
                  <a:pt x="108016" y="17386"/>
                </a:cubicBezTo>
                <a:close/>
              </a:path>
            </a:pathLst>
          </a:custGeom>
          <a:solidFill>
            <a:srgbClr val="FAF8F3"/>
          </a:solidFill>
          <a:ln/>
        </p:spPr>
      </p:sp>
      <p:sp>
        <p:nvSpPr>
          <p:cNvPr id="71" name="Text 69"/>
          <p:cNvSpPr/>
          <p:nvPr/>
        </p:nvSpPr>
        <p:spPr>
          <a:xfrm>
            <a:off x="8489420" y="4713074"/>
            <a:ext cx="1406769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verify AI outputs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290724" y="5030988"/>
            <a:ext cx="111270" cy="127166"/>
          </a:xfrm>
          <a:custGeom>
            <a:avLst/>
            <a:gdLst/>
            <a:ahLst/>
            <a:cxnLst/>
            <a:rect l="l" t="t" r="r" b="b"/>
            <a:pathLst>
              <a:path w="111270" h="127166">
                <a:moveTo>
                  <a:pt x="107991" y="17411"/>
                </a:moveTo>
                <a:cubicBezTo>
                  <a:pt x="111543" y="19994"/>
                  <a:pt x="112338" y="24961"/>
                  <a:pt x="109755" y="28513"/>
                </a:cubicBezTo>
                <a:lnTo>
                  <a:pt x="46172" y="115939"/>
                </a:lnTo>
                <a:cubicBezTo>
                  <a:pt x="44806" y="117827"/>
                  <a:pt x="42695" y="118994"/>
                  <a:pt x="40360" y="119193"/>
                </a:cubicBezTo>
                <a:cubicBezTo>
                  <a:pt x="38025" y="119392"/>
                  <a:pt x="35765" y="118522"/>
                  <a:pt x="34126" y="116883"/>
                </a:cubicBezTo>
                <a:lnTo>
                  <a:pt x="2335" y="85092"/>
                </a:lnTo>
                <a:cubicBezTo>
                  <a:pt x="-770" y="81987"/>
                  <a:pt x="-770" y="76945"/>
                  <a:pt x="2335" y="73840"/>
                </a:cubicBezTo>
                <a:cubicBezTo>
                  <a:pt x="5439" y="70736"/>
                  <a:pt x="10481" y="70736"/>
                  <a:pt x="13586" y="73840"/>
                </a:cubicBezTo>
                <a:lnTo>
                  <a:pt x="38795" y="99050"/>
                </a:lnTo>
                <a:lnTo>
                  <a:pt x="96914" y="19149"/>
                </a:lnTo>
                <a:cubicBezTo>
                  <a:pt x="99497" y="15598"/>
                  <a:pt x="104465" y="14803"/>
                  <a:pt x="108016" y="17386"/>
                </a:cubicBezTo>
                <a:close/>
              </a:path>
            </a:pathLst>
          </a:custGeom>
          <a:solidFill>
            <a:srgbClr val="FAF8F3"/>
          </a:solidFill>
          <a:ln/>
        </p:spPr>
      </p:sp>
      <p:sp>
        <p:nvSpPr>
          <p:cNvPr id="73" name="Text 71"/>
          <p:cNvSpPr/>
          <p:nvPr/>
        </p:nvSpPr>
        <p:spPr>
          <a:xfrm>
            <a:off x="8489420" y="4999197"/>
            <a:ext cx="1144490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 your voice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290724" y="5317111"/>
            <a:ext cx="111270" cy="127166"/>
          </a:xfrm>
          <a:custGeom>
            <a:avLst/>
            <a:gdLst/>
            <a:ahLst/>
            <a:cxnLst/>
            <a:rect l="l" t="t" r="r" b="b"/>
            <a:pathLst>
              <a:path w="111270" h="127166">
                <a:moveTo>
                  <a:pt x="107991" y="17411"/>
                </a:moveTo>
                <a:cubicBezTo>
                  <a:pt x="111543" y="19994"/>
                  <a:pt x="112338" y="24961"/>
                  <a:pt x="109755" y="28513"/>
                </a:cubicBezTo>
                <a:lnTo>
                  <a:pt x="46172" y="115939"/>
                </a:lnTo>
                <a:cubicBezTo>
                  <a:pt x="44806" y="117827"/>
                  <a:pt x="42695" y="118994"/>
                  <a:pt x="40360" y="119193"/>
                </a:cubicBezTo>
                <a:cubicBezTo>
                  <a:pt x="38025" y="119392"/>
                  <a:pt x="35765" y="118522"/>
                  <a:pt x="34126" y="116883"/>
                </a:cubicBezTo>
                <a:lnTo>
                  <a:pt x="2335" y="85092"/>
                </a:lnTo>
                <a:cubicBezTo>
                  <a:pt x="-770" y="81987"/>
                  <a:pt x="-770" y="76945"/>
                  <a:pt x="2335" y="73840"/>
                </a:cubicBezTo>
                <a:cubicBezTo>
                  <a:pt x="5439" y="70736"/>
                  <a:pt x="10481" y="70736"/>
                  <a:pt x="13586" y="73840"/>
                </a:cubicBezTo>
                <a:lnTo>
                  <a:pt x="38795" y="99050"/>
                </a:lnTo>
                <a:lnTo>
                  <a:pt x="96914" y="19149"/>
                </a:lnTo>
                <a:cubicBezTo>
                  <a:pt x="99497" y="15598"/>
                  <a:pt x="104465" y="14803"/>
                  <a:pt x="108016" y="17386"/>
                </a:cubicBezTo>
                <a:close/>
              </a:path>
            </a:pathLst>
          </a:custGeom>
          <a:solidFill>
            <a:srgbClr val="FAF8F3"/>
          </a:solidFill>
          <a:ln/>
        </p:spPr>
      </p:sp>
      <p:sp>
        <p:nvSpPr>
          <p:cNvPr id="75" name="Text 73"/>
          <p:cNvSpPr/>
          <p:nvPr/>
        </p:nvSpPr>
        <p:spPr>
          <a:xfrm>
            <a:off x="8489420" y="5285319"/>
            <a:ext cx="898107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Disclose AI use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290724" y="5603233"/>
            <a:ext cx="111270" cy="127166"/>
          </a:xfrm>
          <a:custGeom>
            <a:avLst/>
            <a:gdLst/>
            <a:ahLst/>
            <a:cxnLst/>
            <a:rect l="l" t="t" r="r" b="b"/>
            <a:pathLst>
              <a:path w="111270" h="127166">
                <a:moveTo>
                  <a:pt x="107991" y="17411"/>
                </a:moveTo>
                <a:cubicBezTo>
                  <a:pt x="111543" y="19994"/>
                  <a:pt x="112338" y="24961"/>
                  <a:pt x="109755" y="28513"/>
                </a:cubicBezTo>
                <a:lnTo>
                  <a:pt x="46172" y="115939"/>
                </a:lnTo>
                <a:cubicBezTo>
                  <a:pt x="44806" y="117827"/>
                  <a:pt x="42695" y="118994"/>
                  <a:pt x="40360" y="119193"/>
                </a:cubicBezTo>
                <a:cubicBezTo>
                  <a:pt x="38025" y="119392"/>
                  <a:pt x="35765" y="118522"/>
                  <a:pt x="34126" y="116883"/>
                </a:cubicBezTo>
                <a:lnTo>
                  <a:pt x="2335" y="85092"/>
                </a:lnTo>
                <a:cubicBezTo>
                  <a:pt x="-770" y="81987"/>
                  <a:pt x="-770" y="76945"/>
                  <a:pt x="2335" y="73840"/>
                </a:cubicBezTo>
                <a:cubicBezTo>
                  <a:pt x="5439" y="70736"/>
                  <a:pt x="10481" y="70736"/>
                  <a:pt x="13586" y="73840"/>
                </a:cubicBezTo>
                <a:lnTo>
                  <a:pt x="38795" y="99050"/>
                </a:lnTo>
                <a:lnTo>
                  <a:pt x="96914" y="19149"/>
                </a:lnTo>
                <a:cubicBezTo>
                  <a:pt x="99497" y="15598"/>
                  <a:pt x="104465" y="14803"/>
                  <a:pt x="108016" y="17386"/>
                </a:cubicBezTo>
                <a:close/>
              </a:path>
            </a:pathLst>
          </a:custGeom>
          <a:solidFill>
            <a:srgbClr val="FAF8F3"/>
          </a:solidFill>
          <a:ln/>
        </p:spPr>
      </p:sp>
      <p:sp>
        <p:nvSpPr>
          <p:cNvPr id="77" name="Text 75"/>
          <p:cNvSpPr/>
          <p:nvPr/>
        </p:nvSpPr>
        <p:spPr>
          <a:xfrm>
            <a:off x="8489420" y="5571442"/>
            <a:ext cx="1732631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Follow your institution's policy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321888" y="6266879"/>
            <a:ext cx="1430613" cy="270227"/>
          </a:xfrm>
          <a:custGeom>
            <a:avLst/>
            <a:gdLst/>
            <a:ahLst/>
            <a:cxnLst/>
            <a:rect l="l" t="t" r="r" b="b"/>
            <a:pathLst>
              <a:path w="1430613" h="270227">
                <a:moveTo>
                  <a:pt x="0" y="0"/>
                </a:moveTo>
                <a:lnTo>
                  <a:pt x="1430613" y="0"/>
                </a:lnTo>
                <a:lnTo>
                  <a:pt x="1430613" y="270227"/>
                </a:lnTo>
                <a:lnTo>
                  <a:pt x="0" y="270227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90196"/>
            </a:srgbClr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17914" y="6262905"/>
            <a:ext cx="1470352" cy="262279"/>
          </a:xfrm>
          <a:prstGeom prst="rect">
            <a:avLst/>
          </a:prstGeom>
          <a:noFill/>
          <a:ln/>
        </p:spPr>
        <p:txBody>
          <a:bodyPr wrap="square" lIns="95374" tIns="63583" rIns="95374" bIns="63583" rtlCol="0" anchor="ctr"/>
          <a:lstStyle/>
          <a:p>
            <a:pPr>
              <a:lnSpc>
                <a:spcPct val="120000"/>
              </a:lnSpc>
            </a:pPr>
            <a:r>
              <a:rPr lang="en-US" sz="751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Toolkit • Recommended Tools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9198952" y="6323073"/>
            <a:ext cx="2734060" cy="158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6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tools listed are widely used and academia-approved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spc="88" kern="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Guide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Step-by-Step: Ethical AI Writing Process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5250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" name="Shape 3"/>
          <p:cNvSpPr/>
          <p:nvPr/>
        </p:nvSpPr>
        <p:spPr>
          <a:xfrm>
            <a:off x="321469" y="1146969"/>
            <a:ext cx="6810375" cy="5421313"/>
          </a:xfrm>
          <a:custGeom>
            <a:avLst/>
            <a:gdLst/>
            <a:ahLst/>
            <a:cxnLst/>
            <a:rect l="l" t="t" r="r" b="b"/>
            <a:pathLst>
              <a:path w="6810375" h="5421313">
                <a:moveTo>
                  <a:pt x="63484" y="0"/>
                </a:moveTo>
                <a:lnTo>
                  <a:pt x="6746891" y="0"/>
                </a:lnTo>
                <a:cubicBezTo>
                  <a:pt x="6781952" y="0"/>
                  <a:pt x="6810375" y="28423"/>
                  <a:pt x="6810375" y="63484"/>
                </a:cubicBezTo>
                <a:lnTo>
                  <a:pt x="6810375" y="5357829"/>
                </a:lnTo>
                <a:cubicBezTo>
                  <a:pt x="6810375" y="5392890"/>
                  <a:pt x="6781952" y="5421313"/>
                  <a:pt x="6746891" y="5421313"/>
                </a:cubicBezTo>
                <a:lnTo>
                  <a:pt x="63484" y="5421313"/>
                </a:lnTo>
                <a:cubicBezTo>
                  <a:pt x="28423" y="5421313"/>
                  <a:pt x="0" y="5392890"/>
                  <a:pt x="0" y="5357829"/>
                </a:cubicBezTo>
                <a:lnTo>
                  <a:pt x="0" y="63484"/>
                </a:lnTo>
                <a:cubicBezTo>
                  <a:pt x="0" y="28446"/>
                  <a:pt x="28446" y="0"/>
                  <a:pt x="63484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187" y="1309688"/>
            <a:ext cx="6564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Workflow with AI Integration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187" y="1658938"/>
            <a:ext cx="6484938" cy="571500"/>
          </a:xfrm>
          <a:custGeom>
            <a:avLst/>
            <a:gdLst/>
            <a:ahLst/>
            <a:cxnLst/>
            <a:rect l="l" t="t" r="r" b="b"/>
            <a:pathLst>
              <a:path w="6484938" h="571500">
                <a:moveTo>
                  <a:pt x="63499" y="0"/>
                </a:moveTo>
                <a:lnTo>
                  <a:pt x="6421438" y="0"/>
                </a:lnTo>
                <a:cubicBezTo>
                  <a:pt x="6456508" y="0"/>
                  <a:pt x="6484938" y="28430"/>
                  <a:pt x="6484938" y="63499"/>
                </a:cubicBezTo>
                <a:lnTo>
                  <a:pt x="6484938" y="508001"/>
                </a:lnTo>
                <a:cubicBezTo>
                  <a:pt x="6484938" y="543070"/>
                  <a:pt x="6456508" y="571500"/>
                  <a:pt x="6421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D5A3D">
              <a:alpha val="5098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79438" y="175418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9" name="Text 7"/>
          <p:cNvSpPr/>
          <p:nvPr/>
        </p:nvSpPr>
        <p:spPr>
          <a:xfrm>
            <a:off x="547688" y="1754188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3938" y="1754188"/>
            <a:ext cx="4881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Topic Selection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3938" y="1976438"/>
            <a:ext cx="4873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AI to brainstorm subtopics → Conduct independent research → Narrow focus based on sources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187" y="2325688"/>
            <a:ext cx="6484938" cy="571500"/>
          </a:xfrm>
          <a:custGeom>
            <a:avLst/>
            <a:gdLst/>
            <a:ahLst/>
            <a:cxnLst/>
            <a:rect l="l" t="t" r="r" b="b"/>
            <a:pathLst>
              <a:path w="6484938" h="571500">
                <a:moveTo>
                  <a:pt x="63499" y="0"/>
                </a:moveTo>
                <a:lnTo>
                  <a:pt x="6421438" y="0"/>
                </a:lnTo>
                <a:cubicBezTo>
                  <a:pt x="6456508" y="0"/>
                  <a:pt x="6484938" y="28430"/>
                  <a:pt x="6484938" y="63499"/>
                </a:cubicBezTo>
                <a:lnTo>
                  <a:pt x="6484938" y="508001"/>
                </a:lnTo>
                <a:cubicBezTo>
                  <a:pt x="6484938" y="543070"/>
                  <a:pt x="6456508" y="571500"/>
                  <a:pt x="6421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7D9A78">
              <a:alpha val="5098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79438" y="24209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14" name="Text 12"/>
          <p:cNvSpPr/>
          <p:nvPr/>
        </p:nvSpPr>
        <p:spPr>
          <a:xfrm>
            <a:off x="547688" y="2420938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23938" y="2420938"/>
            <a:ext cx="463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23938" y="2643188"/>
            <a:ext cx="4627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AI to discover sources → Verify through databases → Read full texts → Synthesize yourself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187" y="2992438"/>
            <a:ext cx="6484938" cy="571500"/>
          </a:xfrm>
          <a:custGeom>
            <a:avLst/>
            <a:gdLst/>
            <a:ahLst/>
            <a:cxnLst/>
            <a:rect l="l" t="t" r="r" b="b"/>
            <a:pathLst>
              <a:path w="6484938" h="571500">
                <a:moveTo>
                  <a:pt x="63499" y="0"/>
                </a:moveTo>
                <a:lnTo>
                  <a:pt x="6421438" y="0"/>
                </a:lnTo>
                <a:cubicBezTo>
                  <a:pt x="6456508" y="0"/>
                  <a:pt x="6484938" y="28430"/>
                  <a:pt x="6484938" y="63499"/>
                </a:cubicBezTo>
                <a:lnTo>
                  <a:pt x="6484938" y="508001"/>
                </a:lnTo>
                <a:cubicBezTo>
                  <a:pt x="6484938" y="543070"/>
                  <a:pt x="6456508" y="571500"/>
                  <a:pt x="6421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8B7355">
              <a:alpha val="5098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79438" y="308768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19" name="Text 17"/>
          <p:cNvSpPr/>
          <p:nvPr/>
        </p:nvSpPr>
        <p:spPr>
          <a:xfrm>
            <a:off x="547688" y="3087688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23938" y="3087688"/>
            <a:ext cx="417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Outlining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23938" y="3309938"/>
            <a:ext cx="416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AI for structure suggestions → Customize to your argument → Ensure logical flow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4187" y="3659187"/>
            <a:ext cx="6484938" cy="571500"/>
          </a:xfrm>
          <a:custGeom>
            <a:avLst/>
            <a:gdLst/>
            <a:ahLst/>
            <a:cxnLst/>
            <a:rect l="l" t="t" r="r" b="b"/>
            <a:pathLst>
              <a:path w="6484938" h="571500">
                <a:moveTo>
                  <a:pt x="63499" y="0"/>
                </a:moveTo>
                <a:lnTo>
                  <a:pt x="6421438" y="0"/>
                </a:lnTo>
                <a:cubicBezTo>
                  <a:pt x="6456508" y="0"/>
                  <a:pt x="6484938" y="28430"/>
                  <a:pt x="6484938" y="63499"/>
                </a:cubicBezTo>
                <a:lnTo>
                  <a:pt x="6484938" y="508001"/>
                </a:lnTo>
                <a:cubicBezTo>
                  <a:pt x="6484938" y="543070"/>
                  <a:pt x="6456508" y="571500"/>
                  <a:pt x="6421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D5A3D">
              <a:alpha val="5098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79438" y="37544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24" name="Text 22"/>
          <p:cNvSpPr/>
          <p:nvPr/>
        </p:nvSpPr>
        <p:spPr>
          <a:xfrm>
            <a:off x="547688" y="3754438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23938" y="3754438"/>
            <a:ext cx="4341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Drafting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23938" y="3976687"/>
            <a:ext cx="4333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your own content → Use AI for grammar/clarity → Review all suggestions critically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4187" y="4325938"/>
            <a:ext cx="6484938" cy="571500"/>
          </a:xfrm>
          <a:custGeom>
            <a:avLst/>
            <a:gdLst/>
            <a:ahLst/>
            <a:cxnLst/>
            <a:rect l="l" t="t" r="r" b="b"/>
            <a:pathLst>
              <a:path w="6484938" h="571500">
                <a:moveTo>
                  <a:pt x="63499" y="0"/>
                </a:moveTo>
                <a:lnTo>
                  <a:pt x="6421438" y="0"/>
                </a:lnTo>
                <a:cubicBezTo>
                  <a:pt x="6456508" y="0"/>
                  <a:pt x="6484938" y="28430"/>
                  <a:pt x="6484938" y="63499"/>
                </a:cubicBezTo>
                <a:lnTo>
                  <a:pt x="6484938" y="508001"/>
                </a:lnTo>
                <a:cubicBezTo>
                  <a:pt x="6484938" y="543070"/>
                  <a:pt x="6456508" y="571500"/>
                  <a:pt x="6421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7D9A78">
              <a:alpha val="5098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79438" y="442118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29" name="Text 27"/>
          <p:cNvSpPr/>
          <p:nvPr/>
        </p:nvSpPr>
        <p:spPr>
          <a:xfrm>
            <a:off x="547688" y="4421188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23938" y="4421188"/>
            <a:ext cx="422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Feedback &amp; Revision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23938" y="4643438"/>
            <a:ext cx="4214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AI feedback on structure → Make revisions yourself → Seek peer/professor review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4187" y="4992688"/>
            <a:ext cx="6484938" cy="571500"/>
          </a:xfrm>
          <a:custGeom>
            <a:avLst/>
            <a:gdLst/>
            <a:ahLst/>
            <a:cxnLst/>
            <a:rect l="l" t="t" r="r" b="b"/>
            <a:pathLst>
              <a:path w="6484938" h="571500">
                <a:moveTo>
                  <a:pt x="63499" y="0"/>
                </a:moveTo>
                <a:lnTo>
                  <a:pt x="6421438" y="0"/>
                </a:lnTo>
                <a:cubicBezTo>
                  <a:pt x="6456508" y="0"/>
                  <a:pt x="6484938" y="28430"/>
                  <a:pt x="6484938" y="63499"/>
                </a:cubicBezTo>
                <a:lnTo>
                  <a:pt x="6484938" y="508001"/>
                </a:lnTo>
                <a:cubicBezTo>
                  <a:pt x="6484938" y="543070"/>
                  <a:pt x="6456508" y="571500"/>
                  <a:pt x="642143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8B7355">
              <a:alpha val="5098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79438" y="50879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34" name="Text 32"/>
          <p:cNvSpPr/>
          <p:nvPr/>
        </p:nvSpPr>
        <p:spPr>
          <a:xfrm>
            <a:off x="547688" y="5087938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23938" y="5087938"/>
            <a:ext cx="4167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Citation &amp; Submission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23938" y="5310188"/>
            <a:ext cx="4159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citation managers → Disclose AI use → Verify all sources → Submit with integrity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327925" y="1143000"/>
            <a:ext cx="4548188" cy="3238500"/>
          </a:xfrm>
          <a:custGeom>
            <a:avLst/>
            <a:gdLst/>
            <a:ahLst/>
            <a:cxnLst/>
            <a:rect l="l" t="t" r="r" b="b"/>
            <a:pathLst>
              <a:path w="4548188" h="3238500">
                <a:moveTo>
                  <a:pt x="63507" y="0"/>
                </a:moveTo>
                <a:lnTo>
                  <a:pt x="4484681" y="0"/>
                </a:lnTo>
                <a:cubicBezTo>
                  <a:pt x="4519754" y="0"/>
                  <a:pt x="4548188" y="28433"/>
                  <a:pt x="4548188" y="63507"/>
                </a:cubicBezTo>
                <a:lnTo>
                  <a:pt x="4548188" y="3174993"/>
                </a:lnTo>
                <a:cubicBezTo>
                  <a:pt x="4548188" y="3210067"/>
                  <a:pt x="4519754" y="3238500"/>
                  <a:pt x="4484681" y="3238500"/>
                </a:cubicBezTo>
                <a:lnTo>
                  <a:pt x="63507" y="3238500"/>
                </a:lnTo>
                <a:cubicBezTo>
                  <a:pt x="28433" y="3238500"/>
                  <a:pt x="0" y="3210067"/>
                  <a:pt x="0" y="3174993"/>
                </a:cubicBezTo>
                <a:lnTo>
                  <a:pt x="0" y="63507"/>
                </a:lnTo>
                <a:cubicBezTo>
                  <a:pt x="0" y="28457"/>
                  <a:pt x="28457" y="0"/>
                  <a:pt x="63507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38" name="Shape 36"/>
          <p:cNvSpPr/>
          <p:nvPr/>
        </p:nvSpPr>
        <p:spPr>
          <a:xfrm>
            <a:off x="7506519" y="132953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79375" y="54570"/>
                </a:moveTo>
                <a:cubicBezTo>
                  <a:pt x="73887" y="54570"/>
                  <a:pt x="69453" y="59004"/>
                  <a:pt x="69453" y="64492"/>
                </a:cubicBezTo>
                <a:cubicBezTo>
                  <a:pt x="69453" y="68616"/>
                  <a:pt x="66135" y="71934"/>
                  <a:pt x="62012" y="71934"/>
                </a:cubicBezTo>
                <a:cubicBezTo>
                  <a:pt x="57888" y="71934"/>
                  <a:pt x="54570" y="68616"/>
                  <a:pt x="54570" y="64492"/>
                </a:cubicBezTo>
                <a:cubicBezTo>
                  <a:pt x="54570" y="50788"/>
                  <a:pt x="65670" y="39688"/>
                  <a:pt x="79375" y="39688"/>
                </a:cubicBezTo>
                <a:cubicBezTo>
                  <a:pt x="93080" y="39688"/>
                  <a:pt x="104180" y="50788"/>
                  <a:pt x="104180" y="64492"/>
                </a:cubicBezTo>
                <a:cubicBezTo>
                  <a:pt x="104180" y="79127"/>
                  <a:pt x="93018" y="85328"/>
                  <a:pt x="86816" y="87592"/>
                </a:cubicBezTo>
                <a:lnTo>
                  <a:pt x="86816" y="88770"/>
                </a:lnTo>
                <a:cubicBezTo>
                  <a:pt x="86816" y="92894"/>
                  <a:pt x="83499" y="96211"/>
                  <a:pt x="79375" y="96211"/>
                </a:cubicBezTo>
                <a:cubicBezTo>
                  <a:pt x="75251" y="96211"/>
                  <a:pt x="71934" y="92894"/>
                  <a:pt x="71934" y="88770"/>
                </a:cubicBezTo>
                <a:lnTo>
                  <a:pt x="71934" y="86258"/>
                </a:lnTo>
                <a:cubicBezTo>
                  <a:pt x="71934" y="79902"/>
                  <a:pt x="76522" y="75344"/>
                  <a:pt x="81266" y="73794"/>
                </a:cubicBezTo>
                <a:cubicBezTo>
                  <a:pt x="83251" y="73143"/>
                  <a:pt x="85359" y="72089"/>
                  <a:pt x="86909" y="70600"/>
                </a:cubicBezTo>
                <a:cubicBezTo>
                  <a:pt x="88243" y="69298"/>
                  <a:pt x="89297" y="67500"/>
                  <a:pt x="89297" y="64523"/>
                </a:cubicBezTo>
                <a:cubicBezTo>
                  <a:pt x="89297" y="59035"/>
                  <a:pt x="84863" y="54601"/>
                  <a:pt x="79375" y="54601"/>
                </a:cubicBezTo>
                <a:close/>
                <a:moveTo>
                  <a:pt x="69453" y="114102"/>
                </a:moveTo>
                <a:cubicBezTo>
                  <a:pt x="69453" y="108626"/>
                  <a:pt x="73899" y="104180"/>
                  <a:pt x="79375" y="104180"/>
                </a:cubicBezTo>
                <a:cubicBezTo>
                  <a:pt x="84851" y="104180"/>
                  <a:pt x="89297" y="108626"/>
                  <a:pt x="89297" y="114102"/>
                </a:cubicBezTo>
                <a:cubicBezTo>
                  <a:pt x="89297" y="119578"/>
                  <a:pt x="84851" y="124023"/>
                  <a:pt x="79375" y="124023"/>
                </a:cubicBezTo>
                <a:cubicBezTo>
                  <a:pt x="73899" y="124023"/>
                  <a:pt x="69453" y="119578"/>
                  <a:pt x="69453" y="114102"/>
                </a:cubicBezTo>
                <a:close/>
              </a:path>
            </a:pathLst>
          </a:custGeom>
          <a:solidFill>
            <a:srgbClr val="FAF8F3"/>
          </a:solidFill>
          <a:ln/>
        </p:spPr>
      </p:sp>
      <p:sp>
        <p:nvSpPr>
          <p:cNvPr id="39" name="Text 37"/>
          <p:cNvSpPr/>
          <p:nvPr/>
        </p:nvSpPr>
        <p:spPr>
          <a:xfrm>
            <a:off x="7724800" y="1301750"/>
            <a:ext cx="4071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Tree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486675" y="1651000"/>
            <a:ext cx="4230688" cy="571500"/>
          </a:xfrm>
          <a:custGeom>
            <a:avLst/>
            <a:gdLst/>
            <a:ahLst/>
            <a:cxnLst/>
            <a:rect l="l" t="t" r="r" b="b"/>
            <a:pathLst>
              <a:path w="4230688" h="571500">
                <a:moveTo>
                  <a:pt x="63499" y="0"/>
                </a:moveTo>
                <a:lnTo>
                  <a:pt x="4167188" y="0"/>
                </a:lnTo>
                <a:cubicBezTo>
                  <a:pt x="4202258" y="0"/>
                  <a:pt x="4230688" y="28430"/>
                  <a:pt x="4230688" y="63499"/>
                </a:cubicBezTo>
                <a:lnTo>
                  <a:pt x="4230688" y="508001"/>
                </a:lnTo>
                <a:cubicBezTo>
                  <a:pt x="4230688" y="543070"/>
                  <a:pt x="4202258" y="571500"/>
                  <a:pt x="416718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581925" y="1746250"/>
            <a:ext cx="410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this use allowed by my institution?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581925" y="1968500"/>
            <a:ext cx="409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AF8F3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Check your course policy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86675" y="2317750"/>
            <a:ext cx="4230688" cy="571500"/>
          </a:xfrm>
          <a:custGeom>
            <a:avLst/>
            <a:gdLst/>
            <a:ahLst/>
            <a:cxnLst/>
            <a:rect l="l" t="t" r="r" b="b"/>
            <a:pathLst>
              <a:path w="4230688" h="571500">
                <a:moveTo>
                  <a:pt x="63499" y="0"/>
                </a:moveTo>
                <a:lnTo>
                  <a:pt x="4167188" y="0"/>
                </a:lnTo>
                <a:cubicBezTo>
                  <a:pt x="4202258" y="0"/>
                  <a:pt x="4230688" y="28430"/>
                  <a:pt x="4230688" y="63499"/>
                </a:cubicBezTo>
                <a:lnTo>
                  <a:pt x="4230688" y="508001"/>
                </a:lnTo>
                <a:cubicBezTo>
                  <a:pt x="4230688" y="543070"/>
                  <a:pt x="4202258" y="571500"/>
                  <a:pt x="416718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581925" y="2413000"/>
            <a:ext cx="410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 I maintaining my intellectual contribution?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581925" y="2635250"/>
            <a:ext cx="409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AF8F3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Ensure your ideas dominate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486675" y="2984500"/>
            <a:ext cx="4230688" cy="571500"/>
          </a:xfrm>
          <a:custGeom>
            <a:avLst/>
            <a:gdLst/>
            <a:ahLst/>
            <a:cxnLst/>
            <a:rect l="l" t="t" r="r" b="b"/>
            <a:pathLst>
              <a:path w="4230688" h="571500">
                <a:moveTo>
                  <a:pt x="63499" y="0"/>
                </a:moveTo>
                <a:lnTo>
                  <a:pt x="4167188" y="0"/>
                </a:lnTo>
                <a:cubicBezTo>
                  <a:pt x="4202258" y="0"/>
                  <a:pt x="4230688" y="28430"/>
                  <a:pt x="4230688" y="63499"/>
                </a:cubicBezTo>
                <a:lnTo>
                  <a:pt x="4230688" y="508001"/>
                </a:lnTo>
                <a:cubicBezTo>
                  <a:pt x="4230688" y="543070"/>
                  <a:pt x="4202258" y="571500"/>
                  <a:pt x="416718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581925" y="3079750"/>
            <a:ext cx="410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 I being transparent?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581925" y="3302000"/>
            <a:ext cx="409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AF8F3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Plan to disclose AI use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486675" y="3651250"/>
            <a:ext cx="4230688" cy="571500"/>
          </a:xfrm>
          <a:custGeom>
            <a:avLst/>
            <a:gdLst/>
            <a:ahLst/>
            <a:cxnLst/>
            <a:rect l="l" t="t" r="r" b="b"/>
            <a:pathLst>
              <a:path w="4230688" h="571500">
                <a:moveTo>
                  <a:pt x="63499" y="0"/>
                </a:moveTo>
                <a:lnTo>
                  <a:pt x="4167188" y="0"/>
                </a:lnTo>
                <a:cubicBezTo>
                  <a:pt x="4202258" y="0"/>
                  <a:pt x="4230688" y="28430"/>
                  <a:pt x="4230688" y="63499"/>
                </a:cubicBezTo>
                <a:lnTo>
                  <a:pt x="4230688" y="508001"/>
                </a:lnTo>
                <a:cubicBezTo>
                  <a:pt x="4230688" y="543070"/>
                  <a:pt x="4202258" y="571500"/>
                  <a:pt x="4167188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7581925" y="3746500"/>
            <a:ext cx="410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Will I verify all AI suggestions?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581925" y="3968750"/>
            <a:ext cx="409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AF8F3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Commit to fact-checking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331894" y="4512469"/>
            <a:ext cx="4540250" cy="960438"/>
          </a:xfrm>
          <a:custGeom>
            <a:avLst/>
            <a:gdLst/>
            <a:ahLst/>
            <a:cxnLst/>
            <a:rect l="l" t="t" r="r" b="b"/>
            <a:pathLst>
              <a:path w="4540250" h="960438">
                <a:moveTo>
                  <a:pt x="63504" y="0"/>
                </a:moveTo>
                <a:lnTo>
                  <a:pt x="4476746" y="0"/>
                </a:lnTo>
                <a:cubicBezTo>
                  <a:pt x="4511818" y="0"/>
                  <a:pt x="4540250" y="28432"/>
                  <a:pt x="4540250" y="63504"/>
                </a:cubicBezTo>
                <a:lnTo>
                  <a:pt x="4540250" y="896933"/>
                </a:lnTo>
                <a:cubicBezTo>
                  <a:pt x="4540250" y="932006"/>
                  <a:pt x="4511818" y="960437"/>
                  <a:pt x="4476746" y="960438"/>
                </a:cubicBezTo>
                <a:lnTo>
                  <a:pt x="63504" y="960438"/>
                </a:lnTo>
                <a:cubicBezTo>
                  <a:pt x="28432" y="960438"/>
                  <a:pt x="0" y="932006"/>
                  <a:pt x="0" y="896933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F0FDF4"/>
          </a:solidFill>
          <a:ln w="12700">
            <a:solidFill>
              <a:srgbClr val="7BF1A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482706" y="468312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008236"/>
          </a:solidFill>
          <a:ln/>
        </p:spPr>
      </p:sp>
      <p:sp>
        <p:nvSpPr>
          <p:cNvPr id="54" name="Text 52"/>
          <p:cNvSpPr/>
          <p:nvPr/>
        </p:nvSpPr>
        <p:spPr>
          <a:xfrm>
            <a:off x="7685112" y="4643438"/>
            <a:ext cx="4127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82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 YES to All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462862" y="4929188"/>
            <a:ext cx="434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AI use is likely ethical! Proceed with confidence, maintain transparency, and keep your intellectual contribution central.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331894" y="5607844"/>
            <a:ext cx="4540250" cy="960438"/>
          </a:xfrm>
          <a:custGeom>
            <a:avLst/>
            <a:gdLst/>
            <a:ahLst/>
            <a:cxnLst/>
            <a:rect l="l" t="t" r="r" b="b"/>
            <a:pathLst>
              <a:path w="4540250" h="960438">
                <a:moveTo>
                  <a:pt x="63504" y="0"/>
                </a:moveTo>
                <a:lnTo>
                  <a:pt x="4476746" y="0"/>
                </a:lnTo>
                <a:cubicBezTo>
                  <a:pt x="4511818" y="0"/>
                  <a:pt x="4540250" y="28432"/>
                  <a:pt x="4540250" y="63504"/>
                </a:cubicBezTo>
                <a:lnTo>
                  <a:pt x="4540250" y="896933"/>
                </a:lnTo>
                <a:cubicBezTo>
                  <a:pt x="4540250" y="932006"/>
                  <a:pt x="4511818" y="960437"/>
                  <a:pt x="4476746" y="960438"/>
                </a:cubicBezTo>
                <a:lnTo>
                  <a:pt x="63504" y="960438"/>
                </a:lnTo>
                <a:cubicBezTo>
                  <a:pt x="28432" y="960438"/>
                  <a:pt x="0" y="932006"/>
                  <a:pt x="0" y="896933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FEF2F2"/>
          </a:solidFill>
          <a:ln w="12700">
            <a:solidFill>
              <a:srgbClr val="FFA2A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482706" y="577850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46602" y="46602"/>
                </a:moveTo>
                <a:cubicBezTo>
                  <a:pt x="49225" y="43979"/>
                  <a:pt x="53467" y="43979"/>
                  <a:pt x="56062" y="46602"/>
                </a:cubicBezTo>
                <a:lnTo>
                  <a:pt x="71410" y="61950"/>
                </a:lnTo>
                <a:lnTo>
                  <a:pt x="86757" y="46602"/>
                </a:lnTo>
                <a:cubicBezTo>
                  <a:pt x="89381" y="43979"/>
                  <a:pt x="93622" y="43979"/>
                  <a:pt x="96217" y="46602"/>
                </a:cubicBezTo>
                <a:cubicBezTo>
                  <a:pt x="98813" y="49225"/>
                  <a:pt x="98840" y="53467"/>
                  <a:pt x="96217" y="56062"/>
                </a:cubicBezTo>
                <a:lnTo>
                  <a:pt x="80869" y="71410"/>
                </a:lnTo>
                <a:lnTo>
                  <a:pt x="96217" y="86757"/>
                </a:lnTo>
                <a:cubicBezTo>
                  <a:pt x="98840" y="89381"/>
                  <a:pt x="98840" y="93622"/>
                  <a:pt x="96217" y="96217"/>
                </a:cubicBezTo>
                <a:cubicBezTo>
                  <a:pt x="93594" y="98813"/>
                  <a:pt x="89353" y="98840"/>
                  <a:pt x="86757" y="96217"/>
                </a:cubicBezTo>
                <a:lnTo>
                  <a:pt x="71410" y="80869"/>
                </a:lnTo>
                <a:lnTo>
                  <a:pt x="56062" y="96217"/>
                </a:lnTo>
                <a:cubicBezTo>
                  <a:pt x="53439" y="98840"/>
                  <a:pt x="49197" y="98840"/>
                  <a:pt x="46602" y="96217"/>
                </a:cubicBezTo>
                <a:cubicBezTo>
                  <a:pt x="44007" y="93594"/>
                  <a:pt x="43979" y="89353"/>
                  <a:pt x="46602" y="86757"/>
                </a:cubicBezTo>
                <a:lnTo>
                  <a:pt x="61950" y="71410"/>
                </a:lnTo>
                <a:lnTo>
                  <a:pt x="46602" y="56062"/>
                </a:lnTo>
                <a:cubicBezTo>
                  <a:pt x="43979" y="53439"/>
                  <a:pt x="43979" y="49197"/>
                  <a:pt x="46602" y="46602"/>
                </a:cubicBezTo>
                <a:close/>
              </a:path>
            </a:pathLst>
          </a:custGeom>
          <a:solidFill>
            <a:srgbClr val="C10007"/>
          </a:solidFill>
          <a:ln/>
        </p:spPr>
      </p:sp>
      <p:sp>
        <p:nvSpPr>
          <p:cNvPr id="58" name="Text 56"/>
          <p:cNvSpPr/>
          <p:nvPr/>
        </p:nvSpPr>
        <p:spPr>
          <a:xfrm>
            <a:off x="7685112" y="5738813"/>
            <a:ext cx="4127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1000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 NO to Any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462862" y="6024563"/>
            <a:ext cx="434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Reconsider your approach. Talk to your instructor, adjust your method, or find alternative ways to complete the task.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321469" y="6703219"/>
            <a:ext cx="1643063" cy="269875"/>
          </a:xfrm>
          <a:custGeom>
            <a:avLst/>
            <a:gdLst/>
            <a:ahLst/>
            <a:cxnLst/>
            <a:rect l="l" t="t" r="r" b="b"/>
            <a:pathLst>
              <a:path w="1643063" h="269875">
                <a:moveTo>
                  <a:pt x="0" y="0"/>
                </a:moveTo>
                <a:lnTo>
                  <a:pt x="1643063" y="0"/>
                </a:lnTo>
                <a:lnTo>
                  <a:pt x="1643063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90196"/>
            </a:srgbClr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17500" y="6699250"/>
            <a:ext cx="1682750" cy="261937"/>
          </a:xfrm>
          <a:prstGeom prst="rect">
            <a:avLst/>
          </a:prstGeom>
          <a:noFill/>
          <a:ln/>
        </p:spPr>
        <p:txBody>
          <a:bodyPr wrap="square" lIns="95250" tIns="63500" rIns="95250" bIns="63500" rtlCol="0" anchor="ctr"/>
          <a:lstStyle/>
          <a:p>
            <a:pPr>
              <a:lnSpc>
                <a:spcPct val="120000"/>
              </a:lnSpc>
            </a:pPr>
            <a:r>
              <a:rPr lang="en-US" sz="75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 • Ethical Implementation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0784644" y="6759339"/>
            <a:ext cx="1143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over shortcuts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spc="88" kern="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Warning Signs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 Flags: When AI Use Becomes Unethical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5250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" name="Shape 3"/>
          <p:cNvSpPr/>
          <p:nvPr/>
        </p:nvSpPr>
        <p:spPr>
          <a:xfrm>
            <a:off x="333375" y="1143000"/>
            <a:ext cx="5667375" cy="3111500"/>
          </a:xfrm>
          <a:custGeom>
            <a:avLst/>
            <a:gdLst/>
            <a:ahLst/>
            <a:cxnLst/>
            <a:rect l="l" t="t" r="r" b="b"/>
            <a:pathLst>
              <a:path w="5667375" h="3111500">
                <a:moveTo>
                  <a:pt x="31750" y="0"/>
                </a:moveTo>
                <a:lnTo>
                  <a:pt x="5603869" y="0"/>
                </a:lnTo>
                <a:cubicBezTo>
                  <a:pt x="5638943" y="0"/>
                  <a:pt x="5667375" y="28432"/>
                  <a:pt x="5667375" y="63506"/>
                </a:cubicBezTo>
                <a:lnTo>
                  <a:pt x="5667375" y="3047994"/>
                </a:lnTo>
                <a:cubicBezTo>
                  <a:pt x="5667375" y="3083068"/>
                  <a:pt x="5638943" y="3111500"/>
                  <a:pt x="5603869" y="3111500"/>
                </a:cubicBezTo>
                <a:lnTo>
                  <a:pt x="31750" y="3111500"/>
                </a:lnTo>
                <a:cubicBezTo>
                  <a:pt x="14215" y="3111500"/>
                  <a:pt x="0" y="3097285"/>
                  <a:pt x="0" y="307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6" name="Shape 4"/>
          <p:cNvSpPr/>
          <p:nvPr/>
        </p:nvSpPr>
        <p:spPr>
          <a:xfrm>
            <a:off x="333375" y="1143000"/>
            <a:ext cx="31750" cy="3111500"/>
          </a:xfrm>
          <a:custGeom>
            <a:avLst/>
            <a:gdLst/>
            <a:ahLst/>
            <a:cxnLst/>
            <a:rect l="l" t="t" r="r" b="b"/>
            <a:pathLst>
              <a:path w="31750" h="3111500">
                <a:moveTo>
                  <a:pt x="31750" y="0"/>
                </a:moveTo>
                <a:lnTo>
                  <a:pt x="31750" y="0"/>
                </a:lnTo>
                <a:lnTo>
                  <a:pt x="31750" y="3111500"/>
                </a:lnTo>
                <a:lnTo>
                  <a:pt x="31750" y="3111500"/>
                </a:lnTo>
                <a:cubicBezTo>
                  <a:pt x="14227" y="3111500"/>
                  <a:pt x="0" y="3097273"/>
                  <a:pt x="0" y="307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7" name="Shape 5"/>
          <p:cNvSpPr/>
          <p:nvPr/>
        </p:nvSpPr>
        <p:spPr>
          <a:xfrm>
            <a:off x="537766" y="1329531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9844" y="9922"/>
                </a:moveTo>
                <a:cubicBezTo>
                  <a:pt x="19844" y="4434"/>
                  <a:pt x="15410" y="0"/>
                  <a:pt x="9922" y="0"/>
                </a:cubicBezTo>
                <a:cubicBezTo>
                  <a:pt x="4434" y="0"/>
                  <a:pt x="0" y="4434"/>
                  <a:pt x="0" y="9922"/>
                </a:cubicBezTo>
                <a:lnTo>
                  <a:pt x="0" y="148828"/>
                </a:lnTo>
                <a:cubicBezTo>
                  <a:pt x="0" y="154316"/>
                  <a:pt x="4434" y="158750"/>
                  <a:pt x="9922" y="158750"/>
                </a:cubicBezTo>
                <a:cubicBezTo>
                  <a:pt x="15410" y="158750"/>
                  <a:pt x="19844" y="154316"/>
                  <a:pt x="19844" y="148828"/>
                </a:cubicBezTo>
                <a:lnTo>
                  <a:pt x="19844" y="111125"/>
                </a:lnTo>
                <a:lnTo>
                  <a:pt x="39284" y="105296"/>
                </a:lnTo>
                <a:cubicBezTo>
                  <a:pt x="52276" y="101389"/>
                  <a:pt x="66291" y="102598"/>
                  <a:pt x="78414" y="108676"/>
                </a:cubicBezTo>
                <a:cubicBezTo>
                  <a:pt x="91653" y="115311"/>
                  <a:pt x="107094" y="116117"/>
                  <a:pt x="120954" y="110908"/>
                </a:cubicBezTo>
                <a:lnTo>
                  <a:pt x="132457" y="106598"/>
                </a:lnTo>
                <a:cubicBezTo>
                  <a:pt x="136333" y="105141"/>
                  <a:pt x="138906" y="101451"/>
                  <a:pt x="138906" y="97296"/>
                </a:cubicBezTo>
                <a:lnTo>
                  <a:pt x="138906" y="20495"/>
                </a:lnTo>
                <a:cubicBezTo>
                  <a:pt x="138906" y="13364"/>
                  <a:pt x="131403" y="8713"/>
                  <a:pt x="125016" y="11906"/>
                </a:cubicBezTo>
                <a:lnTo>
                  <a:pt x="121357" y="13736"/>
                </a:lnTo>
                <a:cubicBezTo>
                  <a:pt x="107435" y="20712"/>
                  <a:pt x="91033" y="20712"/>
                  <a:pt x="77081" y="13736"/>
                </a:cubicBezTo>
                <a:cubicBezTo>
                  <a:pt x="65794" y="8093"/>
                  <a:pt x="52803" y="6976"/>
                  <a:pt x="40742" y="10604"/>
                </a:cubicBezTo>
                <a:lnTo>
                  <a:pt x="19844" y="16867"/>
                </a:lnTo>
                <a:lnTo>
                  <a:pt x="19844" y="9922"/>
                </a:lnTo>
                <a:close/>
              </a:path>
            </a:pathLst>
          </a:custGeom>
          <a:solidFill>
            <a:srgbClr val="C10007"/>
          </a:solidFill>
          <a:ln/>
        </p:spPr>
      </p:sp>
      <p:sp>
        <p:nvSpPr>
          <p:cNvPr id="8" name="Text 6"/>
          <p:cNvSpPr/>
          <p:nvPr/>
        </p:nvSpPr>
        <p:spPr>
          <a:xfrm>
            <a:off x="746125" y="1301750"/>
            <a:ext cx="5175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1000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Warning Signs You've Crossed the Line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000" y="1651000"/>
            <a:ext cx="5334000" cy="539750"/>
          </a:xfrm>
          <a:custGeom>
            <a:avLst/>
            <a:gdLst/>
            <a:ahLst/>
            <a:cxnLst/>
            <a:rect l="l" t="t" r="r" b="b"/>
            <a:pathLst>
              <a:path w="5334000" h="539750">
                <a:moveTo>
                  <a:pt x="63502" y="0"/>
                </a:moveTo>
                <a:lnTo>
                  <a:pt x="5270498" y="0"/>
                </a:lnTo>
                <a:cubicBezTo>
                  <a:pt x="5305569" y="0"/>
                  <a:pt x="5334000" y="28431"/>
                  <a:pt x="5334000" y="63502"/>
                </a:cubicBezTo>
                <a:lnTo>
                  <a:pt x="5334000" y="476248"/>
                </a:lnTo>
                <a:cubicBezTo>
                  <a:pt x="5334000" y="511319"/>
                  <a:pt x="5305569" y="539750"/>
                  <a:pt x="527049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23094" y="17780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51780" y="51780"/>
                </a:moveTo>
                <a:cubicBezTo>
                  <a:pt x="54694" y="48865"/>
                  <a:pt x="59407" y="48865"/>
                  <a:pt x="62291" y="51780"/>
                </a:cubicBezTo>
                <a:lnTo>
                  <a:pt x="79344" y="68833"/>
                </a:lnTo>
                <a:lnTo>
                  <a:pt x="96397" y="51780"/>
                </a:lnTo>
                <a:cubicBezTo>
                  <a:pt x="99312" y="48865"/>
                  <a:pt x="104025" y="48865"/>
                  <a:pt x="106908" y="51780"/>
                </a:cubicBezTo>
                <a:cubicBezTo>
                  <a:pt x="109792" y="54694"/>
                  <a:pt x="109823" y="59407"/>
                  <a:pt x="106908" y="62291"/>
                </a:cubicBezTo>
                <a:lnTo>
                  <a:pt x="89855" y="79344"/>
                </a:lnTo>
                <a:lnTo>
                  <a:pt x="106908" y="96397"/>
                </a:lnTo>
                <a:cubicBezTo>
                  <a:pt x="109823" y="99312"/>
                  <a:pt x="109823" y="104025"/>
                  <a:pt x="106908" y="106908"/>
                </a:cubicBezTo>
                <a:cubicBezTo>
                  <a:pt x="103994" y="109792"/>
                  <a:pt x="99281" y="109823"/>
                  <a:pt x="96397" y="106908"/>
                </a:cubicBezTo>
                <a:lnTo>
                  <a:pt x="79344" y="89855"/>
                </a:lnTo>
                <a:lnTo>
                  <a:pt x="62291" y="106908"/>
                </a:lnTo>
                <a:cubicBezTo>
                  <a:pt x="59376" y="109823"/>
                  <a:pt x="54663" y="109823"/>
                  <a:pt x="51780" y="106908"/>
                </a:cubicBezTo>
                <a:cubicBezTo>
                  <a:pt x="48896" y="103994"/>
                  <a:pt x="48865" y="99281"/>
                  <a:pt x="51780" y="96397"/>
                </a:cubicBezTo>
                <a:lnTo>
                  <a:pt x="68833" y="79344"/>
                </a:lnTo>
                <a:lnTo>
                  <a:pt x="51780" y="62291"/>
                </a:lnTo>
                <a:cubicBezTo>
                  <a:pt x="48865" y="59376"/>
                  <a:pt x="48865" y="54663"/>
                  <a:pt x="51780" y="5178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1" name="Text 9"/>
          <p:cNvSpPr/>
          <p:nvPr/>
        </p:nvSpPr>
        <p:spPr>
          <a:xfrm>
            <a:off x="896938" y="1746250"/>
            <a:ext cx="374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Letting AI Perform Critical Analysis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938" y="1936750"/>
            <a:ext cx="373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generates interpretations, evaluations, or conclusions that should be yours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8000" y="2286000"/>
            <a:ext cx="5334000" cy="539750"/>
          </a:xfrm>
          <a:custGeom>
            <a:avLst/>
            <a:gdLst/>
            <a:ahLst/>
            <a:cxnLst/>
            <a:rect l="l" t="t" r="r" b="b"/>
            <a:pathLst>
              <a:path w="5334000" h="539750">
                <a:moveTo>
                  <a:pt x="63502" y="0"/>
                </a:moveTo>
                <a:lnTo>
                  <a:pt x="5270498" y="0"/>
                </a:lnTo>
                <a:cubicBezTo>
                  <a:pt x="5305569" y="0"/>
                  <a:pt x="5334000" y="28431"/>
                  <a:pt x="5334000" y="63502"/>
                </a:cubicBezTo>
                <a:lnTo>
                  <a:pt x="5334000" y="476248"/>
                </a:lnTo>
                <a:cubicBezTo>
                  <a:pt x="5334000" y="511319"/>
                  <a:pt x="5305569" y="539750"/>
                  <a:pt x="527049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23094" y="24130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51780" y="51780"/>
                </a:moveTo>
                <a:cubicBezTo>
                  <a:pt x="54694" y="48865"/>
                  <a:pt x="59407" y="48865"/>
                  <a:pt x="62291" y="51780"/>
                </a:cubicBezTo>
                <a:lnTo>
                  <a:pt x="79344" y="68833"/>
                </a:lnTo>
                <a:lnTo>
                  <a:pt x="96397" y="51780"/>
                </a:lnTo>
                <a:cubicBezTo>
                  <a:pt x="99312" y="48865"/>
                  <a:pt x="104025" y="48865"/>
                  <a:pt x="106908" y="51780"/>
                </a:cubicBezTo>
                <a:cubicBezTo>
                  <a:pt x="109792" y="54694"/>
                  <a:pt x="109823" y="59407"/>
                  <a:pt x="106908" y="62291"/>
                </a:cubicBezTo>
                <a:lnTo>
                  <a:pt x="89855" y="79344"/>
                </a:lnTo>
                <a:lnTo>
                  <a:pt x="106908" y="96397"/>
                </a:lnTo>
                <a:cubicBezTo>
                  <a:pt x="109823" y="99312"/>
                  <a:pt x="109823" y="104025"/>
                  <a:pt x="106908" y="106908"/>
                </a:cubicBezTo>
                <a:cubicBezTo>
                  <a:pt x="103994" y="109792"/>
                  <a:pt x="99281" y="109823"/>
                  <a:pt x="96397" y="106908"/>
                </a:cubicBezTo>
                <a:lnTo>
                  <a:pt x="79344" y="89855"/>
                </a:lnTo>
                <a:lnTo>
                  <a:pt x="62291" y="106908"/>
                </a:lnTo>
                <a:cubicBezTo>
                  <a:pt x="59376" y="109823"/>
                  <a:pt x="54663" y="109823"/>
                  <a:pt x="51780" y="106908"/>
                </a:cubicBezTo>
                <a:cubicBezTo>
                  <a:pt x="48896" y="103994"/>
                  <a:pt x="48865" y="99281"/>
                  <a:pt x="51780" y="96397"/>
                </a:cubicBezTo>
                <a:lnTo>
                  <a:pt x="68833" y="79344"/>
                </a:lnTo>
                <a:lnTo>
                  <a:pt x="51780" y="62291"/>
                </a:lnTo>
                <a:cubicBezTo>
                  <a:pt x="48865" y="59376"/>
                  <a:pt x="48865" y="54663"/>
                  <a:pt x="51780" y="5178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5" name="Text 13"/>
          <p:cNvSpPr/>
          <p:nvPr/>
        </p:nvSpPr>
        <p:spPr>
          <a:xfrm>
            <a:off x="896938" y="2381250"/>
            <a:ext cx="3230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Accepting AI Interpretations Without Evaluation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6938" y="2571750"/>
            <a:ext cx="3222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don't critically assess AI-generated insights before using them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8000" y="2921000"/>
            <a:ext cx="5334000" cy="539750"/>
          </a:xfrm>
          <a:custGeom>
            <a:avLst/>
            <a:gdLst/>
            <a:ahLst/>
            <a:cxnLst/>
            <a:rect l="l" t="t" r="r" b="b"/>
            <a:pathLst>
              <a:path w="5334000" h="539750">
                <a:moveTo>
                  <a:pt x="63502" y="0"/>
                </a:moveTo>
                <a:lnTo>
                  <a:pt x="5270498" y="0"/>
                </a:lnTo>
                <a:cubicBezTo>
                  <a:pt x="5305569" y="0"/>
                  <a:pt x="5334000" y="28431"/>
                  <a:pt x="5334000" y="63502"/>
                </a:cubicBezTo>
                <a:lnTo>
                  <a:pt x="5334000" y="476248"/>
                </a:lnTo>
                <a:cubicBezTo>
                  <a:pt x="5334000" y="511319"/>
                  <a:pt x="5305569" y="539750"/>
                  <a:pt x="527049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23094" y="30480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51780" y="51780"/>
                </a:moveTo>
                <a:cubicBezTo>
                  <a:pt x="54694" y="48865"/>
                  <a:pt x="59407" y="48865"/>
                  <a:pt x="62291" y="51780"/>
                </a:cubicBezTo>
                <a:lnTo>
                  <a:pt x="79344" y="68833"/>
                </a:lnTo>
                <a:lnTo>
                  <a:pt x="96397" y="51780"/>
                </a:lnTo>
                <a:cubicBezTo>
                  <a:pt x="99312" y="48865"/>
                  <a:pt x="104025" y="48865"/>
                  <a:pt x="106908" y="51780"/>
                </a:cubicBezTo>
                <a:cubicBezTo>
                  <a:pt x="109792" y="54694"/>
                  <a:pt x="109823" y="59407"/>
                  <a:pt x="106908" y="62291"/>
                </a:cubicBezTo>
                <a:lnTo>
                  <a:pt x="89855" y="79344"/>
                </a:lnTo>
                <a:lnTo>
                  <a:pt x="106908" y="96397"/>
                </a:lnTo>
                <a:cubicBezTo>
                  <a:pt x="109823" y="99312"/>
                  <a:pt x="109823" y="104025"/>
                  <a:pt x="106908" y="106908"/>
                </a:cubicBezTo>
                <a:cubicBezTo>
                  <a:pt x="103994" y="109792"/>
                  <a:pt x="99281" y="109823"/>
                  <a:pt x="96397" y="106908"/>
                </a:cubicBezTo>
                <a:lnTo>
                  <a:pt x="79344" y="89855"/>
                </a:lnTo>
                <a:lnTo>
                  <a:pt x="62291" y="106908"/>
                </a:lnTo>
                <a:cubicBezTo>
                  <a:pt x="59376" y="109823"/>
                  <a:pt x="54663" y="109823"/>
                  <a:pt x="51780" y="106908"/>
                </a:cubicBezTo>
                <a:cubicBezTo>
                  <a:pt x="48896" y="103994"/>
                  <a:pt x="48865" y="99281"/>
                  <a:pt x="51780" y="96397"/>
                </a:cubicBezTo>
                <a:lnTo>
                  <a:pt x="68833" y="79344"/>
                </a:lnTo>
                <a:lnTo>
                  <a:pt x="51780" y="62291"/>
                </a:lnTo>
                <a:cubicBezTo>
                  <a:pt x="48865" y="59376"/>
                  <a:pt x="48865" y="54663"/>
                  <a:pt x="51780" y="5178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9" name="Text 17"/>
          <p:cNvSpPr/>
          <p:nvPr/>
        </p:nvSpPr>
        <p:spPr>
          <a:xfrm>
            <a:off x="896938" y="3016250"/>
            <a:ext cx="315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AI to Generate Entire Sections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6938" y="3206750"/>
            <a:ext cx="3143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Major portions of your paper are AI-written with minimal editing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8000" y="3556000"/>
            <a:ext cx="5334000" cy="539750"/>
          </a:xfrm>
          <a:custGeom>
            <a:avLst/>
            <a:gdLst/>
            <a:ahLst/>
            <a:cxnLst/>
            <a:rect l="l" t="t" r="r" b="b"/>
            <a:pathLst>
              <a:path w="5334000" h="539750">
                <a:moveTo>
                  <a:pt x="63502" y="0"/>
                </a:moveTo>
                <a:lnTo>
                  <a:pt x="5270498" y="0"/>
                </a:lnTo>
                <a:cubicBezTo>
                  <a:pt x="5305569" y="0"/>
                  <a:pt x="5334000" y="28431"/>
                  <a:pt x="5334000" y="63502"/>
                </a:cubicBezTo>
                <a:lnTo>
                  <a:pt x="5334000" y="476248"/>
                </a:lnTo>
                <a:cubicBezTo>
                  <a:pt x="5334000" y="511319"/>
                  <a:pt x="5305569" y="539750"/>
                  <a:pt x="527049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23094" y="36830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51780" y="51780"/>
                </a:moveTo>
                <a:cubicBezTo>
                  <a:pt x="54694" y="48865"/>
                  <a:pt x="59407" y="48865"/>
                  <a:pt x="62291" y="51780"/>
                </a:cubicBezTo>
                <a:lnTo>
                  <a:pt x="79344" y="68833"/>
                </a:lnTo>
                <a:lnTo>
                  <a:pt x="96397" y="51780"/>
                </a:lnTo>
                <a:cubicBezTo>
                  <a:pt x="99312" y="48865"/>
                  <a:pt x="104025" y="48865"/>
                  <a:pt x="106908" y="51780"/>
                </a:cubicBezTo>
                <a:cubicBezTo>
                  <a:pt x="109792" y="54694"/>
                  <a:pt x="109823" y="59407"/>
                  <a:pt x="106908" y="62291"/>
                </a:cubicBezTo>
                <a:lnTo>
                  <a:pt x="89855" y="79344"/>
                </a:lnTo>
                <a:lnTo>
                  <a:pt x="106908" y="96397"/>
                </a:lnTo>
                <a:cubicBezTo>
                  <a:pt x="109823" y="99312"/>
                  <a:pt x="109823" y="104025"/>
                  <a:pt x="106908" y="106908"/>
                </a:cubicBezTo>
                <a:cubicBezTo>
                  <a:pt x="103994" y="109792"/>
                  <a:pt x="99281" y="109823"/>
                  <a:pt x="96397" y="106908"/>
                </a:cubicBezTo>
                <a:lnTo>
                  <a:pt x="79344" y="89855"/>
                </a:lnTo>
                <a:lnTo>
                  <a:pt x="62291" y="106908"/>
                </a:lnTo>
                <a:cubicBezTo>
                  <a:pt x="59376" y="109823"/>
                  <a:pt x="54663" y="109823"/>
                  <a:pt x="51780" y="106908"/>
                </a:cubicBezTo>
                <a:cubicBezTo>
                  <a:pt x="48896" y="103994"/>
                  <a:pt x="48865" y="99281"/>
                  <a:pt x="51780" y="96397"/>
                </a:cubicBezTo>
                <a:lnTo>
                  <a:pt x="68833" y="79344"/>
                </a:lnTo>
                <a:lnTo>
                  <a:pt x="51780" y="62291"/>
                </a:lnTo>
                <a:cubicBezTo>
                  <a:pt x="48865" y="59376"/>
                  <a:pt x="48865" y="54663"/>
                  <a:pt x="51780" y="5178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3" name="Text 21"/>
          <p:cNvSpPr/>
          <p:nvPr/>
        </p:nvSpPr>
        <p:spPr>
          <a:xfrm>
            <a:off x="896938" y="3651250"/>
            <a:ext cx="36591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Trying to Hide AI Use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6938" y="3841750"/>
            <a:ext cx="3651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You're actively trying to make AI-generated content appear human-written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07125" y="1143000"/>
            <a:ext cx="5667375" cy="3111500"/>
          </a:xfrm>
          <a:custGeom>
            <a:avLst/>
            <a:gdLst/>
            <a:ahLst/>
            <a:cxnLst/>
            <a:rect l="l" t="t" r="r" b="b"/>
            <a:pathLst>
              <a:path w="5667375" h="3111500">
                <a:moveTo>
                  <a:pt x="31750" y="0"/>
                </a:moveTo>
                <a:lnTo>
                  <a:pt x="5603869" y="0"/>
                </a:lnTo>
                <a:cubicBezTo>
                  <a:pt x="5638943" y="0"/>
                  <a:pt x="5667375" y="28432"/>
                  <a:pt x="5667375" y="63506"/>
                </a:cubicBezTo>
                <a:lnTo>
                  <a:pt x="5667375" y="3047994"/>
                </a:lnTo>
                <a:cubicBezTo>
                  <a:pt x="5667375" y="3083068"/>
                  <a:pt x="5638943" y="3111500"/>
                  <a:pt x="5603869" y="3111500"/>
                </a:cubicBezTo>
                <a:lnTo>
                  <a:pt x="31750" y="3111500"/>
                </a:lnTo>
                <a:cubicBezTo>
                  <a:pt x="14215" y="3111500"/>
                  <a:pt x="0" y="3097285"/>
                  <a:pt x="0" y="307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26" name="Shape 24"/>
          <p:cNvSpPr/>
          <p:nvPr/>
        </p:nvSpPr>
        <p:spPr>
          <a:xfrm>
            <a:off x="6207125" y="1143000"/>
            <a:ext cx="31750" cy="3111500"/>
          </a:xfrm>
          <a:custGeom>
            <a:avLst/>
            <a:gdLst/>
            <a:ahLst/>
            <a:cxnLst/>
            <a:rect l="l" t="t" r="r" b="b"/>
            <a:pathLst>
              <a:path w="31750" h="3111500">
                <a:moveTo>
                  <a:pt x="31750" y="0"/>
                </a:moveTo>
                <a:lnTo>
                  <a:pt x="31750" y="0"/>
                </a:lnTo>
                <a:lnTo>
                  <a:pt x="31750" y="3111500"/>
                </a:lnTo>
                <a:lnTo>
                  <a:pt x="31750" y="3111500"/>
                </a:lnTo>
                <a:cubicBezTo>
                  <a:pt x="14227" y="3111500"/>
                  <a:pt x="0" y="3097273"/>
                  <a:pt x="0" y="307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1594" y="132953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3933" y="0"/>
                  <a:pt x="88119" y="2511"/>
                  <a:pt x="90289" y="6511"/>
                </a:cubicBezTo>
                <a:lnTo>
                  <a:pt x="157262" y="130535"/>
                </a:lnTo>
                <a:cubicBezTo>
                  <a:pt x="159339" y="134379"/>
                  <a:pt x="159246" y="139030"/>
                  <a:pt x="157014" y="142782"/>
                </a:cubicBezTo>
                <a:cubicBezTo>
                  <a:pt x="154781" y="146534"/>
                  <a:pt x="150719" y="148828"/>
                  <a:pt x="146348" y="148828"/>
                </a:cubicBezTo>
                <a:lnTo>
                  <a:pt x="12402" y="148828"/>
                </a:lnTo>
                <a:cubicBezTo>
                  <a:pt x="8031" y="148828"/>
                  <a:pt x="4000" y="146534"/>
                  <a:pt x="1736" y="142782"/>
                </a:cubicBezTo>
                <a:cubicBezTo>
                  <a:pt x="-527" y="139030"/>
                  <a:pt x="-589" y="134379"/>
                  <a:pt x="1488" y="130535"/>
                </a:cubicBezTo>
                <a:lnTo>
                  <a:pt x="68461" y="6511"/>
                </a:lnTo>
                <a:cubicBezTo>
                  <a:pt x="70631" y="2511"/>
                  <a:pt x="74817" y="0"/>
                  <a:pt x="79375" y="0"/>
                </a:cubicBezTo>
                <a:close/>
                <a:moveTo>
                  <a:pt x="79375" y="52090"/>
                </a:moveTo>
                <a:cubicBezTo>
                  <a:pt x="75251" y="52090"/>
                  <a:pt x="71934" y="55407"/>
                  <a:pt x="71934" y="59531"/>
                </a:cubicBezTo>
                <a:lnTo>
                  <a:pt x="71934" y="94258"/>
                </a:lnTo>
                <a:cubicBezTo>
                  <a:pt x="71934" y="98382"/>
                  <a:pt x="75251" y="101699"/>
                  <a:pt x="79375" y="101699"/>
                </a:cubicBezTo>
                <a:cubicBezTo>
                  <a:pt x="83499" y="101699"/>
                  <a:pt x="86816" y="98382"/>
                  <a:pt x="86816" y="94258"/>
                </a:cubicBezTo>
                <a:lnTo>
                  <a:pt x="86816" y="59531"/>
                </a:lnTo>
                <a:cubicBezTo>
                  <a:pt x="86816" y="55407"/>
                  <a:pt x="83499" y="52090"/>
                  <a:pt x="79375" y="52090"/>
                </a:cubicBezTo>
                <a:close/>
                <a:moveTo>
                  <a:pt x="87654" y="119062"/>
                </a:moveTo>
                <a:cubicBezTo>
                  <a:pt x="87842" y="115990"/>
                  <a:pt x="86309" y="113066"/>
                  <a:pt x="83675" y="111473"/>
                </a:cubicBezTo>
                <a:cubicBezTo>
                  <a:pt x="81041" y="109879"/>
                  <a:pt x="77740" y="109879"/>
                  <a:pt x="75106" y="111473"/>
                </a:cubicBezTo>
                <a:cubicBezTo>
                  <a:pt x="72472" y="113066"/>
                  <a:pt x="70939" y="115990"/>
                  <a:pt x="71127" y="119062"/>
                </a:cubicBezTo>
                <a:cubicBezTo>
                  <a:pt x="70939" y="122135"/>
                  <a:pt x="72472" y="125059"/>
                  <a:pt x="75106" y="126652"/>
                </a:cubicBezTo>
                <a:cubicBezTo>
                  <a:pt x="77740" y="128246"/>
                  <a:pt x="81041" y="128246"/>
                  <a:pt x="83675" y="126652"/>
                </a:cubicBezTo>
                <a:cubicBezTo>
                  <a:pt x="86309" y="125059"/>
                  <a:pt x="87842" y="122135"/>
                  <a:pt x="87654" y="119062"/>
                </a:cubicBezTo>
                <a:close/>
              </a:path>
            </a:pathLst>
          </a:custGeom>
          <a:solidFill>
            <a:srgbClr val="C10007"/>
          </a:solidFill>
          <a:ln/>
        </p:spPr>
      </p:sp>
      <p:sp>
        <p:nvSpPr>
          <p:cNvPr id="28" name="Text 26"/>
          <p:cNvSpPr/>
          <p:nvPr/>
        </p:nvSpPr>
        <p:spPr>
          <a:xfrm>
            <a:off x="6619875" y="1301750"/>
            <a:ext cx="5175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1000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Red Flags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81750" y="1651000"/>
            <a:ext cx="5334000" cy="539750"/>
          </a:xfrm>
          <a:custGeom>
            <a:avLst/>
            <a:gdLst/>
            <a:ahLst/>
            <a:cxnLst/>
            <a:rect l="l" t="t" r="r" b="b"/>
            <a:pathLst>
              <a:path w="5334000" h="539750">
                <a:moveTo>
                  <a:pt x="63502" y="0"/>
                </a:moveTo>
                <a:lnTo>
                  <a:pt x="5270498" y="0"/>
                </a:lnTo>
                <a:cubicBezTo>
                  <a:pt x="5305569" y="0"/>
                  <a:pt x="5334000" y="28431"/>
                  <a:pt x="5334000" y="63502"/>
                </a:cubicBezTo>
                <a:lnTo>
                  <a:pt x="5334000" y="476248"/>
                </a:lnTo>
                <a:cubicBezTo>
                  <a:pt x="5334000" y="511319"/>
                  <a:pt x="5305569" y="539750"/>
                  <a:pt x="527049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496844" y="17780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51780" y="51780"/>
                </a:moveTo>
                <a:cubicBezTo>
                  <a:pt x="54694" y="48865"/>
                  <a:pt x="59407" y="48865"/>
                  <a:pt x="62291" y="51780"/>
                </a:cubicBezTo>
                <a:lnTo>
                  <a:pt x="79344" y="68833"/>
                </a:lnTo>
                <a:lnTo>
                  <a:pt x="96397" y="51780"/>
                </a:lnTo>
                <a:cubicBezTo>
                  <a:pt x="99312" y="48865"/>
                  <a:pt x="104025" y="48865"/>
                  <a:pt x="106908" y="51780"/>
                </a:cubicBezTo>
                <a:cubicBezTo>
                  <a:pt x="109792" y="54694"/>
                  <a:pt x="109823" y="59407"/>
                  <a:pt x="106908" y="62291"/>
                </a:cubicBezTo>
                <a:lnTo>
                  <a:pt x="89855" y="79344"/>
                </a:lnTo>
                <a:lnTo>
                  <a:pt x="106908" y="96397"/>
                </a:lnTo>
                <a:cubicBezTo>
                  <a:pt x="109823" y="99312"/>
                  <a:pt x="109823" y="104025"/>
                  <a:pt x="106908" y="106908"/>
                </a:cubicBezTo>
                <a:cubicBezTo>
                  <a:pt x="103994" y="109792"/>
                  <a:pt x="99281" y="109823"/>
                  <a:pt x="96397" y="106908"/>
                </a:cubicBezTo>
                <a:lnTo>
                  <a:pt x="79344" y="89855"/>
                </a:lnTo>
                <a:lnTo>
                  <a:pt x="62291" y="106908"/>
                </a:lnTo>
                <a:cubicBezTo>
                  <a:pt x="59376" y="109823"/>
                  <a:pt x="54663" y="109823"/>
                  <a:pt x="51780" y="106908"/>
                </a:cubicBezTo>
                <a:cubicBezTo>
                  <a:pt x="48896" y="103994"/>
                  <a:pt x="48865" y="99281"/>
                  <a:pt x="51780" y="96397"/>
                </a:cubicBezTo>
                <a:lnTo>
                  <a:pt x="68833" y="79344"/>
                </a:lnTo>
                <a:lnTo>
                  <a:pt x="51780" y="62291"/>
                </a:lnTo>
                <a:cubicBezTo>
                  <a:pt x="48865" y="59376"/>
                  <a:pt x="48865" y="54663"/>
                  <a:pt x="51780" y="5178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1" name="Text 29"/>
          <p:cNvSpPr/>
          <p:nvPr/>
        </p:nvSpPr>
        <p:spPr>
          <a:xfrm>
            <a:off x="6770688" y="1746250"/>
            <a:ext cx="263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Submitting AI-Generated Work as Your Own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70688" y="1936750"/>
            <a:ext cx="262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You're passing off AI-created content as original work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81750" y="2286000"/>
            <a:ext cx="5334000" cy="539750"/>
          </a:xfrm>
          <a:custGeom>
            <a:avLst/>
            <a:gdLst/>
            <a:ahLst/>
            <a:cxnLst/>
            <a:rect l="l" t="t" r="r" b="b"/>
            <a:pathLst>
              <a:path w="5334000" h="539750">
                <a:moveTo>
                  <a:pt x="63502" y="0"/>
                </a:moveTo>
                <a:lnTo>
                  <a:pt x="5270498" y="0"/>
                </a:lnTo>
                <a:cubicBezTo>
                  <a:pt x="5305569" y="0"/>
                  <a:pt x="5334000" y="28431"/>
                  <a:pt x="5334000" y="63502"/>
                </a:cubicBezTo>
                <a:lnTo>
                  <a:pt x="5334000" y="476248"/>
                </a:lnTo>
                <a:cubicBezTo>
                  <a:pt x="5334000" y="511319"/>
                  <a:pt x="5305569" y="539750"/>
                  <a:pt x="527049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6496844" y="24130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51780" y="51780"/>
                </a:moveTo>
                <a:cubicBezTo>
                  <a:pt x="54694" y="48865"/>
                  <a:pt x="59407" y="48865"/>
                  <a:pt x="62291" y="51780"/>
                </a:cubicBezTo>
                <a:lnTo>
                  <a:pt x="79344" y="68833"/>
                </a:lnTo>
                <a:lnTo>
                  <a:pt x="96397" y="51780"/>
                </a:lnTo>
                <a:cubicBezTo>
                  <a:pt x="99312" y="48865"/>
                  <a:pt x="104025" y="48865"/>
                  <a:pt x="106908" y="51780"/>
                </a:cubicBezTo>
                <a:cubicBezTo>
                  <a:pt x="109792" y="54694"/>
                  <a:pt x="109823" y="59407"/>
                  <a:pt x="106908" y="62291"/>
                </a:cubicBezTo>
                <a:lnTo>
                  <a:pt x="89855" y="79344"/>
                </a:lnTo>
                <a:lnTo>
                  <a:pt x="106908" y="96397"/>
                </a:lnTo>
                <a:cubicBezTo>
                  <a:pt x="109823" y="99312"/>
                  <a:pt x="109823" y="104025"/>
                  <a:pt x="106908" y="106908"/>
                </a:cubicBezTo>
                <a:cubicBezTo>
                  <a:pt x="103994" y="109792"/>
                  <a:pt x="99281" y="109823"/>
                  <a:pt x="96397" y="106908"/>
                </a:cubicBezTo>
                <a:lnTo>
                  <a:pt x="79344" y="89855"/>
                </a:lnTo>
                <a:lnTo>
                  <a:pt x="62291" y="106908"/>
                </a:lnTo>
                <a:cubicBezTo>
                  <a:pt x="59376" y="109823"/>
                  <a:pt x="54663" y="109823"/>
                  <a:pt x="51780" y="106908"/>
                </a:cubicBezTo>
                <a:cubicBezTo>
                  <a:pt x="48896" y="103994"/>
                  <a:pt x="48865" y="99281"/>
                  <a:pt x="51780" y="96397"/>
                </a:cubicBezTo>
                <a:lnTo>
                  <a:pt x="68833" y="79344"/>
                </a:lnTo>
                <a:lnTo>
                  <a:pt x="51780" y="62291"/>
                </a:lnTo>
                <a:cubicBezTo>
                  <a:pt x="48865" y="59376"/>
                  <a:pt x="48865" y="54663"/>
                  <a:pt x="51780" y="5178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5" name="Text 33"/>
          <p:cNvSpPr/>
          <p:nvPr/>
        </p:nvSpPr>
        <p:spPr>
          <a:xfrm>
            <a:off x="6770688" y="2381250"/>
            <a:ext cx="3119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Verifying AI-Provided Citations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70688" y="2571750"/>
            <a:ext cx="3111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You're citing sources AI suggested without confirming they exist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81750" y="2921000"/>
            <a:ext cx="5334000" cy="539750"/>
          </a:xfrm>
          <a:custGeom>
            <a:avLst/>
            <a:gdLst/>
            <a:ahLst/>
            <a:cxnLst/>
            <a:rect l="l" t="t" r="r" b="b"/>
            <a:pathLst>
              <a:path w="5334000" h="539750">
                <a:moveTo>
                  <a:pt x="63502" y="0"/>
                </a:moveTo>
                <a:lnTo>
                  <a:pt x="5270498" y="0"/>
                </a:lnTo>
                <a:cubicBezTo>
                  <a:pt x="5305569" y="0"/>
                  <a:pt x="5334000" y="28431"/>
                  <a:pt x="5334000" y="63502"/>
                </a:cubicBezTo>
                <a:lnTo>
                  <a:pt x="5334000" y="476248"/>
                </a:lnTo>
                <a:cubicBezTo>
                  <a:pt x="5334000" y="511319"/>
                  <a:pt x="5305569" y="539750"/>
                  <a:pt x="527049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6496844" y="30480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51780" y="51780"/>
                </a:moveTo>
                <a:cubicBezTo>
                  <a:pt x="54694" y="48865"/>
                  <a:pt x="59407" y="48865"/>
                  <a:pt x="62291" y="51780"/>
                </a:cubicBezTo>
                <a:lnTo>
                  <a:pt x="79344" y="68833"/>
                </a:lnTo>
                <a:lnTo>
                  <a:pt x="96397" y="51780"/>
                </a:lnTo>
                <a:cubicBezTo>
                  <a:pt x="99312" y="48865"/>
                  <a:pt x="104025" y="48865"/>
                  <a:pt x="106908" y="51780"/>
                </a:cubicBezTo>
                <a:cubicBezTo>
                  <a:pt x="109792" y="54694"/>
                  <a:pt x="109823" y="59407"/>
                  <a:pt x="106908" y="62291"/>
                </a:cubicBezTo>
                <a:lnTo>
                  <a:pt x="89855" y="79344"/>
                </a:lnTo>
                <a:lnTo>
                  <a:pt x="106908" y="96397"/>
                </a:lnTo>
                <a:cubicBezTo>
                  <a:pt x="109823" y="99312"/>
                  <a:pt x="109823" y="104025"/>
                  <a:pt x="106908" y="106908"/>
                </a:cubicBezTo>
                <a:cubicBezTo>
                  <a:pt x="103994" y="109792"/>
                  <a:pt x="99281" y="109823"/>
                  <a:pt x="96397" y="106908"/>
                </a:cubicBezTo>
                <a:lnTo>
                  <a:pt x="79344" y="89855"/>
                </a:lnTo>
                <a:lnTo>
                  <a:pt x="62291" y="106908"/>
                </a:lnTo>
                <a:cubicBezTo>
                  <a:pt x="59376" y="109823"/>
                  <a:pt x="54663" y="109823"/>
                  <a:pt x="51780" y="106908"/>
                </a:cubicBezTo>
                <a:cubicBezTo>
                  <a:pt x="48896" y="103994"/>
                  <a:pt x="48865" y="99281"/>
                  <a:pt x="51780" y="96397"/>
                </a:cubicBezTo>
                <a:lnTo>
                  <a:pt x="68833" y="79344"/>
                </a:lnTo>
                <a:lnTo>
                  <a:pt x="51780" y="62291"/>
                </a:lnTo>
                <a:cubicBezTo>
                  <a:pt x="48865" y="59376"/>
                  <a:pt x="48865" y="54663"/>
                  <a:pt x="51780" y="5178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9" name="Text 37"/>
          <p:cNvSpPr/>
          <p:nvPr/>
        </p:nvSpPr>
        <p:spPr>
          <a:xfrm>
            <a:off x="6770688" y="3016250"/>
            <a:ext cx="2976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"Humanizer" Tools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70688" y="3206750"/>
            <a:ext cx="2968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You're using tools specifically designed to evade AI detection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81750" y="3556000"/>
            <a:ext cx="5334000" cy="539750"/>
          </a:xfrm>
          <a:custGeom>
            <a:avLst/>
            <a:gdLst/>
            <a:ahLst/>
            <a:cxnLst/>
            <a:rect l="l" t="t" r="r" b="b"/>
            <a:pathLst>
              <a:path w="5334000" h="539750">
                <a:moveTo>
                  <a:pt x="63502" y="0"/>
                </a:moveTo>
                <a:lnTo>
                  <a:pt x="5270498" y="0"/>
                </a:lnTo>
                <a:cubicBezTo>
                  <a:pt x="5305569" y="0"/>
                  <a:pt x="5334000" y="28431"/>
                  <a:pt x="5334000" y="63502"/>
                </a:cubicBezTo>
                <a:lnTo>
                  <a:pt x="5334000" y="476248"/>
                </a:lnTo>
                <a:cubicBezTo>
                  <a:pt x="5334000" y="511319"/>
                  <a:pt x="5305569" y="539750"/>
                  <a:pt x="527049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6496844" y="36830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51780" y="51780"/>
                </a:moveTo>
                <a:cubicBezTo>
                  <a:pt x="54694" y="48865"/>
                  <a:pt x="59407" y="48865"/>
                  <a:pt x="62291" y="51780"/>
                </a:cubicBezTo>
                <a:lnTo>
                  <a:pt x="79344" y="68833"/>
                </a:lnTo>
                <a:lnTo>
                  <a:pt x="96397" y="51780"/>
                </a:lnTo>
                <a:cubicBezTo>
                  <a:pt x="99312" y="48865"/>
                  <a:pt x="104025" y="48865"/>
                  <a:pt x="106908" y="51780"/>
                </a:cubicBezTo>
                <a:cubicBezTo>
                  <a:pt x="109792" y="54694"/>
                  <a:pt x="109823" y="59407"/>
                  <a:pt x="106908" y="62291"/>
                </a:cubicBezTo>
                <a:lnTo>
                  <a:pt x="89855" y="79344"/>
                </a:lnTo>
                <a:lnTo>
                  <a:pt x="106908" y="96397"/>
                </a:lnTo>
                <a:cubicBezTo>
                  <a:pt x="109823" y="99312"/>
                  <a:pt x="109823" y="104025"/>
                  <a:pt x="106908" y="106908"/>
                </a:cubicBezTo>
                <a:cubicBezTo>
                  <a:pt x="103994" y="109792"/>
                  <a:pt x="99281" y="109823"/>
                  <a:pt x="96397" y="106908"/>
                </a:cubicBezTo>
                <a:lnTo>
                  <a:pt x="79344" y="89855"/>
                </a:lnTo>
                <a:lnTo>
                  <a:pt x="62291" y="106908"/>
                </a:lnTo>
                <a:cubicBezTo>
                  <a:pt x="59376" y="109823"/>
                  <a:pt x="54663" y="109823"/>
                  <a:pt x="51780" y="106908"/>
                </a:cubicBezTo>
                <a:cubicBezTo>
                  <a:pt x="48896" y="103994"/>
                  <a:pt x="48865" y="99281"/>
                  <a:pt x="51780" y="96397"/>
                </a:cubicBezTo>
                <a:lnTo>
                  <a:pt x="68833" y="79344"/>
                </a:lnTo>
                <a:lnTo>
                  <a:pt x="51780" y="62291"/>
                </a:lnTo>
                <a:cubicBezTo>
                  <a:pt x="48865" y="59376"/>
                  <a:pt x="48865" y="54663"/>
                  <a:pt x="51780" y="5178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43" name="Text 41"/>
          <p:cNvSpPr/>
          <p:nvPr/>
        </p:nvSpPr>
        <p:spPr>
          <a:xfrm>
            <a:off x="6770688" y="365125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Can't Explain Your Own Writing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70688" y="3841750"/>
            <a:ext cx="284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struggle to discuss or defend arguments in your paper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91250" y="4381500"/>
            <a:ext cx="5683250" cy="1524000"/>
          </a:xfrm>
          <a:custGeom>
            <a:avLst/>
            <a:gdLst/>
            <a:ahLst/>
            <a:cxnLst/>
            <a:rect l="l" t="t" r="r" b="b"/>
            <a:pathLst>
              <a:path w="5683250" h="1524000">
                <a:moveTo>
                  <a:pt x="63505" y="0"/>
                </a:moveTo>
                <a:lnTo>
                  <a:pt x="5619745" y="0"/>
                </a:lnTo>
                <a:cubicBezTo>
                  <a:pt x="5654818" y="0"/>
                  <a:pt x="5683250" y="28432"/>
                  <a:pt x="5683250" y="63505"/>
                </a:cubicBezTo>
                <a:lnTo>
                  <a:pt x="5683250" y="1460495"/>
                </a:lnTo>
                <a:cubicBezTo>
                  <a:pt x="5683250" y="1495568"/>
                  <a:pt x="5654818" y="1524000"/>
                  <a:pt x="5619745" y="1524000"/>
                </a:cubicBezTo>
                <a:lnTo>
                  <a:pt x="63505" y="1524000"/>
                </a:lnTo>
                <a:cubicBezTo>
                  <a:pt x="28432" y="1524000"/>
                  <a:pt x="0" y="1495568"/>
                  <a:pt x="0" y="14604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8B7355">
              <a:alpha val="1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55953" y="4548188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86897" y="8930"/>
                </a:moveTo>
                <a:lnTo>
                  <a:pt x="89297" y="8930"/>
                </a:lnTo>
                <a:cubicBezTo>
                  <a:pt x="99147" y="8930"/>
                  <a:pt x="107156" y="16939"/>
                  <a:pt x="107156" y="26789"/>
                </a:cubicBezTo>
                <a:lnTo>
                  <a:pt x="107156" y="125016"/>
                </a:lnTo>
                <a:cubicBezTo>
                  <a:pt x="107156" y="134866"/>
                  <a:pt x="99147" y="142875"/>
                  <a:pt x="89297" y="142875"/>
                </a:cubicBezTo>
                <a:lnTo>
                  <a:pt x="17859" y="142875"/>
                </a:lnTo>
                <a:cubicBezTo>
                  <a:pt x="8009" y="142875"/>
                  <a:pt x="0" y="134866"/>
                  <a:pt x="0" y="125016"/>
                </a:cubicBezTo>
                <a:lnTo>
                  <a:pt x="0" y="26789"/>
                </a:lnTo>
                <a:cubicBezTo>
                  <a:pt x="0" y="16939"/>
                  <a:pt x="8009" y="8930"/>
                  <a:pt x="17859" y="8930"/>
                </a:cubicBezTo>
                <a:lnTo>
                  <a:pt x="20259" y="8930"/>
                </a:lnTo>
                <a:cubicBezTo>
                  <a:pt x="23329" y="3600"/>
                  <a:pt x="29105" y="0"/>
                  <a:pt x="35719" y="0"/>
                </a:cubicBezTo>
                <a:lnTo>
                  <a:pt x="71438" y="0"/>
                </a:lnTo>
                <a:cubicBezTo>
                  <a:pt x="78051" y="0"/>
                  <a:pt x="83827" y="3600"/>
                  <a:pt x="86897" y="8930"/>
                </a:cubicBezTo>
                <a:close/>
                <a:moveTo>
                  <a:pt x="69205" y="31254"/>
                </a:moveTo>
                <a:cubicBezTo>
                  <a:pt x="72916" y="31254"/>
                  <a:pt x="75902" y="28268"/>
                  <a:pt x="75902" y="24557"/>
                </a:cubicBezTo>
                <a:cubicBezTo>
                  <a:pt x="75902" y="20845"/>
                  <a:pt x="72916" y="17859"/>
                  <a:pt x="69205" y="17859"/>
                </a:cubicBezTo>
                <a:lnTo>
                  <a:pt x="37951" y="17859"/>
                </a:lnTo>
                <a:cubicBezTo>
                  <a:pt x="34240" y="17859"/>
                  <a:pt x="31254" y="20845"/>
                  <a:pt x="31254" y="24557"/>
                </a:cubicBezTo>
                <a:cubicBezTo>
                  <a:pt x="31254" y="28268"/>
                  <a:pt x="34240" y="31254"/>
                  <a:pt x="37951" y="31254"/>
                </a:cubicBezTo>
                <a:lnTo>
                  <a:pt x="69205" y="31254"/>
                </a:lnTo>
                <a:close/>
                <a:moveTo>
                  <a:pt x="53578" y="69205"/>
                </a:moveTo>
                <a:cubicBezTo>
                  <a:pt x="58071" y="69205"/>
                  <a:pt x="61726" y="72861"/>
                  <a:pt x="61726" y="77353"/>
                </a:cubicBezTo>
                <a:cubicBezTo>
                  <a:pt x="61726" y="79781"/>
                  <a:pt x="60861" y="81232"/>
                  <a:pt x="59801" y="82293"/>
                </a:cubicBezTo>
                <a:cubicBezTo>
                  <a:pt x="58545" y="83520"/>
                  <a:pt x="56815" y="84386"/>
                  <a:pt x="55113" y="84944"/>
                </a:cubicBezTo>
                <a:cubicBezTo>
                  <a:pt x="50955" y="86339"/>
                  <a:pt x="46881" y="90329"/>
                  <a:pt x="46881" y="95966"/>
                </a:cubicBezTo>
                <a:cubicBezTo>
                  <a:pt x="46881" y="99678"/>
                  <a:pt x="49867" y="102664"/>
                  <a:pt x="53578" y="102664"/>
                </a:cubicBezTo>
                <a:cubicBezTo>
                  <a:pt x="56787" y="102664"/>
                  <a:pt x="59494" y="100403"/>
                  <a:pt x="60136" y="97361"/>
                </a:cubicBezTo>
                <a:cubicBezTo>
                  <a:pt x="65494" y="95380"/>
                  <a:pt x="75121" y="90022"/>
                  <a:pt x="75121" y="77326"/>
                </a:cubicBezTo>
                <a:cubicBezTo>
                  <a:pt x="75121" y="65438"/>
                  <a:pt x="65466" y="55783"/>
                  <a:pt x="53578" y="55783"/>
                </a:cubicBezTo>
                <a:cubicBezTo>
                  <a:pt x="41690" y="55783"/>
                  <a:pt x="32035" y="65438"/>
                  <a:pt x="32035" y="77326"/>
                </a:cubicBezTo>
                <a:cubicBezTo>
                  <a:pt x="32035" y="81037"/>
                  <a:pt x="35021" y="84023"/>
                  <a:pt x="38733" y="84023"/>
                </a:cubicBezTo>
                <a:cubicBezTo>
                  <a:pt x="42444" y="84023"/>
                  <a:pt x="45430" y="81037"/>
                  <a:pt x="45430" y="77326"/>
                </a:cubicBezTo>
                <a:cubicBezTo>
                  <a:pt x="45430" y="72833"/>
                  <a:pt x="49085" y="69177"/>
                  <a:pt x="53578" y="69177"/>
                </a:cubicBezTo>
                <a:close/>
                <a:moveTo>
                  <a:pt x="61392" y="116086"/>
                </a:moveTo>
                <a:cubicBezTo>
                  <a:pt x="61392" y="111761"/>
                  <a:pt x="57903" y="108272"/>
                  <a:pt x="53578" y="108272"/>
                </a:cubicBezTo>
                <a:cubicBezTo>
                  <a:pt x="49253" y="108272"/>
                  <a:pt x="45765" y="111761"/>
                  <a:pt x="45765" y="116086"/>
                </a:cubicBezTo>
                <a:cubicBezTo>
                  <a:pt x="45765" y="120411"/>
                  <a:pt x="49253" y="123899"/>
                  <a:pt x="53578" y="123899"/>
                </a:cubicBezTo>
                <a:cubicBezTo>
                  <a:pt x="57903" y="123899"/>
                  <a:pt x="61392" y="120411"/>
                  <a:pt x="61392" y="116086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47" name="Text 45"/>
          <p:cNvSpPr/>
          <p:nvPr/>
        </p:nvSpPr>
        <p:spPr>
          <a:xfrm>
            <a:off x="6540500" y="4508500"/>
            <a:ext cx="527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8B73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Self-Assessment Questions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34125" y="48577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63500" y="43656"/>
                </a:moveTo>
                <a:cubicBezTo>
                  <a:pt x="59110" y="43656"/>
                  <a:pt x="55563" y="47203"/>
                  <a:pt x="55563" y="51594"/>
                </a:cubicBezTo>
                <a:cubicBezTo>
                  <a:pt x="55563" y="54893"/>
                  <a:pt x="52908" y="57547"/>
                  <a:pt x="49609" y="57547"/>
                </a:cubicBezTo>
                <a:cubicBezTo>
                  <a:pt x="46310" y="57547"/>
                  <a:pt x="43656" y="54893"/>
                  <a:pt x="43656" y="51594"/>
                </a:cubicBezTo>
                <a:cubicBezTo>
                  <a:pt x="43656" y="40630"/>
                  <a:pt x="52536" y="31750"/>
                  <a:pt x="63500" y="31750"/>
                </a:cubicBezTo>
                <a:cubicBezTo>
                  <a:pt x="74464" y="31750"/>
                  <a:pt x="83344" y="40630"/>
                  <a:pt x="83344" y="51594"/>
                </a:cubicBezTo>
                <a:cubicBezTo>
                  <a:pt x="83344" y="63302"/>
                  <a:pt x="74414" y="68263"/>
                  <a:pt x="69453" y="70073"/>
                </a:cubicBezTo>
                <a:lnTo>
                  <a:pt x="69453" y="71016"/>
                </a:lnTo>
                <a:cubicBezTo>
                  <a:pt x="69453" y="74315"/>
                  <a:pt x="66799" y="76969"/>
                  <a:pt x="63500" y="76969"/>
                </a:cubicBezTo>
                <a:cubicBezTo>
                  <a:pt x="60201" y="76969"/>
                  <a:pt x="57547" y="74315"/>
                  <a:pt x="57547" y="71016"/>
                </a:cubicBezTo>
                <a:lnTo>
                  <a:pt x="57547" y="69007"/>
                </a:lnTo>
                <a:cubicBezTo>
                  <a:pt x="57547" y="63922"/>
                  <a:pt x="61218" y="60275"/>
                  <a:pt x="65013" y="59035"/>
                </a:cubicBezTo>
                <a:cubicBezTo>
                  <a:pt x="66601" y="58514"/>
                  <a:pt x="68287" y="57671"/>
                  <a:pt x="69528" y="56480"/>
                </a:cubicBezTo>
                <a:cubicBezTo>
                  <a:pt x="70594" y="55438"/>
                  <a:pt x="71438" y="54000"/>
                  <a:pt x="71438" y="51619"/>
                </a:cubicBezTo>
                <a:cubicBezTo>
                  <a:pt x="71438" y="47228"/>
                  <a:pt x="67890" y="43681"/>
                  <a:pt x="63500" y="43681"/>
                </a:cubicBezTo>
                <a:close/>
                <a:moveTo>
                  <a:pt x="55563" y="91281"/>
                </a:moveTo>
                <a:cubicBezTo>
                  <a:pt x="55563" y="86900"/>
                  <a:pt x="59119" y="83344"/>
                  <a:pt x="63500" y="83344"/>
                </a:cubicBezTo>
                <a:cubicBezTo>
                  <a:pt x="67881" y="83344"/>
                  <a:pt x="71438" y="86900"/>
                  <a:pt x="71438" y="91281"/>
                </a:cubicBezTo>
                <a:cubicBezTo>
                  <a:pt x="71438" y="95662"/>
                  <a:pt x="67881" y="99219"/>
                  <a:pt x="63500" y="99219"/>
                </a:cubicBezTo>
                <a:cubicBezTo>
                  <a:pt x="59119" y="99219"/>
                  <a:pt x="55563" y="95662"/>
                  <a:pt x="55563" y="91281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49" name="Text 47"/>
          <p:cNvSpPr/>
          <p:nvPr/>
        </p:nvSpPr>
        <p:spPr>
          <a:xfrm>
            <a:off x="6540500" y="4826000"/>
            <a:ext cx="2405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I explain every argument in my paper?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34125" y="51117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63500" y="43656"/>
                </a:moveTo>
                <a:cubicBezTo>
                  <a:pt x="59110" y="43656"/>
                  <a:pt x="55563" y="47203"/>
                  <a:pt x="55563" y="51594"/>
                </a:cubicBezTo>
                <a:cubicBezTo>
                  <a:pt x="55563" y="54893"/>
                  <a:pt x="52908" y="57547"/>
                  <a:pt x="49609" y="57547"/>
                </a:cubicBezTo>
                <a:cubicBezTo>
                  <a:pt x="46310" y="57547"/>
                  <a:pt x="43656" y="54893"/>
                  <a:pt x="43656" y="51594"/>
                </a:cubicBezTo>
                <a:cubicBezTo>
                  <a:pt x="43656" y="40630"/>
                  <a:pt x="52536" y="31750"/>
                  <a:pt x="63500" y="31750"/>
                </a:cubicBezTo>
                <a:cubicBezTo>
                  <a:pt x="74464" y="31750"/>
                  <a:pt x="83344" y="40630"/>
                  <a:pt x="83344" y="51594"/>
                </a:cubicBezTo>
                <a:cubicBezTo>
                  <a:pt x="83344" y="63302"/>
                  <a:pt x="74414" y="68263"/>
                  <a:pt x="69453" y="70073"/>
                </a:cubicBezTo>
                <a:lnTo>
                  <a:pt x="69453" y="71016"/>
                </a:lnTo>
                <a:cubicBezTo>
                  <a:pt x="69453" y="74315"/>
                  <a:pt x="66799" y="76969"/>
                  <a:pt x="63500" y="76969"/>
                </a:cubicBezTo>
                <a:cubicBezTo>
                  <a:pt x="60201" y="76969"/>
                  <a:pt x="57547" y="74315"/>
                  <a:pt x="57547" y="71016"/>
                </a:cubicBezTo>
                <a:lnTo>
                  <a:pt x="57547" y="69007"/>
                </a:lnTo>
                <a:cubicBezTo>
                  <a:pt x="57547" y="63922"/>
                  <a:pt x="61218" y="60275"/>
                  <a:pt x="65013" y="59035"/>
                </a:cubicBezTo>
                <a:cubicBezTo>
                  <a:pt x="66601" y="58514"/>
                  <a:pt x="68287" y="57671"/>
                  <a:pt x="69528" y="56480"/>
                </a:cubicBezTo>
                <a:cubicBezTo>
                  <a:pt x="70594" y="55438"/>
                  <a:pt x="71438" y="54000"/>
                  <a:pt x="71438" y="51619"/>
                </a:cubicBezTo>
                <a:cubicBezTo>
                  <a:pt x="71438" y="47228"/>
                  <a:pt x="67890" y="43681"/>
                  <a:pt x="63500" y="43681"/>
                </a:cubicBezTo>
                <a:close/>
                <a:moveTo>
                  <a:pt x="55563" y="91281"/>
                </a:moveTo>
                <a:cubicBezTo>
                  <a:pt x="55563" y="86900"/>
                  <a:pt x="59119" y="83344"/>
                  <a:pt x="63500" y="83344"/>
                </a:cubicBezTo>
                <a:cubicBezTo>
                  <a:pt x="67881" y="83344"/>
                  <a:pt x="71438" y="86900"/>
                  <a:pt x="71438" y="91281"/>
                </a:cubicBezTo>
                <a:cubicBezTo>
                  <a:pt x="71438" y="95662"/>
                  <a:pt x="67881" y="99219"/>
                  <a:pt x="63500" y="99219"/>
                </a:cubicBezTo>
                <a:cubicBezTo>
                  <a:pt x="59119" y="99219"/>
                  <a:pt x="55563" y="95662"/>
                  <a:pt x="55563" y="91281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1" name="Text 49"/>
          <p:cNvSpPr/>
          <p:nvPr/>
        </p:nvSpPr>
        <p:spPr>
          <a:xfrm>
            <a:off x="6540500" y="5080000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Did I verify all sources independently?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34125" y="53657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63500" y="43656"/>
                </a:moveTo>
                <a:cubicBezTo>
                  <a:pt x="59110" y="43656"/>
                  <a:pt x="55563" y="47203"/>
                  <a:pt x="55563" y="51594"/>
                </a:cubicBezTo>
                <a:cubicBezTo>
                  <a:pt x="55563" y="54893"/>
                  <a:pt x="52908" y="57547"/>
                  <a:pt x="49609" y="57547"/>
                </a:cubicBezTo>
                <a:cubicBezTo>
                  <a:pt x="46310" y="57547"/>
                  <a:pt x="43656" y="54893"/>
                  <a:pt x="43656" y="51594"/>
                </a:cubicBezTo>
                <a:cubicBezTo>
                  <a:pt x="43656" y="40630"/>
                  <a:pt x="52536" y="31750"/>
                  <a:pt x="63500" y="31750"/>
                </a:cubicBezTo>
                <a:cubicBezTo>
                  <a:pt x="74464" y="31750"/>
                  <a:pt x="83344" y="40630"/>
                  <a:pt x="83344" y="51594"/>
                </a:cubicBezTo>
                <a:cubicBezTo>
                  <a:pt x="83344" y="63302"/>
                  <a:pt x="74414" y="68263"/>
                  <a:pt x="69453" y="70073"/>
                </a:cubicBezTo>
                <a:lnTo>
                  <a:pt x="69453" y="71016"/>
                </a:lnTo>
                <a:cubicBezTo>
                  <a:pt x="69453" y="74315"/>
                  <a:pt x="66799" y="76969"/>
                  <a:pt x="63500" y="76969"/>
                </a:cubicBezTo>
                <a:cubicBezTo>
                  <a:pt x="60201" y="76969"/>
                  <a:pt x="57547" y="74315"/>
                  <a:pt x="57547" y="71016"/>
                </a:cubicBezTo>
                <a:lnTo>
                  <a:pt x="57547" y="69007"/>
                </a:lnTo>
                <a:cubicBezTo>
                  <a:pt x="57547" y="63922"/>
                  <a:pt x="61218" y="60275"/>
                  <a:pt x="65013" y="59035"/>
                </a:cubicBezTo>
                <a:cubicBezTo>
                  <a:pt x="66601" y="58514"/>
                  <a:pt x="68287" y="57671"/>
                  <a:pt x="69528" y="56480"/>
                </a:cubicBezTo>
                <a:cubicBezTo>
                  <a:pt x="70594" y="55438"/>
                  <a:pt x="71438" y="54000"/>
                  <a:pt x="71438" y="51619"/>
                </a:cubicBezTo>
                <a:cubicBezTo>
                  <a:pt x="71438" y="47228"/>
                  <a:pt x="67890" y="43681"/>
                  <a:pt x="63500" y="43681"/>
                </a:cubicBezTo>
                <a:close/>
                <a:moveTo>
                  <a:pt x="55563" y="91281"/>
                </a:moveTo>
                <a:cubicBezTo>
                  <a:pt x="55563" y="86900"/>
                  <a:pt x="59119" y="83344"/>
                  <a:pt x="63500" y="83344"/>
                </a:cubicBezTo>
                <a:cubicBezTo>
                  <a:pt x="67881" y="83344"/>
                  <a:pt x="71438" y="86900"/>
                  <a:pt x="71438" y="91281"/>
                </a:cubicBezTo>
                <a:cubicBezTo>
                  <a:pt x="71438" y="95662"/>
                  <a:pt x="67881" y="99219"/>
                  <a:pt x="63500" y="99219"/>
                </a:cubicBezTo>
                <a:cubicBezTo>
                  <a:pt x="59119" y="99219"/>
                  <a:pt x="55563" y="95662"/>
                  <a:pt x="55563" y="91281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3" name="Text 51"/>
          <p:cNvSpPr/>
          <p:nvPr/>
        </p:nvSpPr>
        <p:spPr>
          <a:xfrm>
            <a:off x="6540500" y="5334000"/>
            <a:ext cx="222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 I comfortable disclosing my AI use?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34125" y="56197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63500" y="43656"/>
                </a:moveTo>
                <a:cubicBezTo>
                  <a:pt x="59110" y="43656"/>
                  <a:pt x="55563" y="47203"/>
                  <a:pt x="55563" y="51594"/>
                </a:cubicBezTo>
                <a:cubicBezTo>
                  <a:pt x="55563" y="54893"/>
                  <a:pt x="52908" y="57547"/>
                  <a:pt x="49609" y="57547"/>
                </a:cubicBezTo>
                <a:cubicBezTo>
                  <a:pt x="46310" y="57547"/>
                  <a:pt x="43656" y="54893"/>
                  <a:pt x="43656" y="51594"/>
                </a:cubicBezTo>
                <a:cubicBezTo>
                  <a:pt x="43656" y="40630"/>
                  <a:pt x="52536" y="31750"/>
                  <a:pt x="63500" y="31750"/>
                </a:cubicBezTo>
                <a:cubicBezTo>
                  <a:pt x="74464" y="31750"/>
                  <a:pt x="83344" y="40630"/>
                  <a:pt x="83344" y="51594"/>
                </a:cubicBezTo>
                <a:cubicBezTo>
                  <a:pt x="83344" y="63302"/>
                  <a:pt x="74414" y="68263"/>
                  <a:pt x="69453" y="70073"/>
                </a:cubicBezTo>
                <a:lnTo>
                  <a:pt x="69453" y="71016"/>
                </a:lnTo>
                <a:cubicBezTo>
                  <a:pt x="69453" y="74315"/>
                  <a:pt x="66799" y="76969"/>
                  <a:pt x="63500" y="76969"/>
                </a:cubicBezTo>
                <a:cubicBezTo>
                  <a:pt x="60201" y="76969"/>
                  <a:pt x="57547" y="74315"/>
                  <a:pt x="57547" y="71016"/>
                </a:cubicBezTo>
                <a:lnTo>
                  <a:pt x="57547" y="69007"/>
                </a:lnTo>
                <a:cubicBezTo>
                  <a:pt x="57547" y="63922"/>
                  <a:pt x="61218" y="60275"/>
                  <a:pt x="65013" y="59035"/>
                </a:cubicBezTo>
                <a:cubicBezTo>
                  <a:pt x="66601" y="58514"/>
                  <a:pt x="68287" y="57671"/>
                  <a:pt x="69528" y="56480"/>
                </a:cubicBezTo>
                <a:cubicBezTo>
                  <a:pt x="70594" y="55438"/>
                  <a:pt x="71438" y="54000"/>
                  <a:pt x="71438" y="51619"/>
                </a:cubicBezTo>
                <a:cubicBezTo>
                  <a:pt x="71438" y="47228"/>
                  <a:pt x="67890" y="43681"/>
                  <a:pt x="63500" y="43681"/>
                </a:cubicBezTo>
                <a:close/>
                <a:moveTo>
                  <a:pt x="55563" y="91281"/>
                </a:moveTo>
                <a:cubicBezTo>
                  <a:pt x="55563" y="86900"/>
                  <a:pt x="59119" y="83344"/>
                  <a:pt x="63500" y="83344"/>
                </a:cubicBezTo>
                <a:cubicBezTo>
                  <a:pt x="67881" y="83344"/>
                  <a:pt x="71438" y="86900"/>
                  <a:pt x="71438" y="91281"/>
                </a:cubicBezTo>
                <a:cubicBezTo>
                  <a:pt x="71438" y="95662"/>
                  <a:pt x="67881" y="99219"/>
                  <a:pt x="63500" y="99219"/>
                </a:cubicBezTo>
                <a:cubicBezTo>
                  <a:pt x="59119" y="99219"/>
                  <a:pt x="55563" y="95662"/>
                  <a:pt x="55563" y="91281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5" name="Text 53"/>
          <p:cNvSpPr/>
          <p:nvPr/>
        </p:nvSpPr>
        <p:spPr>
          <a:xfrm>
            <a:off x="6540500" y="5588000"/>
            <a:ext cx="2039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my intellectual contribution clear?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21469" y="6036469"/>
            <a:ext cx="11549063" cy="674688"/>
          </a:xfrm>
          <a:custGeom>
            <a:avLst/>
            <a:gdLst/>
            <a:ahLst/>
            <a:cxnLst/>
            <a:rect l="l" t="t" r="r" b="b"/>
            <a:pathLst>
              <a:path w="11549063" h="674688">
                <a:moveTo>
                  <a:pt x="63502" y="0"/>
                </a:moveTo>
                <a:lnTo>
                  <a:pt x="11485561" y="0"/>
                </a:lnTo>
                <a:cubicBezTo>
                  <a:pt x="11520632" y="0"/>
                  <a:pt x="11549063" y="28431"/>
                  <a:pt x="11549063" y="63502"/>
                </a:cubicBezTo>
                <a:lnTo>
                  <a:pt x="11549063" y="611186"/>
                </a:lnTo>
                <a:cubicBezTo>
                  <a:pt x="11549062" y="646257"/>
                  <a:pt x="11520632" y="674688"/>
                  <a:pt x="11485561" y="674688"/>
                </a:cubicBezTo>
                <a:lnTo>
                  <a:pt x="63502" y="674688"/>
                </a:lnTo>
                <a:cubicBezTo>
                  <a:pt x="28431" y="674688"/>
                  <a:pt x="0" y="646257"/>
                  <a:pt x="0" y="6111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E2E2"/>
          </a:solidFill>
          <a:ln w="12700">
            <a:solidFill>
              <a:srgbClr val="FFA2A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8391" y="6199188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52586" y="47563"/>
                </a:moveTo>
                <a:lnTo>
                  <a:pt x="46788" y="41765"/>
                </a:lnTo>
                <a:cubicBezTo>
                  <a:pt x="42912" y="37889"/>
                  <a:pt x="42912" y="31595"/>
                  <a:pt x="46788" y="27719"/>
                </a:cubicBezTo>
                <a:lnTo>
                  <a:pt x="82352" y="-7875"/>
                </a:lnTo>
                <a:cubicBezTo>
                  <a:pt x="86227" y="-11751"/>
                  <a:pt x="92521" y="-11751"/>
                  <a:pt x="96397" y="-7875"/>
                </a:cubicBezTo>
                <a:lnTo>
                  <a:pt x="102195" y="-2046"/>
                </a:lnTo>
                <a:cubicBezTo>
                  <a:pt x="106071" y="1829"/>
                  <a:pt x="106071" y="8124"/>
                  <a:pt x="102195" y="11999"/>
                </a:cubicBezTo>
                <a:lnTo>
                  <a:pt x="66632" y="47563"/>
                </a:lnTo>
                <a:cubicBezTo>
                  <a:pt x="62756" y="51439"/>
                  <a:pt x="56462" y="51439"/>
                  <a:pt x="52586" y="47563"/>
                </a:cubicBezTo>
                <a:close/>
                <a:moveTo>
                  <a:pt x="85576" y="65639"/>
                </a:moveTo>
                <a:lnTo>
                  <a:pt x="75840" y="55904"/>
                </a:lnTo>
                <a:lnTo>
                  <a:pt x="110567" y="21177"/>
                </a:lnTo>
                <a:lnTo>
                  <a:pt x="147588" y="58198"/>
                </a:lnTo>
                <a:lnTo>
                  <a:pt x="112861" y="92925"/>
                </a:lnTo>
                <a:lnTo>
                  <a:pt x="103125" y="83189"/>
                </a:lnTo>
                <a:lnTo>
                  <a:pt x="31192" y="155122"/>
                </a:lnTo>
                <a:cubicBezTo>
                  <a:pt x="26355" y="159959"/>
                  <a:pt x="18510" y="159959"/>
                  <a:pt x="13643" y="155122"/>
                </a:cubicBezTo>
                <a:cubicBezTo>
                  <a:pt x="8775" y="150285"/>
                  <a:pt x="8806" y="142441"/>
                  <a:pt x="13643" y="137573"/>
                </a:cubicBezTo>
                <a:lnTo>
                  <a:pt x="85576" y="65639"/>
                </a:lnTo>
                <a:close/>
                <a:moveTo>
                  <a:pt x="121202" y="116148"/>
                </a:moveTo>
                <a:cubicBezTo>
                  <a:pt x="117326" y="112272"/>
                  <a:pt x="117326" y="105978"/>
                  <a:pt x="121202" y="102102"/>
                </a:cubicBezTo>
                <a:lnTo>
                  <a:pt x="156766" y="66539"/>
                </a:lnTo>
                <a:cubicBezTo>
                  <a:pt x="160641" y="62663"/>
                  <a:pt x="166936" y="62663"/>
                  <a:pt x="170811" y="66539"/>
                </a:cubicBezTo>
                <a:lnTo>
                  <a:pt x="176609" y="72337"/>
                </a:lnTo>
                <a:cubicBezTo>
                  <a:pt x="180485" y="76212"/>
                  <a:pt x="180485" y="82507"/>
                  <a:pt x="176609" y="86382"/>
                </a:cubicBezTo>
                <a:lnTo>
                  <a:pt x="141046" y="121977"/>
                </a:lnTo>
                <a:cubicBezTo>
                  <a:pt x="137170" y="125853"/>
                  <a:pt x="130876" y="125853"/>
                  <a:pt x="127000" y="121977"/>
                </a:cubicBezTo>
                <a:lnTo>
                  <a:pt x="121202" y="116179"/>
                </a:ln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58" name="Text 56"/>
          <p:cNvSpPr/>
          <p:nvPr/>
        </p:nvSpPr>
        <p:spPr>
          <a:xfrm>
            <a:off x="738498" y="6167438"/>
            <a:ext cx="110648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9F07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Consequences of Unethical AI Use: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9F07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Failing grades, academic probation, expulsion, damaged reputation, loss of learning opportunities, and potential career impacts.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9F07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risks far outweigh any perceived benefits.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21469" y="6846094"/>
            <a:ext cx="1563688" cy="269875"/>
          </a:xfrm>
          <a:custGeom>
            <a:avLst/>
            <a:gdLst/>
            <a:ahLst/>
            <a:cxnLst/>
            <a:rect l="l" t="t" r="r" b="b"/>
            <a:pathLst>
              <a:path w="1563688" h="269875">
                <a:moveTo>
                  <a:pt x="0" y="0"/>
                </a:moveTo>
                <a:lnTo>
                  <a:pt x="1563688" y="0"/>
                </a:lnTo>
                <a:lnTo>
                  <a:pt x="1563688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90196"/>
            </a:srgbClr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17500" y="6842125"/>
            <a:ext cx="1603375" cy="261937"/>
          </a:xfrm>
          <a:prstGeom prst="rect">
            <a:avLst/>
          </a:prstGeom>
          <a:noFill/>
          <a:ln/>
        </p:spPr>
        <p:txBody>
          <a:bodyPr wrap="square" lIns="95250" tIns="63500" rIns="95250" bIns="63500" rtlCol="0" anchor="ctr"/>
          <a:lstStyle/>
          <a:p>
            <a:pPr>
              <a:lnSpc>
                <a:spcPct val="120000"/>
              </a:lnSpc>
            </a:pPr>
            <a:r>
              <a:rPr lang="en-US" sz="75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Warning Signs • Self-Assessment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202478" y="6902214"/>
            <a:ext cx="1730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in doubt, ask your instructor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spc="88" kern="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Regional Context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ChatGPT &amp; Plagiarism Checks in India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5250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5" name="Shape 3"/>
          <p:cNvSpPr/>
          <p:nvPr/>
        </p:nvSpPr>
        <p:spPr>
          <a:xfrm>
            <a:off x="321469" y="1146969"/>
            <a:ext cx="5675313" cy="3897313"/>
          </a:xfrm>
          <a:custGeom>
            <a:avLst/>
            <a:gdLst/>
            <a:ahLst/>
            <a:cxnLst/>
            <a:rect l="l" t="t" r="r" b="b"/>
            <a:pathLst>
              <a:path w="5675313" h="3897313">
                <a:moveTo>
                  <a:pt x="63487" y="0"/>
                </a:moveTo>
                <a:lnTo>
                  <a:pt x="5611825" y="0"/>
                </a:lnTo>
                <a:cubicBezTo>
                  <a:pt x="5646888" y="0"/>
                  <a:pt x="5675313" y="28424"/>
                  <a:pt x="5675313" y="63487"/>
                </a:cubicBezTo>
                <a:lnTo>
                  <a:pt x="5675313" y="3833825"/>
                </a:lnTo>
                <a:cubicBezTo>
                  <a:pt x="5675313" y="3868888"/>
                  <a:pt x="5646888" y="3897313"/>
                  <a:pt x="5611825" y="3897313"/>
                </a:cubicBezTo>
                <a:lnTo>
                  <a:pt x="63487" y="3897313"/>
                </a:lnTo>
                <a:cubicBezTo>
                  <a:pt x="28424" y="3897313"/>
                  <a:pt x="0" y="3868888"/>
                  <a:pt x="0" y="3833825"/>
                </a:cubicBezTo>
                <a:lnTo>
                  <a:pt x="0" y="63487"/>
                </a:lnTo>
                <a:cubicBezTo>
                  <a:pt x="0" y="28448"/>
                  <a:pt x="28448" y="0"/>
                  <a:pt x="63487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4031" y="1337469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84305" y="6263"/>
                </a:moveTo>
                <a:cubicBezTo>
                  <a:pt x="81266" y="4527"/>
                  <a:pt x="77515" y="4527"/>
                  <a:pt x="74445" y="6263"/>
                </a:cubicBezTo>
                <a:lnTo>
                  <a:pt x="4992" y="45951"/>
                </a:lnTo>
                <a:cubicBezTo>
                  <a:pt x="1085" y="48183"/>
                  <a:pt x="-837" y="52772"/>
                  <a:pt x="310" y="57113"/>
                </a:cubicBezTo>
                <a:cubicBezTo>
                  <a:pt x="1457" y="61454"/>
                  <a:pt x="5426" y="64492"/>
                  <a:pt x="9922" y="64492"/>
                </a:cubicBezTo>
                <a:lnTo>
                  <a:pt x="19844" y="64492"/>
                </a:lnTo>
                <a:lnTo>
                  <a:pt x="19844" y="128984"/>
                </a:lnTo>
                <a:lnTo>
                  <a:pt x="19844" y="128984"/>
                </a:lnTo>
                <a:lnTo>
                  <a:pt x="3969" y="140891"/>
                </a:lnTo>
                <a:cubicBezTo>
                  <a:pt x="1457" y="142751"/>
                  <a:pt x="0" y="145697"/>
                  <a:pt x="0" y="148828"/>
                </a:cubicBezTo>
                <a:cubicBezTo>
                  <a:pt x="0" y="154316"/>
                  <a:pt x="4434" y="158750"/>
                  <a:pt x="9922" y="158750"/>
                </a:cubicBezTo>
                <a:lnTo>
                  <a:pt x="148828" y="158750"/>
                </a:lnTo>
                <a:cubicBezTo>
                  <a:pt x="154316" y="158750"/>
                  <a:pt x="158750" y="154316"/>
                  <a:pt x="158750" y="148828"/>
                </a:cubicBezTo>
                <a:cubicBezTo>
                  <a:pt x="158750" y="145697"/>
                  <a:pt x="157293" y="142751"/>
                  <a:pt x="154781" y="140891"/>
                </a:cubicBezTo>
                <a:lnTo>
                  <a:pt x="138906" y="128984"/>
                </a:lnTo>
                <a:lnTo>
                  <a:pt x="138906" y="64492"/>
                </a:lnTo>
                <a:lnTo>
                  <a:pt x="148828" y="64492"/>
                </a:lnTo>
                <a:cubicBezTo>
                  <a:pt x="153324" y="64492"/>
                  <a:pt x="157262" y="61454"/>
                  <a:pt x="158409" y="57113"/>
                </a:cubicBezTo>
                <a:cubicBezTo>
                  <a:pt x="159556" y="52772"/>
                  <a:pt x="157634" y="48183"/>
                  <a:pt x="153727" y="45951"/>
                </a:cubicBezTo>
                <a:lnTo>
                  <a:pt x="84274" y="6263"/>
                </a:lnTo>
                <a:close/>
                <a:moveTo>
                  <a:pt x="124023" y="64492"/>
                </a:moveTo>
                <a:lnTo>
                  <a:pt x="124023" y="128984"/>
                </a:lnTo>
                <a:lnTo>
                  <a:pt x="104180" y="128984"/>
                </a:lnTo>
                <a:lnTo>
                  <a:pt x="104180" y="64492"/>
                </a:lnTo>
                <a:lnTo>
                  <a:pt x="124023" y="64492"/>
                </a:lnTo>
                <a:close/>
                <a:moveTo>
                  <a:pt x="89297" y="64492"/>
                </a:moveTo>
                <a:lnTo>
                  <a:pt x="89297" y="128984"/>
                </a:lnTo>
                <a:lnTo>
                  <a:pt x="69453" y="128984"/>
                </a:lnTo>
                <a:lnTo>
                  <a:pt x="69453" y="64492"/>
                </a:lnTo>
                <a:lnTo>
                  <a:pt x="89297" y="64492"/>
                </a:lnTo>
                <a:close/>
                <a:moveTo>
                  <a:pt x="54570" y="64492"/>
                </a:moveTo>
                <a:lnTo>
                  <a:pt x="54570" y="128984"/>
                </a:lnTo>
                <a:lnTo>
                  <a:pt x="34727" y="128984"/>
                </a:lnTo>
                <a:lnTo>
                  <a:pt x="34727" y="64492"/>
                </a:lnTo>
                <a:lnTo>
                  <a:pt x="54570" y="64492"/>
                </a:lnTo>
                <a:close/>
                <a:moveTo>
                  <a:pt x="79375" y="29766"/>
                </a:moveTo>
                <a:cubicBezTo>
                  <a:pt x="84851" y="29766"/>
                  <a:pt x="89297" y="34211"/>
                  <a:pt x="89297" y="39688"/>
                </a:cubicBezTo>
                <a:cubicBezTo>
                  <a:pt x="89297" y="45164"/>
                  <a:pt x="84851" y="49609"/>
                  <a:pt x="79375" y="49609"/>
                </a:cubicBezTo>
                <a:cubicBezTo>
                  <a:pt x="73899" y="49609"/>
                  <a:pt x="69453" y="45164"/>
                  <a:pt x="69453" y="39688"/>
                </a:cubicBezTo>
                <a:cubicBezTo>
                  <a:pt x="69453" y="34211"/>
                  <a:pt x="73899" y="29766"/>
                  <a:pt x="79375" y="29766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7" name="Text 5"/>
          <p:cNvSpPr/>
          <p:nvPr/>
        </p:nvSpPr>
        <p:spPr>
          <a:xfrm>
            <a:off x="722313" y="1309688"/>
            <a:ext cx="5191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Indian Context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187" y="1658938"/>
            <a:ext cx="5349875" cy="920750"/>
          </a:xfrm>
          <a:custGeom>
            <a:avLst/>
            <a:gdLst/>
            <a:ahLst/>
            <a:cxnLst/>
            <a:rect l="l" t="t" r="r" b="b"/>
            <a:pathLst>
              <a:path w="5349875" h="920750">
                <a:moveTo>
                  <a:pt x="63504" y="0"/>
                </a:moveTo>
                <a:lnTo>
                  <a:pt x="5286371" y="0"/>
                </a:lnTo>
                <a:cubicBezTo>
                  <a:pt x="5321443" y="0"/>
                  <a:pt x="5349875" y="28432"/>
                  <a:pt x="5349875" y="63504"/>
                </a:cubicBezTo>
                <a:lnTo>
                  <a:pt x="5349875" y="857246"/>
                </a:lnTo>
                <a:cubicBezTo>
                  <a:pt x="5349875" y="892318"/>
                  <a:pt x="5321443" y="920750"/>
                  <a:pt x="5286371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2D5A3D">
              <a:alpha val="5098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11188" y="1785938"/>
            <a:ext cx="515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Turnitin in Indian Universities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1188" y="2039938"/>
            <a:ext cx="5159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Indian universities use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Turnitin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similar plagiarism detection tools. These systems have increasingly integrated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detection capabilities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identify ChatGPT-generated content.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187" y="2706688"/>
            <a:ext cx="5349875" cy="1127125"/>
          </a:xfrm>
          <a:custGeom>
            <a:avLst/>
            <a:gdLst/>
            <a:ahLst/>
            <a:cxnLst/>
            <a:rect l="l" t="t" r="r" b="b"/>
            <a:pathLst>
              <a:path w="5349875" h="1127125">
                <a:moveTo>
                  <a:pt x="63502" y="0"/>
                </a:moveTo>
                <a:lnTo>
                  <a:pt x="5286373" y="0"/>
                </a:lnTo>
                <a:cubicBezTo>
                  <a:pt x="5321444" y="0"/>
                  <a:pt x="5349875" y="28431"/>
                  <a:pt x="5349875" y="63502"/>
                </a:cubicBezTo>
                <a:lnTo>
                  <a:pt x="5349875" y="1063623"/>
                </a:lnTo>
                <a:cubicBezTo>
                  <a:pt x="5349875" y="1098694"/>
                  <a:pt x="5321444" y="1127125"/>
                  <a:pt x="5286373" y="1127125"/>
                </a:cubicBezTo>
                <a:lnTo>
                  <a:pt x="63502" y="1127125"/>
                </a:lnTo>
                <a:cubicBezTo>
                  <a:pt x="28431" y="1127125"/>
                  <a:pt x="0" y="1098694"/>
                  <a:pt x="0" y="1063623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7D9A78">
              <a:alpha val="5098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11188" y="2833688"/>
            <a:ext cx="515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Capabilities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1188" y="3087688"/>
            <a:ext cx="51593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Turnitin's AI detector can flag AI-generated text, but with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 and false positives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system is more accurate with longer documents (&gt;20% AI content) but struggles with shorter or edited text.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4187" y="3960813"/>
            <a:ext cx="5349875" cy="920750"/>
          </a:xfrm>
          <a:custGeom>
            <a:avLst/>
            <a:gdLst/>
            <a:ahLst/>
            <a:cxnLst/>
            <a:rect l="l" t="t" r="r" b="b"/>
            <a:pathLst>
              <a:path w="5349875" h="920750">
                <a:moveTo>
                  <a:pt x="63504" y="0"/>
                </a:moveTo>
                <a:lnTo>
                  <a:pt x="5286371" y="0"/>
                </a:lnTo>
                <a:cubicBezTo>
                  <a:pt x="5321443" y="0"/>
                  <a:pt x="5349875" y="28432"/>
                  <a:pt x="5349875" y="63504"/>
                </a:cubicBezTo>
                <a:lnTo>
                  <a:pt x="5349875" y="857246"/>
                </a:lnTo>
                <a:cubicBezTo>
                  <a:pt x="5349875" y="892318"/>
                  <a:pt x="5321443" y="920750"/>
                  <a:pt x="5286371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8B7355">
              <a:alpha val="5098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11188" y="4087812"/>
            <a:ext cx="515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University Policies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1188" y="4341813"/>
            <a:ext cx="5159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Indian universities are developing AI policies, but approaches vary. Some institutions have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strict prohibitions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while others allow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use with disclosure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5219" y="1146969"/>
            <a:ext cx="5675313" cy="3690937"/>
          </a:xfrm>
          <a:custGeom>
            <a:avLst/>
            <a:gdLst/>
            <a:ahLst/>
            <a:cxnLst/>
            <a:rect l="l" t="t" r="r" b="b"/>
            <a:pathLst>
              <a:path w="5675313" h="3690937">
                <a:moveTo>
                  <a:pt x="63484" y="0"/>
                </a:moveTo>
                <a:lnTo>
                  <a:pt x="5611828" y="0"/>
                </a:lnTo>
                <a:cubicBezTo>
                  <a:pt x="5646890" y="0"/>
                  <a:pt x="5675313" y="28423"/>
                  <a:pt x="5675313" y="63484"/>
                </a:cubicBezTo>
                <a:lnTo>
                  <a:pt x="5675313" y="3627453"/>
                </a:lnTo>
                <a:cubicBezTo>
                  <a:pt x="5675312" y="3662515"/>
                  <a:pt x="5646890" y="3690938"/>
                  <a:pt x="5611828" y="3690937"/>
                </a:cubicBezTo>
                <a:lnTo>
                  <a:pt x="63484" y="3690937"/>
                </a:lnTo>
                <a:cubicBezTo>
                  <a:pt x="28423" y="3690937"/>
                  <a:pt x="0" y="3662515"/>
                  <a:pt x="0" y="3627453"/>
                </a:cubicBezTo>
                <a:lnTo>
                  <a:pt x="0" y="63484"/>
                </a:lnTo>
                <a:cubicBezTo>
                  <a:pt x="0" y="28446"/>
                  <a:pt x="28446" y="0"/>
                  <a:pt x="63484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 w="12700">
            <a:solidFill>
              <a:srgbClr val="7D9A78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77781" y="1337469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0801" y="0"/>
                  <a:pt x="82228" y="310"/>
                  <a:pt x="83530" y="899"/>
                </a:cubicBezTo>
                <a:lnTo>
                  <a:pt x="141945" y="25673"/>
                </a:lnTo>
                <a:cubicBezTo>
                  <a:pt x="148766" y="28556"/>
                  <a:pt x="153851" y="35285"/>
                  <a:pt x="153820" y="43408"/>
                </a:cubicBezTo>
                <a:cubicBezTo>
                  <a:pt x="153665" y="74166"/>
                  <a:pt x="141015" y="130442"/>
                  <a:pt x="87592" y="156021"/>
                </a:cubicBezTo>
                <a:cubicBezTo>
                  <a:pt x="82414" y="158502"/>
                  <a:pt x="76398" y="158502"/>
                  <a:pt x="71220" y="156021"/>
                </a:cubicBezTo>
                <a:cubicBezTo>
                  <a:pt x="17766" y="130442"/>
                  <a:pt x="5147" y="74166"/>
                  <a:pt x="4992" y="43408"/>
                </a:cubicBezTo>
                <a:cubicBezTo>
                  <a:pt x="4961" y="35285"/>
                  <a:pt x="10046" y="28556"/>
                  <a:pt x="16867" y="25673"/>
                </a:cubicBezTo>
                <a:lnTo>
                  <a:pt x="75251" y="899"/>
                </a:lnTo>
                <a:cubicBezTo>
                  <a:pt x="76553" y="310"/>
                  <a:pt x="77949" y="0"/>
                  <a:pt x="79375" y="0"/>
                </a:cubicBezTo>
                <a:close/>
                <a:moveTo>
                  <a:pt x="79375" y="20712"/>
                </a:moveTo>
                <a:lnTo>
                  <a:pt x="79375" y="137945"/>
                </a:lnTo>
                <a:cubicBezTo>
                  <a:pt x="122163" y="117233"/>
                  <a:pt x="133666" y="71344"/>
                  <a:pt x="133945" y="43873"/>
                </a:cubicBezTo>
                <a:lnTo>
                  <a:pt x="79375" y="20743"/>
                </a:lnTo>
                <a:lnTo>
                  <a:pt x="79375" y="20743"/>
                </a:ln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19" name="Text 17"/>
          <p:cNvSpPr/>
          <p:nvPr/>
        </p:nvSpPr>
        <p:spPr>
          <a:xfrm>
            <a:off x="6596063" y="1309688"/>
            <a:ext cx="5191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Ethical Approach for Indian Students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73813" y="1658938"/>
            <a:ext cx="5334000" cy="920750"/>
          </a:xfrm>
          <a:custGeom>
            <a:avLst/>
            <a:gdLst/>
            <a:ahLst/>
            <a:cxnLst/>
            <a:rect l="l" t="t" r="r" b="b"/>
            <a:pathLst>
              <a:path w="5334000" h="920750">
                <a:moveTo>
                  <a:pt x="31750" y="0"/>
                </a:moveTo>
                <a:lnTo>
                  <a:pt x="5270496" y="0"/>
                </a:lnTo>
                <a:cubicBezTo>
                  <a:pt x="5305568" y="0"/>
                  <a:pt x="5334000" y="28432"/>
                  <a:pt x="5334000" y="63504"/>
                </a:cubicBezTo>
                <a:lnTo>
                  <a:pt x="5334000" y="857246"/>
                </a:lnTo>
                <a:cubicBezTo>
                  <a:pt x="5334000" y="892318"/>
                  <a:pt x="5305568" y="920750"/>
                  <a:pt x="5270496" y="920750"/>
                </a:cubicBezTo>
                <a:lnTo>
                  <a:pt x="31750" y="920750"/>
                </a:lnTo>
                <a:cubicBezTo>
                  <a:pt x="14227" y="920750"/>
                  <a:pt x="0" y="906523"/>
                  <a:pt x="0" y="88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21" name="Shape 19"/>
          <p:cNvSpPr/>
          <p:nvPr/>
        </p:nvSpPr>
        <p:spPr>
          <a:xfrm>
            <a:off x="6373813" y="1658938"/>
            <a:ext cx="31750" cy="920750"/>
          </a:xfrm>
          <a:custGeom>
            <a:avLst/>
            <a:gdLst/>
            <a:ahLst/>
            <a:cxnLst/>
            <a:rect l="l" t="t" r="r" b="b"/>
            <a:pathLst>
              <a:path w="31750" h="920750">
                <a:moveTo>
                  <a:pt x="31750" y="0"/>
                </a:moveTo>
                <a:lnTo>
                  <a:pt x="31750" y="0"/>
                </a:lnTo>
                <a:lnTo>
                  <a:pt x="31750" y="920750"/>
                </a:lnTo>
                <a:lnTo>
                  <a:pt x="31750" y="920750"/>
                </a:lnTo>
                <a:cubicBezTo>
                  <a:pt x="14227" y="920750"/>
                  <a:pt x="0" y="906523"/>
                  <a:pt x="0" y="88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2" name="Shape 20"/>
          <p:cNvSpPr/>
          <p:nvPr/>
        </p:nvSpPr>
        <p:spPr>
          <a:xfrm>
            <a:off x="6532563" y="18137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8236"/>
          </a:solidFill>
          <a:ln/>
        </p:spPr>
      </p:sp>
      <p:sp>
        <p:nvSpPr>
          <p:cNvPr id="23" name="Text 21"/>
          <p:cNvSpPr/>
          <p:nvPr/>
        </p:nvSpPr>
        <p:spPr>
          <a:xfrm>
            <a:off x="6715125" y="1785938"/>
            <a:ext cx="4929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Don't Try to Bypass Detection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16688" y="2039938"/>
            <a:ext cx="51276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Instead of trying to "beat" Turnitin, focus on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AI use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doesn't require hiding. Transparency is your best protection.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57938" y="2706688"/>
            <a:ext cx="5349875" cy="920750"/>
          </a:xfrm>
          <a:custGeom>
            <a:avLst/>
            <a:gdLst/>
            <a:ahLst/>
            <a:cxnLst/>
            <a:rect l="l" t="t" r="r" b="b"/>
            <a:pathLst>
              <a:path w="5349875" h="920750">
                <a:moveTo>
                  <a:pt x="63504" y="0"/>
                </a:moveTo>
                <a:lnTo>
                  <a:pt x="5286371" y="0"/>
                </a:lnTo>
                <a:cubicBezTo>
                  <a:pt x="5321443" y="0"/>
                  <a:pt x="5349875" y="28432"/>
                  <a:pt x="5349875" y="63504"/>
                </a:cubicBezTo>
                <a:lnTo>
                  <a:pt x="5349875" y="857246"/>
                </a:lnTo>
                <a:cubicBezTo>
                  <a:pt x="5349875" y="892318"/>
                  <a:pt x="5321443" y="920750"/>
                  <a:pt x="5286371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2D5A3D">
              <a:alpha val="5098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08750" y="2861469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95250" y="127000"/>
                </a:moveTo>
                <a:lnTo>
                  <a:pt x="23812" y="127000"/>
                </a:lnTo>
                <a:cubicBezTo>
                  <a:pt x="10666" y="127000"/>
                  <a:pt x="0" y="116334"/>
                  <a:pt x="0" y="103188"/>
                </a:cubicBezTo>
                <a:lnTo>
                  <a:pt x="0" y="23812"/>
                </a:lnTo>
                <a:cubicBezTo>
                  <a:pt x="0" y="10666"/>
                  <a:pt x="10666" y="0"/>
                  <a:pt x="23812" y="0"/>
                </a:cubicBezTo>
                <a:lnTo>
                  <a:pt x="99219" y="0"/>
                </a:lnTo>
                <a:cubicBezTo>
                  <a:pt x="105792" y="0"/>
                  <a:pt x="111125" y="5333"/>
                  <a:pt x="111125" y="11906"/>
                </a:cubicBezTo>
                <a:lnTo>
                  <a:pt x="111125" y="83344"/>
                </a:lnTo>
                <a:cubicBezTo>
                  <a:pt x="111125" y="88528"/>
                  <a:pt x="107801" y="92943"/>
                  <a:pt x="103188" y="94580"/>
                </a:cubicBezTo>
                <a:lnTo>
                  <a:pt x="103188" y="111125"/>
                </a:lnTo>
                <a:cubicBezTo>
                  <a:pt x="107578" y="111125"/>
                  <a:pt x="111125" y="114672"/>
                  <a:pt x="111125" y="119063"/>
                </a:cubicBezTo>
                <a:cubicBezTo>
                  <a:pt x="111125" y="123453"/>
                  <a:pt x="107578" y="127000"/>
                  <a:pt x="103188" y="127000"/>
                </a:cubicBezTo>
                <a:lnTo>
                  <a:pt x="95250" y="127000"/>
                </a:lnTo>
                <a:close/>
                <a:moveTo>
                  <a:pt x="23812" y="95250"/>
                </a:moveTo>
                <a:cubicBezTo>
                  <a:pt x="19422" y="95250"/>
                  <a:pt x="15875" y="98797"/>
                  <a:pt x="15875" y="103188"/>
                </a:cubicBezTo>
                <a:cubicBezTo>
                  <a:pt x="15875" y="107578"/>
                  <a:pt x="19422" y="111125"/>
                  <a:pt x="23812" y="111125"/>
                </a:cubicBezTo>
                <a:lnTo>
                  <a:pt x="87313" y="111125"/>
                </a:lnTo>
                <a:lnTo>
                  <a:pt x="87313" y="95250"/>
                </a:lnTo>
                <a:lnTo>
                  <a:pt x="23812" y="95250"/>
                </a:lnTo>
                <a:close/>
                <a:moveTo>
                  <a:pt x="31750" y="37703"/>
                </a:moveTo>
                <a:cubicBezTo>
                  <a:pt x="31750" y="41002"/>
                  <a:pt x="34404" y="43656"/>
                  <a:pt x="37703" y="43656"/>
                </a:cubicBezTo>
                <a:lnTo>
                  <a:pt x="81359" y="43656"/>
                </a:lnTo>
                <a:cubicBezTo>
                  <a:pt x="84658" y="43656"/>
                  <a:pt x="87313" y="41002"/>
                  <a:pt x="87313" y="37703"/>
                </a:cubicBezTo>
                <a:cubicBezTo>
                  <a:pt x="87313" y="34404"/>
                  <a:pt x="84658" y="31750"/>
                  <a:pt x="81359" y="31750"/>
                </a:cubicBezTo>
                <a:lnTo>
                  <a:pt x="37703" y="31750"/>
                </a:lnTo>
                <a:cubicBezTo>
                  <a:pt x="34404" y="31750"/>
                  <a:pt x="31750" y="34404"/>
                  <a:pt x="31750" y="37703"/>
                </a:cubicBezTo>
                <a:close/>
                <a:moveTo>
                  <a:pt x="37703" y="55563"/>
                </a:moveTo>
                <a:cubicBezTo>
                  <a:pt x="34404" y="55563"/>
                  <a:pt x="31750" y="58217"/>
                  <a:pt x="31750" y="61516"/>
                </a:cubicBezTo>
                <a:cubicBezTo>
                  <a:pt x="31750" y="64815"/>
                  <a:pt x="34404" y="67469"/>
                  <a:pt x="37703" y="67469"/>
                </a:cubicBezTo>
                <a:lnTo>
                  <a:pt x="81359" y="67469"/>
                </a:lnTo>
                <a:cubicBezTo>
                  <a:pt x="84658" y="67469"/>
                  <a:pt x="87313" y="64815"/>
                  <a:pt x="87313" y="61516"/>
                </a:cubicBezTo>
                <a:cubicBezTo>
                  <a:pt x="87313" y="58217"/>
                  <a:pt x="84658" y="55563"/>
                  <a:pt x="81359" y="55563"/>
                </a:cubicBezTo>
                <a:lnTo>
                  <a:pt x="37703" y="55563"/>
                </a:ln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27" name="Text 25"/>
          <p:cNvSpPr/>
          <p:nvPr/>
        </p:nvSpPr>
        <p:spPr>
          <a:xfrm>
            <a:off x="6683375" y="2833688"/>
            <a:ext cx="4960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 Your Institution's Policy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84938" y="3087688"/>
            <a:ext cx="5159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your university's official stance on AI use. Policies may be in your student handbook, on the university website, or in course syllabi.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57938" y="3754438"/>
            <a:ext cx="5349875" cy="920750"/>
          </a:xfrm>
          <a:custGeom>
            <a:avLst/>
            <a:gdLst/>
            <a:ahLst/>
            <a:cxnLst/>
            <a:rect l="l" t="t" r="r" b="b"/>
            <a:pathLst>
              <a:path w="5349875" h="920750">
                <a:moveTo>
                  <a:pt x="63504" y="0"/>
                </a:moveTo>
                <a:lnTo>
                  <a:pt x="5286371" y="0"/>
                </a:lnTo>
                <a:cubicBezTo>
                  <a:pt x="5321443" y="0"/>
                  <a:pt x="5349875" y="28432"/>
                  <a:pt x="5349875" y="63504"/>
                </a:cubicBezTo>
                <a:lnTo>
                  <a:pt x="5349875" y="857246"/>
                </a:lnTo>
                <a:cubicBezTo>
                  <a:pt x="5349875" y="892318"/>
                  <a:pt x="5321443" y="920750"/>
                  <a:pt x="5286371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7D9A78">
              <a:alpha val="5098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08750" y="3909219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59854" y="-3225"/>
                </a:moveTo>
                <a:cubicBezTo>
                  <a:pt x="57026" y="-3795"/>
                  <a:pt x="54124" y="-3795"/>
                  <a:pt x="51296" y="-3225"/>
                </a:cubicBezTo>
                <a:lnTo>
                  <a:pt x="4787" y="6077"/>
                </a:lnTo>
                <a:cubicBezTo>
                  <a:pt x="2009" y="6623"/>
                  <a:pt x="0" y="9079"/>
                  <a:pt x="0" y="11906"/>
                </a:cubicBezTo>
                <a:cubicBezTo>
                  <a:pt x="0" y="14461"/>
                  <a:pt x="1612" y="16694"/>
                  <a:pt x="3969" y="17512"/>
                </a:cubicBezTo>
                <a:lnTo>
                  <a:pt x="3969" y="35719"/>
                </a:lnTo>
                <a:lnTo>
                  <a:pt x="74" y="55215"/>
                </a:lnTo>
                <a:cubicBezTo>
                  <a:pt x="25" y="55438"/>
                  <a:pt x="0" y="55687"/>
                  <a:pt x="0" y="55935"/>
                </a:cubicBezTo>
                <a:cubicBezTo>
                  <a:pt x="0" y="57919"/>
                  <a:pt x="1612" y="59556"/>
                  <a:pt x="3621" y="59556"/>
                </a:cubicBezTo>
                <a:lnTo>
                  <a:pt x="12278" y="59556"/>
                </a:lnTo>
                <a:cubicBezTo>
                  <a:pt x="14263" y="59556"/>
                  <a:pt x="15900" y="57944"/>
                  <a:pt x="15900" y="55935"/>
                </a:cubicBezTo>
                <a:cubicBezTo>
                  <a:pt x="15900" y="55687"/>
                  <a:pt x="15875" y="55463"/>
                  <a:pt x="15825" y="55215"/>
                </a:cubicBezTo>
                <a:lnTo>
                  <a:pt x="11906" y="35719"/>
                </a:lnTo>
                <a:lnTo>
                  <a:pt x="11906" y="19174"/>
                </a:lnTo>
                <a:lnTo>
                  <a:pt x="23812" y="21555"/>
                </a:lnTo>
                <a:lnTo>
                  <a:pt x="23812" y="35719"/>
                </a:lnTo>
                <a:cubicBezTo>
                  <a:pt x="23812" y="53256"/>
                  <a:pt x="38026" y="67469"/>
                  <a:pt x="55563" y="67469"/>
                </a:cubicBezTo>
                <a:cubicBezTo>
                  <a:pt x="73099" y="67469"/>
                  <a:pt x="87313" y="53256"/>
                  <a:pt x="87313" y="35719"/>
                </a:cubicBezTo>
                <a:lnTo>
                  <a:pt x="87313" y="21555"/>
                </a:lnTo>
                <a:lnTo>
                  <a:pt x="106338" y="17760"/>
                </a:lnTo>
                <a:cubicBezTo>
                  <a:pt x="109116" y="17190"/>
                  <a:pt x="111125" y="14734"/>
                  <a:pt x="111125" y="11906"/>
                </a:cubicBezTo>
                <a:cubicBezTo>
                  <a:pt x="111125" y="9079"/>
                  <a:pt x="109116" y="6623"/>
                  <a:pt x="106338" y="6077"/>
                </a:cubicBezTo>
                <a:lnTo>
                  <a:pt x="59854" y="-3225"/>
                </a:lnTo>
                <a:close/>
                <a:moveTo>
                  <a:pt x="55563" y="55563"/>
                </a:moveTo>
                <a:cubicBezTo>
                  <a:pt x="44599" y="55563"/>
                  <a:pt x="35719" y="46682"/>
                  <a:pt x="35719" y="35719"/>
                </a:cubicBezTo>
                <a:lnTo>
                  <a:pt x="75406" y="35719"/>
                </a:lnTo>
                <a:cubicBezTo>
                  <a:pt x="75406" y="46682"/>
                  <a:pt x="66526" y="55563"/>
                  <a:pt x="55563" y="55563"/>
                </a:cubicBezTo>
                <a:close/>
                <a:moveTo>
                  <a:pt x="29790" y="79400"/>
                </a:moveTo>
                <a:cubicBezTo>
                  <a:pt x="14560" y="86395"/>
                  <a:pt x="3969" y="101774"/>
                  <a:pt x="3969" y="119633"/>
                </a:cubicBezTo>
                <a:cubicBezTo>
                  <a:pt x="3969" y="123701"/>
                  <a:pt x="7268" y="127000"/>
                  <a:pt x="11336" y="127000"/>
                </a:cubicBezTo>
                <a:lnTo>
                  <a:pt x="49609" y="127000"/>
                </a:lnTo>
                <a:lnTo>
                  <a:pt x="49609" y="90785"/>
                </a:lnTo>
                <a:lnTo>
                  <a:pt x="35371" y="80119"/>
                </a:lnTo>
                <a:cubicBezTo>
                  <a:pt x="33759" y="78904"/>
                  <a:pt x="31601" y="78581"/>
                  <a:pt x="29766" y="79425"/>
                </a:cubicBezTo>
                <a:close/>
                <a:moveTo>
                  <a:pt x="61516" y="127000"/>
                </a:moveTo>
                <a:lnTo>
                  <a:pt x="99789" y="127000"/>
                </a:lnTo>
                <a:cubicBezTo>
                  <a:pt x="103857" y="127000"/>
                  <a:pt x="107156" y="123701"/>
                  <a:pt x="107156" y="119633"/>
                </a:cubicBezTo>
                <a:cubicBezTo>
                  <a:pt x="107156" y="101774"/>
                  <a:pt x="96565" y="86395"/>
                  <a:pt x="81335" y="79425"/>
                </a:cubicBezTo>
                <a:cubicBezTo>
                  <a:pt x="79499" y="78581"/>
                  <a:pt x="77341" y="78904"/>
                  <a:pt x="75729" y="80119"/>
                </a:cubicBezTo>
                <a:lnTo>
                  <a:pt x="61491" y="90785"/>
                </a:lnTo>
                <a:lnTo>
                  <a:pt x="61491" y="127000"/>
                </a:ln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31" name="Text 29"/>
          <p:cNvSpPr/>
          <p:nvPr/>
        </p:nvSpPr>
        <p:spPr>
          <a:xfrm>
            <a:off x="6683375" y="3881438"/>
            <a:ext cx="4960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on Learning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84938" y="4135438"/>
            <a:ext cx="5159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goal of education is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skill development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just grades. Using AI ethically helps you learn; using it to cheat deprives you of valuable learning experiences.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1250" y="4968875"/>
            <a:ext cx="5683250" cy="952500"/>
          </a:xfrm>
          <a:custGeom>
            <a:avLst/>
            <a:gdLst/>
            <a:ahLst/>
            <a:cxnLst/>
            <a:rect l="l" t="t" r="r" b="b"/>
            <a:pathLst>
              <a:path w="5683250" h="952500">
                <a:moveTo>
                  <a:pt x="63503" y="0"/>
                </a:moveTo>
                <a:lnTo>
                  <a:pt x="5619747" y="0"/>
                </a:lnTo>
                <a:cubicBezTo>
                  <a:pt x="5654819" y="0"/>
                  <a:pt x="5683250" y="28431"/>
                  <a:pt x="5683250" y="63503"/>
                </a:cubicBezTo>
                <a:lnTo>
                  <a:pt x="5683250" y="888997"/>
                </a:lnTo>
                <a:cubicBezTo>
                  <a:pt x="5683250" y="924069"/>
                  <a:pt x="5654819" y="952500"/>
                  <a:pt x="5619747" y="952500"/>
                </a:cubicBezTo>
                <a:lnTo>
                  <a:pt x="63503" y="952500"/>
                </a:lnTo>
                <a:cubicBezTo>
                  <a:pt x="28431" y="952500"/>
                  <a:pt x="0" y="924069"/>
                  <a:pt x="0" y="888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34" name="Shape 32"/>
          <p:cNvSpPr/>
          <p:nvPr/>
        </p:nvSpPr>
        <p:spPr>
          <a:xfrm>
            <a:off x="6355953" y="5135563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81735" y="107156"/>
                </a:moveTo>
                <a:cubicBezTo>
                  <a:pt x="83772" y="100933"/>
                  <a:pt x="87846" y="95297"/>
                  <a:pt x="92450" y="90441"/>
                </a:cubicBezTo>
                <a:cubicBezTo>
                  <a:pt x="101575" y="80842"/>
                  <a:pt x="107156" y="67866"/>
                  <a:pt x="107156" y="53578"/>
                </a:cubicBezTo>
                <a:cubicBezTo>
                  <a:pt x="107156" y="23999"/>
                  <a:pt x="83158" y="0"/>
                  <a:pt x="53578" y="0"/>
                </a:cubicBezTo>
                <a:cubicBezTo>
                  <a:pt x="23999" y="0"/>
                  <a:pt x="0" y="23999"/>
                  <a:pt x="0" y="53578"/>
                </a:cubicBezTo>
                <a:cubicBezTo>
                  <a:pt x="0" y="67866"/>
                  <a:pt x="5581" y="80842"/>
                  <a:pt x="14706" y="90441"/>
                </a:cubicBezTo>
                <a:cubicBezTo>
                  <a:pt x="19310" y="95297"/>
                  <a:pt x="23413" y="100933"/>
                  <a:pt x="25422" y="107156"/>
                </a:cubicBezTo>
                <a:lnTo>
                  <a:pt x="81707" y="107156"/>
                </a:lnTo>
                <a:close/>
                <a:moveTo>
                  <a:pt x="80367" y="120551"/>
                </a:moveTo>
                <a:lnTo>
                  <a:pt x="26789" y="120551"/>
                </a:lnTo>
                <a:lnTo>
                  <a:pt x="26789" y="125016"/>
                </a:lnTo>
                <a:cubicBezTo>
                  <a:pt x="26789" y="137350"/>
                  <a:pt x="36779" y="147340"/>
                  <a:pt x="49113" y="147340"/>
                </a:cubicBezTo>
                <a:lnTo>
                  <a:pt x="58043" y="147340"/>
                </a:lnTo>
                <a:cubicBezTo>
                  <a:pt x="70377" y="147340"/>
                  <a:pt x="80367" y="137350"/>
                  <a:pt x="80367" y="125016"/>
                </a:cubicBezTo>
                <a:lnTo>
                  <a:pt x="80367" y="120551"/>
                </a:lnTo>
                <a:close/>
                <a:moveTo>
                  <a:pt x="51346" y="31254"/>
                </a:moveTo>
                <a:cubicBezTo>
                  <a:pt x="40239" y="31254"/>
                  <a:pt x="31254" y="40239"/>
                  <a:pt x="31254" y="51346"/>
                </a:cubicBezTo>
                <a:cubicBezTo>
                  <a:pt x="31254" y="55057"/>
                  <a:pt x="28268" y="58043"/>
                  <a:pt x="24557" y="58043"/>
                </a:cubicBezTo>
                <a:cubicBezTo>
                  <a:pt x="20845" y="58043"/>
                  <a:pt x="17859" y="55057"/>
                  <a:pt x="17859" y="51346"/>
                </a:cubicBezTo>
                <a:cubicBezTo>
                  <a:pt x="17859" y="32845"/>
                  <a:pt x="32845" y="17859"/>
                  <a:pt x="51346" y="17859"/>
                </a:cubicBezTo>
                <a:cubicBezTo>
                  <a:pt x="55057" y="17859"/>
                  <a:pt x="58043" y="20845"/>
                  <a:pt x="58043" y="24557"/>
                </a:cubicBezTo>
                <a:cubicBezTo>
                  <a:pt x="58043" y="28268"/>
                  <a:pt x="55057" y="31254"/>
                  <a:pt x="51346" y="31254"/>
                </a:cubicBezTo>
                <a:close/>
              </a:path>
            </a:pathLst>
          </a:custGeom>
          <a:solidFill>
            <a:srgbClr val="FAF8F3"/>
          </a:solidFill>
          <a:ln/>
        </p:spPr>
      </p:sp>
      <p:sp>
        <p:nvSpPr>
          <p:cNvPr id="35" name="Text 33"/>
          <p:cNvSpPr/>
          <p:nvPr/>
        </p:nvSpPr>
        <p:spPr>
          <a:xfrm>
            <a:off x="6540500" y="5095875"/>
            <a:ext cx="527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AF8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Message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18250" y="5381625"/>
            <a:ext cx="5492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question shouldn't be "Does ChatGPT pass plagiarism checks?" but rather "How can I use AI ethically to enhance my learning and research?"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33375" y="6048375"/>
            <a:ext cx="11541125" cy="666750"/>
          </a:xfrm>
          <a:custGeom>
            <a:avLst/>
            <a:gdLst/>
            <a:ahLst/>
            <a:cxnLst/>
            <a:rect l="l" t="t" r="r" b="b"/>
            <a:pathLst>
              <a:path w="11541125" h="666750">
                <a:moveTo>
                  <a:pt x="31750" y="0"/>
                </a:moveTo>
                <a:lnTo>
                  <a:pt x="11477624" y="0"/>
                </a:lnTo>
                <a:cubicBezTo>
                  <a:pt x="11512695" y="0"/>
                  <a:pt x="11541125" y="28430"/>
                  <a:pt x="11541125" y="63501"/>
                </a:cubicBezTo>
                <a:lnTo>
                  <a:pt x="11541125" y="603249"/>
                </a:lnTo>
                <a:cubicBezTo>
                  <a:pt x="11541125" y="638320"/>
                  <a:pt x="11512695" y="666750"/>
                  <a:pt x="11477624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B7355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33375" y="6048375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39" name="Shape 37"/>
          <p:cNvSpPr/>
          <p:nvPr/>
        </p:nvSpPr>
        <p:spPr>
          <a:xfrm>
            <a:off x="488156" y="62071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69453" y="49609"/>
                </a:moveTo>
                <a:cubicBezTo>
                  <a:pt x="69453" y="44133"/>
                  <a:pt x="73899" y="39688"/>
                  <a:pt x="79375" y="39688"/>
                </a:cubicBezTo>
                <a:cubicBezTo>
                  <a:pt x="84851" y="39688"/>
                  <a:pt x="89297" y="44133"/>
                  <a:pt x="89297" y="49609"/>
                </a:cubicBezTo>
                <a:cubicBezTo>
                  <a:pt x="89297" y="55085"/>
                  <a:pt x="84851" y="59531"/>
                  <a:pt x="79375" y="59531"/>
                </a:cubicBezTo>
                <a:cubicBezTo>
                  <a:pt x="73899" y="59531"/>
                  <a:pt x="69453" y="55085"/>
                  <a:pt x="69453" y="49609"/>
                </a:cubicBezTo>
                <a:close/>
                <a:moveTo>
                  <a:pt x="66973" y="69453"/>
                </a:moveTo>
                <a:lnTo>
                  <a:pt x="81855" y="69453"/>
                </a:lnTo>
                <a:cubicBezTo>
                  <a:pt x="85979" y="69453"/>
                  <a:pt x="89297" y="72771"/>
                  <a:pt x="89297" y="76895"/>
                </a:cubicBezTo>
                <a:lnTo>
                  <a:pt x="89297" y="104180"/>
                </a:lnTo>
                <a:lnTo>
                  <a:pt x="91777" y="104180"/>
                </a:lnTo>
                <a:cubicBezTo>
                  <a:pt x="95901" y="104180"/>
                  <a:pt x="99219" y="107497"/>
                  <a:pt x="99219" y="111621"/>
                </a:cubicBezTo>
                <a:cubicBezTo>
                  <a:pt x="99219" y="115745"/>
                  <a:pt x="95901" y="119062"/>
                  <a:pt x="91777" y="119062"/>
                </a:cubicBezTo>
                <a:lnTo>
                  <a:pt x="66973" y="119062"/>
                </a:lnTo>
                <a:cubicBezTo>
                  <a:pt x="62849" y="119062"/>
                  <a:pt x="59531" y="115745"/>
                  <a:pt x="59531" y="111621"/>
                </a:cubicBezTo>
                <a:cubicBezTo>
                  <a:pt x="59531" y="107497"/>
                  <a:pt x="62849" y="104180"/>
                  <a:pt x="66973" y="104180"/>
                </a:cubicBezTo>
                <a:lnTo>
                  <a:pt x="74414" y="104180"/>
                </a:lnTo>
                <a:lnTo>
                  <a:pt x="74414" y="84336"/>
                </a:lnTo>
                <a:lnTo>
                  <a:pt x="66973" y="84336"/>
                </a:lnTo>
                <a:cubicBezTo>
                  <a:pt x="62849" y="84336"/>
                  <a:pt x="59531" y="81018"/>
                  <a:pt x="59531" y="76895"/>
                </a:cubicBezTo>
                <a:cubicBezTo>
                  <a:pt x="59531" y="72771"/>
                  <a:pt x="62849" y="69453"/>
                  <a:pt x="66973" y="69453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40" name="Text 38"/>
          <p:cNvSpPr/>
          <p:nvPr/>
        </p:nvSpPr>
        <p:spPr>
          <a:xfrm>
            <a:off x="757101" y="6175375"/>
            <a:ext cx="1105693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 detection technology is evolving rapidly. What's true today may change tomorrow. The safest and most ethical approach is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transparency and responsible use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trying to stay ahead of detection algorithms.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21469" y="6846094"/>
            <a:ext cx="1730375" cy="269875"/>
          </a:xfrm>
          <a:custGeom>
            <a:avLst/>
            <a:gdLst/>
            <a:ahLst/>
            <a:cxnLst/>
            <a:rect l="l" t="t" r="r" b="b"/>
            <a:pathLst>
              <a:path w="1730375" h="269875">
                <a:moveTo>
                  <a:pt x="0" y="0"/>
                </a:moveTo>
                <a:lnTo>
                  <a:pt x="1730375" y="0"/>
                </a:lnTo>
                <a:lnTo>
                  <a:pt x="17303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FAF8F3">
              <a:alpha val="90196"/>
            </a:srgbClr>
          </a:solidFill>
          <a:ln w="12700">
            <a:solidFill>
              <a:srgbClr val="8B73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7500" y="6842125"/>
            <a:ext cx="1770063" cy="261937"/>
          </a:xfrm>
          <a:prstGeom prst="rect">
            <a:avLst/>
          </a:prstGeom>
          <a:noFill/>
          <a:ln/>
        </p:spPr>
        <p:txBody>
          <a:bodyPr wrap="square" lIns="95250" tIns="63500" rIns="95250" bIns="63500" rtlCol="0" anchor="ctr"/>
          <a:lstStyle/>
          <a:p>
            <a:pPr>
              <a:lnSpc>
                <a:spcPct val="120000"/>
              </a:lnSpc>
            </a:pPr>
            <a:r>
              <a:rPr lang="en-US" sz="750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Regional Context • Indian Universities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951890" y="6902214"/>
            <a:ext cx="9763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Ethics over evasion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dd11f0d4a96d5204cd3227508fa7b709a229db74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33934" b="33934"/>
          <a:stretch/>
        </p:blipFill>
        <p:spPr>
          <a:xfrm>
            <a:off x="0" y="0"/>
            <a:ext cx="12192000" cy="6855791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5791"/>
          </a:xfrm>
          <a:custGeom>
            <a:avLst/>
            <a:gdLst/>
            <a:ahLst/>
            <a:cxnLst/>
            <a:rect l="l" t="t" r="r" b="b"/>
            <a:pathLst>
              <a:path w="12192000" h="6855791">
                <a:moveTo>
                  <a:pt x="0" y="0"/>
                </a:moveTo>
                <a:lnTo>
                  <a:pt x="12192000" y="0"/>
                </a:lnTo>
                <a:lnTo>
                  <a:pt x="12192000" y="6855791"/>
                </a:lnTo>
                <a:lnTo>
                  <a:pt x="0" y="6855791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2D5A3D">
                  <a:alpha val="15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7D9A78">
                  <a:alpha val="1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427732" y="-240748"/>
            <a:ext cx="1334052" cy="335722"/>
          </a:xfrm>
          <a:custGeom>
            <a:avLst/>
            <a:gdLst/>
            <a:ahLst/>
            <a:cxnLst/>
            <a:rect l="l" t="t" r="r" b="b"/>
            <a:pathLst>
              <a:path w="1334052" h="335722">
                <a:moveTo>
                  <a:pt x="167861" y="0"/>
                </a:moveTo>
                <a:lnTo>
                  <a:pt x="1166191" y="0"/>
                </a:lnTo>
                <a:cubicBezTo>
                  <a:pt x="1258836" y="0"/>
                  <a:pt x="1334052" y="75216"/>
                  <a:pt x="1334052" y="167861"/>
                </a:cubicBezTo>
                <a:lnTo>
                  <a:pt x="1334052" y="167861"/>
                </a:lnTo>
                <a:cubicBezTo>
                  <a:pt x="1334052" y="260506"/>
                  <a:pt x="1258836" y="335722"/>
                  <a:pt x="1166191" y="335722"/>
                </a:cubicBezTo>
                <a:lnTo>
                  <a:pt x="167861" y="335722"/>
                </a:lnTo>
                <a:cubicBezTo>
                  <a:pt x="75216" y="335722"/>
                  <a:pt x="0" y="260506"/>
                  <a:pt x="0" y="167861"/>
                </a:cubicBezTo>
                <a:lnTo>
                  <a:pt x="0" y="167861"/>
                </a:lnTo>
                <a:cubicBezTo>
                  <a:pt x="0" y="75216"/>
                  <a:pt x="75216" y="0"/>
                  <a:pt x="16786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2D5A3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17679" y="-161235"/>
            <a:ext cx="954157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4" b="1" spc="97" kern="0" dirty="0">
                <a:solidFill>
                  <a:srgbClr val="2D5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37584" y="598557"/>
            <a:ext cx="4912139" cy="1325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174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Golden Rules of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174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Ethical AI Research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28572" y="2206487"/>
            <a:ext cx="1130852" cy="0"/>
          </a:xfrm>
          <a:custGeom>
            <a:avLst/>
            <a:gdLst/>
            <a:ahLst/>
            <a:cxnLst/>
            <a:rect l="l" t="t" r="r" b="b"/>
            <a:pathLst>
              <a:path w="1130852" h="0">
                <a:moveTo>
                  <a:pt x="0" y="0"/>
                </a:moveTo>
                <a:lnTo>
                  <a:pt x="1130852" y="0"/>
                </a:lnTo>
                <a:lnTo>
                  <a:pt x="113085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8" name="Shape 5"/>
          <p:cNvSpPr/>
          <p:nvPr/>
        </p:nvSpPr>
        <p:spPr>
          <a:xfrm>
            <a:off x="1579424" y="2568713"/>
            <a:ext cx="1625600" cy="2897809"/>
          </a:xfrm>
          <a:custGeom>
            <a:avLst/>
            <a:gdLst/>
            <a:ahLst/>
            <a:cxnLst/>
            <a:rect l="l" t="t" r="r" b="b"/>
            <a:pathLst>
              <a:path w="1625600" h="2897809">
                <a:moveTo>
                  <a:pt x="70681" y="0"/>
                </a:moveTo>
                <a:lnTo>
                  <a:pt x="1554919" y="0"/>
                </a:lnTo>
                <a:cubicBezTo>
                  <a:pt x="1593955" y="0"/>
                  <a:pt x="1625600" y="31645"/>
                  <a:pt x="1625600" y="70681"/>
                </a:cubicBezTo>
                <a:lnTo>
                  <a:pt x="1625600" y="2827128"/>
                </a:lnTo>
                <a:cubicBezTo>
                  <a:pt x="1625600" y="2866164"/>
                  <a:pt x="1593955" y="2897809"/>
                  <a:pt x="1554919" y="2897809"/>
                </a:cubicBezTo>
                <a:lnTo>
                  <a:pt x="70681" y="2897809"/>
                </a:lnTo>
                <a:cubicBezTo>
                  <a:pt x="31645" y="2897809"/>
                  <a:pt x="0" y="2866164"/>
                  <a:pt x="0" y="2827128"/>
                </a:cubicBezTo>
                <a:lnTo>
                  <a:pt x="0" y="70681"/>
                </a:lnTo>
                <a:cubicBezTo>
                  <a:pt x="0" y="31671"/>
                  <a:pt x="31671" y="0"/>
                  <a:pt x="70681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25400">
            <a:solidFill>
              <a:srgbClr val="2D5A3D"/>
            </a:solidFill>
            <a:prstDash val="solid"/>
          </a:ln>
          <a:effectLst>
            <a:outerShdw sx="100000" sy="100000" kx="0" ky="0" algn="bl" rotWithShape="0" blurRad="132522" dist="88348" dir="5400000">
              <a:srgbClr val="000000">
                <a:alpha val="10196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107717" y="2789583"/>
            <a:ext cx="565426" cy="565426"/>
          </a:xfrm>
          <a:custGeom>
            <a:avLst/>
            <a:gdLst/>
            <a:ahLst/>
            <a:cxnLst/>
            <a:rect l="l" t="t" r="r" b="b"/>
            <a:pathLst>
              <a:path w="565426" h="565426">
                <a:moveTo>
                  <a:pt x="282713" y="0"/>
                </a:moveTo>
                <a:lnTo>
                  <a:pt x="282713" y="0"/>
                </a:lnTo>
                <a:cubicBezTo>
                  <a:pt x="438747" y="0"/>
                  <a:pt x="565426" y="126679"/>
                  <a:pt x="565426" y="282713"/>
                </a:cubicBezTo>
                <a:lnTo>
                  <a:pt x="565426" y="282713"/>
                </a:lnTo>
                <a:cubicBezTo>
                  <a:pt x="565426" y="438747"/>
                  <a:pt x="438747" y="565426"/>
                  <a:pt x="282713" y="565426"/>
                </a:cubicBezTo>
                <a:lnTo>
                  <a:pt x="282713" y="565426"/>
                </a:lnTo>
                <a:cubicBezTo>
                  <a:pt x="126679" y="565426"/>
                  <a:pt x="0" y="438747"/>
                  <a:pt x="0" y="282713"/>
                </a:cubicBezTo>
                <a:lnTo>
                  <a:pt x="0" y="282713"/>
                </a:lnTo>
                <a:cubicBezTo>
                  <a:pt x="0" y="126679"/>
                  <a:pt x="126679" y="0"/>
                  <a:pt x="282713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10" name="Text 7"/>
          <p:cNvSpPr/>
          <p:nvPr/>
        </p:nvSpPr>
        <p:spPr>
          <a:xfrm>
            <a:off x="2041456" y="2789583"/>
            <a:ext cx="697948" cy="565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8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756120" y="3496365"/>
            <a:ext cx="1272209" cy="494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1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Assists,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391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 Create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764955" y="4097130"/>
            <a:ext cx="1254539" cy="918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13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is a tool, not a replacement for your intellectual work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431140" y="2568713"/>
            <a:ext cx="1625600" cy="2897809"/>
          </a:xfrm>
          <a:custGeom>
            <a:avLst/>
            <a:gdLst/>
            <a:ahLst/>
            <a:cxnLst/>
            <a:rect l="l" t="t" r="r" b="b"/>
            <a:pathLst>
              <a:path w="1625600" h="2897809">
                <a:moveTo>
                  <a:pt x="70681" y="0"/>
                </a:moveTo>
                <a:lnTo>
                  <a:pt x="1554919" y="0"/>
                </a:lnTo>
                <a:cubicBezTo>
                  <a:pt x="1593955" y="0"/>
                  <a:pt x="1625600" y="31645"/>
                  <a:pt x="1625600" y="70681"/>
                </a:cubicBezTo>
                <a:lnTo>
                  <a:pt x="1625600" y="2827128"/>
                </a:lnTo>
                <a:cubicBezTo>
                  <a:pt x="1625600" y="2866164"/>
                  <a:pt x="1593955" y="2897809"/>
                  <a:pt x="1554919" y="2897809"/>
                </a:cubicBezTo>
                <a:lnTo>
                  <a:pt x="70681" y="2897809"/>
                </a:lnTo>
                <a:cubicBezTo>
                  <a:pt x="31645" y="2897809"/>
                  <a:pt x="0" y="2866164"/>
                  <a:pt x="0" y="2827128"/>
                </a:cubicBezTo>
                <a:lnTo>
                  <a:pt x="0" y="70681"/>
                </a:lnTo>
                <a:cubicBezTo>
                  <a:pt x="0" y="31671"/>
                  <a:pt x="31671" y="0"/>
                  <a:pt x="70681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25400">
            <a:solidFill>
              <a:srgbClr val="7D9A78"/>
            </a:solidFill>
            <a:prstDash val="solid"/>
          </a:ln>
          <a:effectLst>
            <a:outerShdw sx="100000" sy="100000" kx="0" ky="0" algn="bl" rotWithShape="0" blurRad="132522" dist="88348" dir="5400000">
              <a:srgbClr val="000000">
                <a:alpha val="10196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959432" y="2789583"/>
            <a:ext cx="565426" cy="565426"/>
          </a:xfrm>
          <a:custGeom>
            <a:avLst/>
            <a:gdLst/>
            <a:ahLst/>
            <a:cxnLst/>
            <a:rect l="l" t="t" r="r" b="b"/>
            <a:pathLst>
              <a:path w="565426" h="565426">
                <a:moveTo>
                  <a:pt x="282713" y="0"/>
                </a:moveTo>
                <a:lnTo>
                  <a:pt x="282713" y="0"/>
                </a:lnTo>
                <a:cubicBezTo>
                  <a:pt x="438747" y="0"/>
                  <a:pt x="565426" y="126679"/>
                  <a:pt x="565426" y="282713"/>
                </a:cubicBezTo>
                <a:lnTo>
                  <a:pt x="565426" y="282713"/>
                </a:lnTo>
                <a:cubicBezTo>
                  <a:pt x="565426" y="438747"/>
                  <a:pt x="438747" y="565426"/>
                  <a:pt x="282713" y="565426"/>
                </a:cubicBezTo>
                <a:lnTo>
                  <a:pt x="282713" y="565426"/>
                </a:lnTo>
                <a:cubicBezTo>
                  <a:pt x="126679" y="565426"/>
                  <a:pt x="0" y="438747"/>
                  <a:pt x="0" y="282713"/>
                </a:cubicBezTo>
                <a:lnTo>
                  <a:pt x="0" y="282713"/>
                </a:lnTo>
                <a:cubicBezTo>
                  <a:pt x="0" y="126679"/>
                  <a:pt x="126679" y="0"/>
                  <a:pt x="282713" y="0"/>
                </a:cubicBez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15" name="Text 12"/>
          <p:cNvSpPr/>
          <p:nvPr/>
        </p:nvSpPr>
        <p:spPr>
          <a:xfrm>
            <a:off x="3893171" y="2789583"/>
            <a:ext cx="697948" cy="565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8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607835" y="3496365"/>
            <a:ext cx="1272209" cy="494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1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Always Verify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391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Cite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616670" y="4097130"/>
            <a:ext cx="1254539" cy="114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13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 all AI outputs and disclose AI assistance properly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282924" y="2568713"/>
            <a:ext cx="1625600" cy="2897809"/>
          </a:xfrm>
          <a:custGeom>
            <a:avLst/>
            <a:gdLst/>
            <a:ahLst/>
            <a:cxnLst/>
            <a:rect l="l" t="t" r="r" b="b"/>
            <a:pathLst>
              <a:path w="1625600" h="2897809">
                <a:moveTo>
                  <a:pt x="70681" y="0"/>
                </a:moveTo>
                <a:lnTo>
                  <a:pt x="1554919" y="0"/>
                </a:lnTo>
                <a:cubicBezTo>
                  <a:pt x="1593955" y="0"/>
                  <a:pt x="1625600" y="31645"/>
                  <a:pt x="1625600" y="70681"/>
                </a:cubicBezTo>
                <a:lnTo>
                  <a:pt x="1625600" y="2827128"/>
                </a:lnTo>
                <a:cubicBezTo>
                  <a:pt x="1625600" y="2866164"/>
                  <a:pt x="1593955" y="2897809"/>
                  <a:pt x="1554919" y="2897809"/>
                </a:cubicBezTo>
                <a:lnTo>
                  <a:pt x="70681" y="2897809"/>
                </a:lnTo>
                <a:cubicBezTo>
                  <a:pt x="31645" y="2897809"/>
                  <a:pt x="0" y="2866164"/>
                  <a:pt x="0" y="2827128"/>
                </a:cubicBezTo>
                <a:lnTo>
                  <a:pt x="0" y="70681"/>
                </a:lnTo>
                <a:cubicBezTo>
                  <a:pt x="0" y="31671"/>
                  <a:pt x="31671" y="0"/>
                  <a:pt x="70681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25400">
            <a:solidFill>
              <a:srgbClr val="8B7355"/>
            </a:solidFill>
            <a:prstDash val="solid"/>
          </a:ln>
          <a:effectLst>
            <a:outerShdw sx="100000" sy="100000" kx="0" ky="0" algn="bl" rotWithShape="0" blurRad="132522" dist="88348" dir="5400000">
              <a:srgbClr val="000000">
                <a:alpha val="10196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811216" y="2789583"/>
            <a:ext cx="565426" cy="565426"/>
          </a:xfrm>
          <a:custGeom>
            <a:avLst/>
            <a:gdLst/>
            <a:ahLst/>
            <a:cxnLst/>
            <a:rect l="l" t="t" r="r" b="b"/>
            <a:pathLst>
              <a:path w="565426" h="565426">
                <a:moveTo>
                  <a:pt x="282713" y="0"/>
                </a:moveTo>
                <a:lnTo>
                  <a:pt x="282713" y="0"/>
                </a:lnTo>
                <a:cubicBezTo>
                  <a:pt x="438747" y="0"/>
                  <a:pt x="565426" y="126679"/>
                  <a:pt x="565426" y="282713"/>
                </a:cubicBezTo>
                <a:lnTo>
                  <a:pt x="565426" y="282713"/>
                </a:lnTo>
                <a:cubicBezTo>
                  <a:pt x="565426" y="438747"/>
                  <a:pt x="438747" y="565426"/>
                  <a:pt x="282713" y="565426"/>
                </a:cubicBezTo>
                <a:lnTo>
                  <a:pt x="282713" y="565426"/>
                </a:lnTo>
                <a:cubicBezTo>
                  <a:pt x="126679" y="565426"/>
                  <a:pt x="0" y="438747"/>
                  <a:pt x="0" y="282713"/>
                </a:cubicBezTo>
                <a:lnTo>
                  <a:pt x="0" y="282713"/>
                </a:lnTo>
                <a:cubicBezTo>
                  <a:pt x="0" y="126679"/>
                  <a:pt x="126679" y="0"/>
                  <a:pt x="282713" y="0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20" name="Text 17"/>
          <p:cNvSpPr/>
          <p:nvPr/>
        </p:nvSpPr>
        <p:spPr>
          <a:xfrm>
            <a:off x="5744955" y="2789583"/>
            <a:ext cx="697948" cy="565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8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59620" y="3496365"/>
            <a:ext cx="1272209" cy="494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1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Maintain Your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391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468454" y="4097130"/>
            <a:ext cx="1254539" cy="918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13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unique perspective and analysis must shine through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134708" y="2568713"/>
            <a:ext cx="1625600" cy="2897809"/>
          </a:xfrm>
          <a:custGeom>
            <a:avLst/>
            <a:gdLst/>
            <a:ahLst/>
            <a:cxnLst/>
            <a:rect l="l" t="t" r="r" b="b"/>
            <a:pathLst>
              <a:path w="1625600" h="2897809">
                <a:moveTo>
                  <a:pt x="70681" y="0"/>
                </a:moveTo>
                <a:lnTo>
                  <a:pt x="1554919" y="0"/>
                </a:lnTo>
                <a:cubicBezTo>
                  <a:pt x="1593955" y="0"/>
                  <a:pt x="1625600" y="31645"/>
                  <a:pt x="1625600" y="70681"/>
                </a:cubicBezTo>
                <a:lnTo>
                  <a:pt x="1625600" y="2827128"/>
                </a:lnTo>
                <a:cubicBezTo>
                  <a:pt x="1625600" y="2866164"/>
                  <a:pt x="1593955" y="2897809"/>
                  <a:pt x="1554919" y="2897809"/>
                </a:cubicBezTo>
                <a:lnTo>
                  <a:pt x="70681" y="2897809"/>
                </a:lnTo>
                <a:cubicBezTo>
                  <a:pt x="31645" y="2897809"/>
                  <a:pt x="0" y="2866164"/>
                  <a:pt x="0" y="2827128"/>
                </a:cubicBezTo>
                <a:lnTo>
                  <a:pt x="0" y="70681"/>
                </a:lnTo>
                <a:cubicBezTo>
                  <a:pt x="0" y="31671"/>
                  <a:pt x="31671" y="0"/>
                  <a:pt x="70681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25400">
            <a:solidFill>
              <a:srgbClr val="2D5A3D"/>
            </a:solidFill>
            <a:prstDash val="solid"/>
          </a:ln>
          <a:effectLst>
            <a:outerShdw sx="100000" sy="100000" kx="0" ky="0" algn="bl" rotWithShape="0" blurRad="132522" dist="88348" dir="5400000">
              <a:srgbClr val="000000">
                <a:alpha val="10196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663001" y="2789583"/>
            <a:ext cx="565426" cy="565426"/>
          </a:xfrm>
          <a:custGeom>
            <a:avLst/>
            <a:gdLst/>
            <a:ahLst/>
            <a:cxnLst/>
            <a:rect l="l" t="t" r="r" b="b"/>
            <a:pathLst>
              <a:path w="565426" h="565426">
                <a:moveTo>
                  <a:pt x="282713" y="0"/>
                </a:moveTo>
                <a:lnTo>
                  <a:pt x="282713" y="0"/>
                </a:lnTo>
                <a:cubicBezTo>
                  <a:pt x="438747" y="0"/>
                  <a:pt x="565426" y="126679"/>
                  <a:pt x="565426" y="282713"/>
                </a:cubicBezTo>
                <a:lnTo>
                  <a:pt x="565426" y="282713"/>
                </a:lnTo>
                <a:cubicBezTo>
                  <a:pt x="565426" y="438747"/>
                  <a:pt x="438747" y="565426"/>
                  <a:pt x="282713" y="565426"/>
                </a:cubicBezTo>
                <a:lnTo>
                  <a:pt x="282713" y="565426"/>
                </a:lnTo>
                <a:cubicBezTo>
                  <a:pt x="126679" y="565426"/>
                  <a:pt x="0" y="438747"/>
                  <a:pt x="0" y="282713"/>
                </a:cubicBezTo>
                <a:lnTo>
                  <a:pt x="0" y="282713"/>
                </a:lnTo>
                <a:cubicBezTo>
                  <a:pt x="0" y="126679"/>
                  <a:pt x="126679" y="0"/>
                  <a:pt x="282713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25" name="Text 22"/>
          <p:cNvSpPr/>
          <p:nvPr/>
        </p:nvSpPr>
        <p:spPr>
          <a:xfrm>
            <a:off x="7596740" y="2789583"/>
            <a:ext cx="697948" cy="565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8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311404" y="3496365"/>
            <a:ext cx="1272209" cy="494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1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391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Transparent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320239" y="4097130"/>
            <a:ext cx="1254539" cy="918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13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Honesty builds trust and protects your academic integrity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986492" y="2568713"/>
            <a:ext cx="1625600" cy="2897809"/>
          </a:xfrm>
          <a:custGeom>
            <a:avLst/>
            <a:gdLst/>
            <a:ahLst/>
            <a:cxnLst/>
            <a:rect l="l" t="t" r="r" b="b"/>
            <a:pathLst>
              <a:path w="1625600" h="2897809">
                <a:moveTo>
                  <a:pt x="70681" y="0"/>
                </a:moveTo>
                <a:lnTo>
                  <a:pt x="1554919" y="0"/>
                </a:lnTo>
                <a:cubicBezTo>
                  <a:pt x="1593955" y="0"/>
                  <a:pt x="1625600" y="31645"/>
                  <a:pt x="1625600" y="70681"/>
                </a:cubicBezTo>
                <a:lnTo>
                  <a:pt x="1625600" y="2827128"/>
                </a:lnTo>
                <a:cubicBezTo>
                  <a:pt x="1625600" y="2866164"/>
                  <a:pt x="1593955" y="2897809"/>
                  <a:pt x="1554919" y="2897809"/>
                </a:cubicBezTo>
                <a:lnTo>
                  <a:pt x="70681" y="2897809"/>
                </a:lnTo>
                <a:cubicBezTo>
                  <a:pt x="31645" y="2897809"/>
                  <a:pt x="0" y="2866164"/>
                  <a:pt x="0" y="2827128"/>
                </a:cubicBezTo>
                <a:lnTo>
                  <a:pt x="0" y="70681"/>
                </a:lnTo>
                <a:cubicBezTo>
                  <a:pt x="0" y="31671"/>
                  <a:pt x="31671" y="0"/>
                  <a:pt x="70681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25400">
            <a:solidFill>
              <a:srgbClr val="7D9A78"/>
            </a:solidFill>
            <a:prstDash val="solid"/>
          </a:ln>
          <a:effectLst>
            <a:outerShdw sx="100000" sy="100000" kx="0" ky="0" algn="bl" rotWithShape="0" blurRad="132522" dist="88348" dir="5400000">
              <a:srgbClr val="000000">
                <a:alpha val="10196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9514785" y="2789583"/>
            <a:ext cx="565426" cy="565426"/>
          </a:xfrm>
          <a:custGeom>
            <a:avLst/>
            <a:gdLst/>
            <a:ahLst/>
            <a:cxnLst/>
            <a:rect l="l" t="t" r="r" b="b"/>
            <a:pathLst>
              <a:path w="565426" h="565426">
                <a:moveTo>
                  <a:pt x="282713" y="0"/>
                </a:moveTo>
                <a:lnTo>
                  <a:pt x="282713" y="0"/>
                </a:lnTo>
                <a:cubicBezTo>
                  <a:pt x="438747" y="0"/>
                  <a:pt x="565426" y="126679"/>
                  <a:pt x="565426" y="282713"/>
                </a:cubicBezTo>
                <a:lnTo>
                  <a:pt x="565426" y="282713"/>
                </a:lnTo>
                <a:cubicBezTo>
                  <a:pt x="565426" y="438747"/>
                  <a:pt x="438747" y="565426"/>
                  <a:pt x="282713" y="565426"/>
                </a:cubicBezTo>
                <a:lnTo>
                  <a:pt x="282713" y="565426"/>
                </a:lnTo>
                <a:cubicBezTo>
                  <a:pt x="126679" y="565426"/>
                  <a:pt x="0" y="438747"/>
                  <a:pt x="0" y="282713"/>
                </a:cubicBezTo>
                <a:lnTo>
                  <a:pt x="0" y="282713"/>
                </a:lnTo>
                <a:cubicBezTo>
                  <a:pt x="0" y="126679"/>
                  <a:pt x="126679" y="0"/>
                  <a:pt x="282713" y="0"/>
                </a:cubicBezTo>
                <a:close/>
              </a:path>
            </a:pathLst>
          </a:custGeom>
          <a:solidFill>
            <a:srgbClr val="7D9A78"/>
          </a:solidFill>
          <a:ln/>
        </p:spPr>
      </p:sp>
      <p:sp>
        <p:nvSpPr>
          <p:cNvPr id="30" name="Text 27"/>
          <p:cNvSpPr/>
          <p:nvPr/>
        </p:nvSpPr>
        <p:spPr>
          <a:xfrm>
            <a:off x="9448524" y="2789583"/>
            <a:ext cx="697948" cy="565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8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163188" y="3496365"/>
            <a:ext cx="1272209" cy="494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1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Follow Your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391" b="1" dirty="0">
                <a:solidFill>
                  <a:srgbClr val="2D5A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Institution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9172023" y="4097130"/>
            <a:ext cx="1254539" cy="68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13" dirty="0">
                <a:solidFill>
                  <a:srgbClr val="3D3A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 and follow your university's specific AI policies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2514324" y="5828748"/>
            <a:ext cx="7156174" cy="715617"/>
          </a:xfrm>
          <a:custGeom>
            <a:avLst/>
            <a:gdLst/>
            <a:ahLst/>
            <a:cxnLst/>
            <a:rect l="l" t="t" r="r" b="b"/>
            <a:pathLst>
              <a:path w="7156174" h="715617">
                <a:moveTo>
                  <a:pt x="70682" y="0"/>
                </a:moveTo>
                <a:lnTo>
                  <a:pt x="7085492" y="0"/>
                </a:lnTo>
                <a:cubicBezTo>
                  <a:pt x="7124529" y="0"/>
                  <a:pt x="7156174" y="31645"/>
                  <a:pt x="7156174" y="70682"/>
                </a:cubicBezTo>
                <a:lnTo>
                  <a:pt x="7156174" y="644936"/>
                </a:lnTo>
                <a:cubicBezTo>
                  <a:pt x="7156174" y="683972"/>
                  <a:pt x="7124529" y="715617"/>
                  <a:pt x="7085492" y="715617"/>
                </a:cubicBezTo>
                <a:lnTo>
                  <a:pt x="70682" y="715617"/>
                </a:lnTo>
                <a:cubicBezTo>
                  <a:pt x="31671" y="715617"/>
                  <a:pt x="0" y="683946"/>
                  <a:pt x="0" y="644936"/>
                </a:cubicBezTo>
                <a:lnTo>
                  <a:pt x="0" y="70682"/>
                </a:lnTo>
                <a:cubicBezTo>
                  <a:pt x="0" y="31671"/>
                  <a:pt x="31671" y="0"/>
                  <a:pt x="70682" y="0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34" name="Text 31"/>
          <p:cNvSpPr/>
          <p:nvPr/>
        </p:nvSpPr>
        <p:spPr>
          <a:xfrm>
            <a:off x="2823541" y="6040783"/>
            <a:ext cx="6537739" cy="29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91" dirty="0">
                <a:solidFill>
                  <a:srgbClr val="FAF8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best research comes from human creativity enhanced by AI, not replaced by it."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3080095" y="6911009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>
                <a:moveTo>
                  <a:pt x="162650" y="2312"/>
                </a:moveTo>
                <a:cubicBezTo>
                  <a:pt x="164858" y="207"/>
                  <a:pt x="168068" y="-552"/>
                  <a:pt x="171036" y="414"/>
                </a:cubicBezTo>
                <a:cubicBezTo>
                  <a:pt x="174418" y="1553"/>
                  <a:pt x="176696" y="4728"/>
                  <a:pt x="176696" y="8283"/>
                </a:cubicBezTo>
                <a:lnTo>
                  <a:pt x="176696" y="72783"/>
                </a:lnTo>
                <a:cubicBezTo>
                  <a:pt x="176696" y="118062"/>
                  <a:pt x="139389" y="154609"/>
                  <a:pt x="94284" y="154609"/>
                </a:cubicBezTo>
                <a:cubicBezTo>
                  <a:pt x="67710" y="154609"/>
                  <a:pt x="44795" y="137526"/>
                  <a:pt x="36478" y="113644"/>
                </a:cubicBezTo>
                <a:cubicBezTo>
                  <a:pt x="24261" y="124274"/>
                  <a:pt x="16565" y="139907"/>
                  <a:pt x="16565" y="157370"/>
                </a:cubicBezTo>
                <a:cubicBezTo>
                  <a:pt x="16565" y="161960"/>
                  <a:pt x="12873" y="165652"/>
                  <a:pt x="8283" y="165652"/>
                </a:cubicBezTo>
                <a:cubicBezTo>
                  <a:pt x="3693" y="165652"/>
                  <a:pt x="0" y="161960"/>
                  <a:pt x="0" y="157370"/>
                </a:cubicBezTo>
                <a:cubicBezTo>
                  <a:pt x="0" y="131521"/>
                  <a:pt x="13183" y="108744"/>
                  <a:pt x="33165" y="95354"/>
                </a:cubicBezTo>
                <a:cubicBezTo>
                  <a:pt x="45347" y="87209"/>
                  <a:pt x="59876" y="82826"/>
                  <a:pt x="74543" y="82826"/>
                </a:cubicBezTo>
                <a:lnTo>
                  <a:pt x="102152" y="82826"/>
                </a:lnTo>
                <a:cubicBezTo>
                  <a:pt x="106742" y="82826"/>
                  <a:pt x="110435" y="79133"/>
                  <a:pt x="110435" y="74543"/>
                </a:cubicBezTo>
                <a:cubicBezTo>
                  <a:pt x="110435" y="69954"/>
                  <a:pt x="106742" y="66261"/>
                  <a:pt x="102152" y="66261"/>
                </a:cubicBezTo>
                <a:lnTo>
                  <a:pt x="74543" y="66261"/>
                </a:lnTo>
                <a:cubicBezTo>
                  <a:pt x="60843" y="66261"/>
                  <a:pt x="47867" y="69298"/>
                  <a:pt x="36236" y="74716"/>
                </a:cubicBezTo>
                <a:cubicBezTo>
                  <a:pt x="44277" y="50558"/>
                  <a:pt x="67020" y="33130"/>
                  <a:pt x="93870" y="33130"/>
                </a:cubicBezTo>
                <a:cubicBezTo>
                  <a:pt x="116785" y="33130"/>
                  <a:pt x="133833" y="25504"/>
                  <a:pt x="145187" y="17946"/>
                </a:cubicBezTo>
                <a:cubicBezTo>
                  <a:pt x="151813" y="13528"/>
                  <a:pt x="157439" y="8248"/>
                  <a:pt x="162684" y="2312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36" name="Text 33"/>
          <p:cNvSpPr/>
          <p:nvPr/>
        </p:nvSpPr>
        <p:spPr>
          <a:xfrm>
            <a:off x="3314217" y="6893339"/>
            <a:ext cx="2173357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3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Cultivate Knowledge with Integrity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5750270" y="6911009"/>
            <a:ext cx="198783" cy="176696"/>
          </a:xfrm>
          <a:custGeom>
            <a:avLst/>
            <a:gdLst/>
            <a:ahLst/>
            <a:cxnLst/>
            <a:rect l="l" t="t" r="r" b="b"/>
            <a:pathLst>
              <a:path w="198783" h="176696">
                <a:moveTo>
                  <a:pt x="16565" y="67572"/>
                </a:moveTo>
                <a:lnTo>
                  <a:pt x="88762" y="97286"/>
                </a:lnTo>
                <a:cubicBezTo>
                  <a:pt x="92144" y="98667"/>
                  <a:pt x="95733" y="99391"/>
                  <a:pt x="99391" y="99391"/>
                </a:cubicBezTo>
                <a:cubicBezTo>
                  <a:pt x="103049" y="99391"/>
                  <a:pt x="106639" y="98667"/>
                  <a:pt x="110021" y="97286"/>
                </a:cubicBezTo>
                <a:lnTo>
                  <a:pt x="193675" y="62844"/>
                </a:lnTo>
                <a:cubicBezTo>
                  <a:pt x="196781" y="61567"/>
                  <a:pt x="198783" y="58565"/>
                  <a:pt x="198783" y="55217"/>
                </a:cubicBezTo>
                <a:cubicBezTo>
                  <a:pt x="198783" y="51870"/>
                  <a:pt x="196781" y="48867"/>
                  <a:pt x="193675" y="47590"/>
                </a:cubicBezTo>
                <a:lnTo>
                  <a:pt x="110021" y="13149"/>
                </a:lnTo>
                <a:cubicBezTo>
                  <a:pt x="106639" y="11768"/>
                  <a:pt x="103049" y="11043"/>
                  <a:pt x="99391" y="11043"/>
                </a:cubicBezTo>
                <a:cubicBezTo>
                  <a:pt x="95733" y="11043"/>
                  <a:pt x="92144" y="11768"/>
                  <a:pt x="88762" y="13149"/>
                </a:cubicBezTo>
                <a:lnTo>
                  <a:pt x="5108" y="47590"/>
                </a:lnTo>
                <a:cubicBezTo>
                  <a:pt x="2002" y="48867"/>
                  <a:pt x="0" y="51870"/>
                  <a:pt x="0" y="55217"/>
                </a:cubicBezTo>
                <a:lnTo>
                  <a:pt x="0" y="157370"/>
                </a:lnTo>
                <a:cubicBezTo>
                  <a:pt x="0" y="161960"/>
                  <a:pt x="3693" y="165652"/>
                  <a:pt x="8283" y="165652"/>
                </a:cubicBezTo>
                <a:cubicBezTo>
                  <a:pt x="12873" y="165652"/>
                  <a:pt x="16565" y="161960"/>
                  <a:pt x="16565" y="157370"/>
                </a:cubicBezTo>
                <a:lnTo>
                  <a:pt x="16565" y="67572"/>
                </a:lnTo>
                <a:close/>
                <a:moveTo>
                  <a:pt x="33130" y="92317"/>
                </a:moveTo>
                <a:lnTo>
                  <a:pt x="33130" y="132522"/>
                </a:lnTo>
                <a:cubicBezTo>
                  <a:pt x="33130" y="150813"/>
                  <a:pt x="62810" y="165652"/>
                  <a:pt x="99391" y="165652"/>
                </a:cubicBezTo>
                <a:cubicBezTo>
                  <a:pt x="135973" y="165652"/>
                  <a:pt x="165652" y="150813"/>
                  <a:pt x="165652" y="132522"/>
                </a:cubicBezTo>
                <a:lnTo>
                  <a:pt x="165652" y="92282"/>
                </a:lnTo>
                <a:lnTo>
                  <a:pt x="116336" y="112609"/>
                </a:lnTo>
                <a:cubicBezTo>
                  <a:pt x="110952" y="114818"/>
                  <a:pt x="105224" y="115957"/>
                  <a:pt x="99391" y="115957"/>
                </a:cubicBezTo>
                <a:cubicBezTo>
                  <a:pt x="93559" y="115957"/>
                  <a:pt x="87830" y="114818"/>
                  <a:pt x="82446" y="112609"/>
                </a:cubicBezTo>
                <a:lnTo>
                  <a:pt x="33130" y="92282"/>
                </a:ln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38" name="Text 35"/>
          <p:cNvSpPr/>
          <p:nvPr/>
        </p:nvSpPr>
        <p:spPr>
          <a:xfrm>
            <a:off x="5995435" y="6893339"/>
            <a:ext cx="1404730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3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Responsibly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7671145" y="6911009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>
                <a:moveTo>
                  <a:pt x="83171" y="30059"/>
                </a:moveTo>
                <a:lnTo>
                  <a:pt x="88348" y="37203"/>
                </a:lnTo>
                <a:lnTo>
                  <a:pt x="93524" y="30059"/>
                </a:lnTo>
                <a:cubicBezTo>
                  <a:pt x="102152" y="18118"/>
                  <a:pt x="116026" y="11043"/>
                  <a:pt x="130762" y="11043"/>
                </a:cubicBezTo>
                <a:cubicBezTo>
                  <a:pt x="156127" y="11043"/>
                  <a:pt x="176696" y="31612"/>
                  <a:pt x="176696" y="56977"/>
                </a:cubicBezTo>
                <a:lnTo>
                  <a:pt x="176696" y="57875"/>
                </a:lnTo>
                <a:cubicBezTo>
                  <a:pt x="176696" y="96596"/>
                  <a:pt x="128415" y="141564"/>
                  <a:pt x="103222" y="160786"/>
                </a:cubicBezTo>
                <a:cubicBezTo>
                  <a:pt x="98943" y="164030"/>
                  <a:pt x="93697" y="165652"/>
                  <a:pt x="88348" y="165652"/>
                </a:cubicBezTo>
                <a:cubicBezTo>
                  <a:pt x="82999" y="165652"/>
                  <a:pt x="77718" y="164065"/>
                  <a:pt x="73474" y="160786"/>
                </a:cubicBezTo>
                <a:cubicBezTo>
                  <a:pt x="48281" y="141564"/>
                  <a:pt x="0" y="96596"/>
                  <a:pt x="0" y="57875"/>
                </a:cubicBezTo>
                <a:lnTo>
                  <a:pt x="0" y="56977"/>
                </a:lnTo>
                <a:cubicBezTo>
                  <a:pt x="0" y="31612"/>
                  <a:pt x="20568" y="11043"/>
                  <a:pt x="45934" y="11043"/>
                </a:cubicBezTo>
                <a:cubicBezTo>
                  <a:pt x="60670" y="11043"/>
                  <a:pt x="74543" y="18118"/>
                  <a:pt x="83171" y="30059"/>
                </a:cubicBezTo>
                <a:close/>
              </a:path>
            </a:pathLst>
          </a:custGeom>
          <a:solidFill>
            <a:srgbClr val="2D5A3D"/>
          </a:solidFill>
          <a:ln/>
        </p:spPr>
      </p:sp>
      <p:sp>
        <p:nvSpPr>
          <p:cNvPr id="40" name="Text 37"/>
          <p:cNvSpPr/>
          <p:nvPr/>
        </p:nvSpPr>
        <p:spPr>
          <a:xfrm>
            <a:off x="7905267" y="6893339"/>
            <a:ext cx="1263374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3" dirty="0">
                <a:solidFill>
                  <a:srgbClr val="7A75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with Purpose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Ethical Researcher's Guide to AI</dc:title>
  <dc:subject>The Ethical Researcher's Guide to AI</dc:subject>
  <dc:creator>Kimi</dc:creator>
  <cp:lastModifiedBy>Kimi</cp:lastModifiedBy>
  <cp:revision>1</cp:revision>
  <dcterms:created xsi:type="dcterms:W3CDTF">2026-04-04T10:29:27Z</dcterms:created>
  <dcterms:modified xsi:type="dcterms:W3CDTF">2026-04-04T10:29:27Z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{"Label":"The Ethical Researcher's Guide to AI","ContentProducer":"001191110108MACG2KBH8F10000","ProduceID":"19d54a2d-c5f2-8625-8000-000045b17eae","ReservedCode1":"","ContentPropagator":"001191110108MACG2KBH8F20000","PropagateID":"19d54a2d-c5f2-8625-8000-000045b17eae","ReservedCode2":""}</vt:lpwstr>
  </property>
</Properties>
</file>